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39"/>
  </p:notesMasterIdLst>
  <p:sldIdLst>
    <p:sldId id="256" r:id="rId2"/>
    <p:sldId id="292" r:id="rId3"/>
    <p:sldId id="257" r:id="rId4"/>
    <p:sldId id="294" r:id="rId5"/>
    <p:sldId id="295" r:id="rId6"/>
    <p:sldId id="346" r:id="rId7"/>
    <p:sldId id="297" r:id="rId8"/>
    <p:sldId id="293" r:id="rId9"/>
    <p:sldId id="298" r:id="rId10"/>
    <p:sldId id="303" r:id="rId11"/>
    <p:sldId id="307" r:id="rId12"/>
    <p:sldId id="314" r:id="rId13"/>
    <p:sldId id="313" r:id="rId14"/>
    <p:sldId id="308" r:id="rId15"/>
    <p:sldId id="309" r:id="rId16"/>
    <p:sldId id="310" r:id="rId17"/>
    <p:sldId id="311" r:id="rId18"/>
    <p:sldId id="312" r:id="rId19"/>
    <p:sldId id="305" r:id="rId20"/>
    <p:sldId id="315" r:id="rId21"/>
    <p:sldId id="316" r:id="rId22"/>
    <p:sldId id="317" r:id="rId23"/>
    <p:sldId id="318" r:id="rId24"/>
    <p:sldId id="324" r:id="rId25"/>
    <p:sldId id="325" r:id="rId26"/>
    <p:sldId id="326" r:id="rId27"/>
    <p:sldId id="335" r:id="rId28"/>
    <p:sldId id="337" r:id="rId29"/>
    <p:sldId id="348" r:id="rId30"/>
    <p:sldId id="336" r:id="rId31"/>
    <p:sldId id="341" r:id="rId32"/>
    <p:sldId id="345" r:id="rId33"/>
    <p:sldId id="333" r:id="rId34"/>
    <p:sldId id="334" r:id="rId35"/>
    <p:sldId id="347" r:id="rId36"/>
    <p:sldId id="349" r:id="rId37"/>
    <p:sldId id="350" r:id="rId3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B7462"/>
    <a:srgbClr val="0030F0"/>
    <a:srgbClr val="8B2E2E"/>
    <a:srgbClr val="9D5345"/>
    <a:srgbClr val="98272A"/>
    <a:srgbClr val="D8B0A3"/>
    <a:srgbClr val="8B302D"/>
    <a:srgbClr val="825345"/>
    <a:srgbClr val="9C5327"/>
    <a:srgbClr val="9C534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784"/>
    <p:restoredTop sz="73427"/>
  </p:normalViewPr>
  <p:slideViewPr>
    <p:cSldViewPr snapToGrid="0" snapToObjects="1">
      <p:cViewPr varScale="1">
        <p:scale>
          <a:sx n="98" d="100"/>
          <a:sy n="98" d="100"/>
        </p:scale>
        <p:origin x="2152"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A97BCAB-B143-C54B-990C-26F073B70DE2}" type="datetimeFigureOut">
              <a:rPr kumimoji="1" lang="zh-CN" altLang="en-US" smtClean="0"/>
              <a:t>2025/7/22</a:t>
            </a:fld>
            <a:endParaRPr kumimoji="1"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8E3B040-C2A0-6741-A21F-A1D27BF399ED}" type="slidenum">
              <a:rPr kumimoji="1" lang="zh-CN" altLang="en-US" smtClean="0"/>
              <a:t>‹#›</a:t>
            </a:fld>
            <a:endParaRPr kumimoji="1" lang="zh-CN" altLang="en-US"/>
          </a:p>
        </p:txBody>
      </p:sp>
    </p:spTree>
    <p:extLst>
      <p:ext uri="{BB962C8B-B14F-4D97-AF65-F5344CB8AC3E}">
        <p14:creationId xmlns:p14="http://schemas.microsoft.com/office/powerpoint/2010/main" val="22121700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a:r>
              <a:rPr lang="en-US" altLang="zh-CN" sz="1800" kern="100" dirty="0">
                <a:effectLst/>
                <a:latin typeface="Times New Roman" panose="02020603050405020304" pitchFamily="18" charset="0"/>
                <a:ea typeface="DengXian" panose="02010600030101010101" pitchFamily="2" charset="-122"/>
                <a:cs typeface="Times New Roman" panose="02020603050405020304" pitchFamily="18" charset="0"/>
              </a:rPr>
              <a:t>Hi everyone, my name Luo Zhou, from Donghua University. It’s happy to be here to present our work - BaroAuth, which explores a novel way to authenticate users by leveraging ear canal deformation caused by speaking.</a:t>
            </a:r>
            <a:endPar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p:txBody>
      </p:sp>
      <p:sp>
        <p:nvSpPr>
          <p:cNvPr id="4" name="灯片编号占位符 3"/>
          <p:cNvSpPr>
            <a:spLocks noGrp="1"/>
          </p:cNvSpPr>
          <p:nvPr>
            <p:ph type="sldNum" sz="quarter" idx="5"/>
          </p:nvPr>
        </p:nvSpPr>
        <p:spPr/>
        <p:txBody>
          <a:bodyPr/>
          <a:lstStyle/>
          <a:p>
            <a:fld id="{48E3B040-C2A0-6741-A21F-A1D27BF399ED}" type="slidenum">
              <a:rPr kumimoji="1" lang="zh-CN" altLang="en-US" smtClean="0"/>
              <a:t>1</a:t>
            </a:fld>
            <a:endParaRPr kumimoji="1" lang="zh-CN" altLang="en-US"/>
          </a:p>
        </p:txBody>
      </p:sp>
    </p:spTree>
    <p:extLst>
      <p:ext uri="{BB962C8B-B14F-4D97-AF65-F5344CB8AC3E}">
        <p14:creationId xmlns:p14="http://schemas.microsoft.com/office/powerpoint/2010/main" val="12878852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kern="100" dirty="0">
                <a:effectLst/>
                <a:latin typeface="Times New Roman" panose="02020603050405020304" pitchFamily="18" charset="0"/>
                <a:ea typeface="DengXian" panose="02010600030101010101" pitchFamily="2" charset="-122"/>
                <a:cs typeface="Times New Roman" panose="02020603050405020304" pitchFamily="18" charset="0"/>
              </a:rPr>
              <a:t>Here's a brief outline of today’s presentation.</a:t>
            </a:r>
            <a:endPar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a:p>
            <a:endParaRPr kumimoji="1" lang="zh-CN" altLang="en-US" dirty="0"/>
          </a:p>
        </p:txBody>
      </p:sp>
      <p:sp>
        <p:nvSpPr>
          <p:cNvPr id="4" name="灯片编号占位符 3"/>
          <p:cNvSpPr>
            <a:spLocks noGrp="1"/>
          </p:cNvSpPr>
          <p:nvPr>
            <p:ph type="sldNum" sz="quarter" idx="5"/>
          </p:nvPr>
        </p:nvSpPr>
        <p:spPr/>
        <p:txBody>
          <a:bodyPr/>
          <a:lstStyle/>
          <a:p>
            <a:fld id="{48E3B040-C2A0-6741-A21F-A1D27BF399ED}" type="slidenum">
              <a:rPr kumimoji="1" lang="zh-CN" altLang="en-US" smtClean="0"/>
              <a:t>2</a:t>
            </a:fld>
            <a:endParaRPr kumimoji="1" lang="zh-CN" altLang="en-US"/>
          </a:p>
        </p:txBody>
      </p:sp>
    </p:spTree>
    <p:extLst>
      <p:ext uri="{BB962C8B-B14F-4D97-AF65-F5344CB8AC3E}">
        <p14:creationId xmlns:p14="http://schemas.microsoft.com/office/powerpoint/2010/main" val="28580360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kern="100" dirty="0">
                <a:effectLst/>
                <a:latin typeface="Times New Roman" panose="02020603050405020304" pitchFamily="18" charset="0"/>
                <a:ea typeface="DengXian" panose="02010600030101010101" pitchFamily="2" charset="-122"/>
                <a:cs typeface="Times New Roman" panose="02020603050405020304" pitchFamily="18" charset="0"/>
              </a:rPr>
              <a:t>So, first, let’s see the background and motivation behind our work.</a:t>
            </a:r>
            <a:endPar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a:p>
            <a:endParaRPr kumimoji="1" lang="zh-CN" altLang="en-US" dirty="0"/>
          </a:p>
        </p:txBody>
      </p:sp>
      <p:sp>
        <p:nvSpPr>
          <p:cNvPr id="4" name="灯片编号占位符 3"/>
          <p:cNvSpPr>
            <a:spLocks noGrp="1"/>
          </p:cNvSpPr>
          <p:nvPr>
            <p:ph type="sldNum" sz="quarter" idx="5"/>
          </p:nvPr>
        </p:nvSpPr>
        <p:spPr/>
        <p:txBody>
          <a:bodyPr/>
          <a:lstStyle/>
          <a:p>
            <a:fld id="{48E3B040-C2A0-6741-A21F-A1D27BF399ED}" type="slidenum">
              <a:rPr kumimoji="1" lang="zh-CN" altLang="en-US" smtClean="0"/>
              <a:t>3</a:t>
            </a:fld>
            <a:endParaRPr kumimoji="1" lang="zh-CN" altLang="en-US"/>
          </a:p>
        </p:txBody>
      </p:sp>
    </p:spTree>
    <p:extLst>
      <p:ext uri="{BB962C8B-B14F-4D97-AF65-F5344CB8AC3E}">
        <p14:creationId xmlns:p14="http://schemas.microsoft.com/office/powerpoint/2010/main" val="34030887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kern="100" dirty="0">
                <a:effectLst/>
                <a:latin typeface="Times New Roman" panose="02020603050405020304" pitchFamily="18" charset="0"/>
                <a:ea typeface="DengXian" panose="02010600030101010101" pitchFamily="2" charset="-122"/>
                <a:cs typeface="Times New Roman" panose="02020603050405020304" pitchFamily="18" charset="0"/>
              </a:rPr>
              <a:t>Today, we are in an era where smart devices are ubiquitous. And the earbuds we wear every day are evolving. They are no longer just for music, now they are becoming critical gateways to our digital lives, like controlling smart homes, communicating with AI assistants. This fundamental shift in function is fueling incredible market growth. As you can see, the global earbud market is projected to skyrocket to nearly 114 billion dollars by 2033, reflecting just how integral these devices are becoming. And as these devices handle more sensitive tasks, the need for a secure and effortless way to authenticate the user becomes paramount. So, this brings us to the central question: how to secure these new gateways? Let’s look at the current landscape.</a:t>
            </a:r>
            <a:endPar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a:p>
            <a:endParaRPr kumimoji="1" lang="zh-CN" altLang="en-US" dirty="0"/>
          </a:p>
        </p:txBody>
      </p:sp>
      <p:sp>
        <p:nvSpPr>
          <p:cNvPr id="4" name="灯片编号占位符 3"/>
          <p:cNvSpPr>
            <a:spLocks noGrp="1"/>
          </p:cNvSpPr>
          <p:nvPr>
            <p:ph type="sldNum" sz="quarter" idx="5"/>
          </p:nvPr>
        </p:nvSpPr>
        <p:spPr/>
        <p:txBody>
          <a:bodyPr/>
          <a:lstStyle/>
          <a:p>
            <a:fld id="{48E3B040-C2A0-6741-A21F-A1D27BF399ED}" type="slidenum">
              <a:rPr kumimoji="1" lang="zh-CN" altLang="en-US" smtClean="0"/>
              <a:t>4</a:t>
            </a:fld>
            <a:endParaRPr kumimoji="1" lang="zh-CN" altLang="en-US"/>
          </a:p>
        </p:txBody>
      </p:sp>
    </p:spTree>
    <p:extLst>
      <p:ext uri="{BB962C8B-B14F-4D97-AF65-F5344CB8AC3E}">
        <p14:creationId xmlns:p14="http://schemas.microsoft.com/office/powerpoint/2010/main" val="13071192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a:r>
              <a:rPr lang="en-US" altLang="zh-CN" sz="1800" kern="100" dirty="0">
                <a:effectLst/>
                <a:latin typeface="Times New Roman" panose="02020603050405020304" pitchFamily="18" charset="0"/>
                <a:ea typeface="DengXian" panose="02010600030101010101" pitchFamily="2" charset="-122"/>
                <a:cs typeface="Times New Roman" panose="02020603050405020304" pitchFamily="18" charset="0"/>
              </a:rPr>
              <a:t>Existing Methods generally fall into three categories.</a:t>
            </a:r>
            <a:endPar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a:p>
            <a:pPr algn="just"/>
            <a:r>
              <a:rPr lang="en-US" altLang="zh-CN" sz="1800" kern="100" dirty="0">
                <a:effectLst/>
                <a:latin typeface="Times New Roman" panose="02020603050405020304" pitchFamily="18" charset="0"/>
                <a:ea typeface="DengXian" panose="02010600030101010101" pitchFamily="2" charset="-122"/>
                <a:cs typeface="Times New Roman" panose="02020603050405020304" pitchFamily="18" charset="0"/>
              </a:rPr>
              <a:t>First, activity-based methods, like using your voiceprint or analyzing facial muscle movements. The problem is that they are vulnerable to background noise, motion artifacts, and can be fooled by mimicry attacks;</a:t>
            </a:r>
            <a:endPar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a:p>
            <a:pPr algn="just"/>
            <a:r>
              <a:rPr lang="en-US" altLang="zh-CN" sz="1800" kern="100" dirty="0">
                <a:effectLst/>
                <a:latin typeface="Times New Roman" panose="02020603050405020304" pitchFamily="18" charset="0"/>
                <a:ea typeface="DengXian" panose="02010600030101010101" pitchFamily="2" charset="-122"/>
                <a:cs typeface="Times New Roman" panose="02020603050405020304" pitchFamily="18" charset="0"/>
              </a:rPr>
              <a:t>Second, interaction-based methods require the user to perform a specific action, like a dental occlusion or a specific finger-sliding gesture. While these can be secure, they place a burden on the user and are not practical for frequent, seamless authentication;</a:t>
            </a:r>
            <a:endPar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DengXian" panose="02010600030101010101" pitchFamily="2" charset="-122"/>
              </a:rPr>
              <a:t>Finally, we have other biometric-based approaches, like measuring your heartbeat or using ultrasonic signals to map the ear canal. These are promising because they use a person’s unique physiology. However, they often rely on weak signals that difficult to extract reliably, and some of them also require produce ultrasonic signals, which can be power-hungry and interfere with the primary audio function of the earbuds.</a:t>
            </a:r>
            <a:r>
              <a:rPr lang="zh-CN" altLang="zh-CN" sz="2800" dirty="0">
                <a:effectLst/>
              </a:rPr>
              <a:t> </a:t>
            </a:r>
            <a:endParaRPr kumimoji="1" lang="zh-CN" altLang="en-US" dirty="0"/>
          </a:p>
        </p:txBody>
      </p:sp>
      <p:sp>
        <p:nvSpPr>
          <p:cNvPr id="4" name="灯片编号占位符 3"/>
          <p:cNvSpPr>
            <a:spLocks noGrp="1"/>
          </p:cNvSpPr>
          <p:nvPr>
            <p:ph type="sldNum" sz="quarter" idx="5"/>
          </p:nvPr>
        </p:nvSpPr>
        <p:spPr/>
        <p:txBody>
          <a:bodyPr/>
          <a:lstStyle/>
          <a:p>
            <a:fld id="{48E3B040-C2A0-6741-A21F-A1D27BF399ED}" type="slidenum">
              <a:rPr kumimoji="1" lang="zh-CN" altLang="en-US" smtClean="0"/>
              <a:t>5</a:t>
            </a:fld>
            <a:endParaRPr kumimoji="1" lang="zh-CN" altLang="en-US"/>
          </a:p>
        </p:txBody>
      </p:sp>
    </p:spTree>
    <p:extLst>
      <p:ext uri="{BB962C8B-B14F-4D97-AF65-F5344CB8AC3E}">
        <p14:creationId xmlns:p14="http://schemas.microsoft.com/office/powerpoint/2010/main" val="39213600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a:r>
              <a:rPr lang="en-US" altLang="zh-CN" sz="1800" dirty="0">
                <a:effectLst/>
                <a:latin typeface="Times New Roman" panose="02020603050405020304" pitchFamily="18" charset="0"/>
                <a:ea typeface="DengXian" panose="02010600030101010101" pitchFamily="2" charset="-122"/>
              </a:rPr>
              <a:t>So, our goal is to propose a secure, seamless and intuitive authentication methods via earbuds.</a:t>
            </a:r>
            <a:r>
              <a:rPr lang="zh-CN" altLang="zh-CN" sz="2800" dirty="0">
                <a:effectLst/>
              </a:rPr>
              <a:t> </a:t>
            </a:r>
            <a:endPar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p:txBody>
      </p:sp>
      <p:sp>
        <p:nvSpPr>
          <p:cNvPr id="4" name="灯片编号占位符 3"/>
          <p:cNvSpPr>
            <a:spLocks noGrp="1"/>
          </p:cNvSpPr>
          <p:nvPr>
            <p:ph type="sldNum" sz="quarter" idx="5"/>
          </p:nvPr>
        </p:nvSpPr>
        <p:spPr/>
        <p:txBody>
          <a:bodyPr/>
          <a:lstStyle/>
          <a:p>
            <a:fld id="{48E3B040-C2A0-6741-A21F-A1D27BF399ED}" type="slidenum">
              <a:rPr kumimoji="1" lang="zh-CN" altLang="en-US" smtClean="0"/>
              <a:t>6</a:t>
            </a:fld>
            <a:endParaRPr kumimoji="1" lang="zh-CN" altLang="en-US"/>
          </a:p>
        </p:txBody>
      </p:sp>
    </p:spTree>
    <p:extLst>
      <p:ext uri="{BB962C8B-B14F-4D97-AF65-F5344CB8AC3E}">
        <p14:creationId xmlns:p14="http://schemas.microsoft.com/office/powerpoint/2010/main" val="18153061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a:r>
              <a:rPr lang="en-US" altLang="zh-CN" sz="1800" kern="100" dirty="0">
                <a:effectLst/>
                <a:latin typeface="Times New Roman" panose="02020603050405020304" pitchFamily="18" charset="0"/>
                <a:ea typeface="DengXian" panose="02010600030101010101" pitchFamily="2" charset="-122"/>
                <a:cs typeface="Times New Roman" panose="02020603050405020304" pitchFamily="18" charset="0"/>
              </a:rPr>
              <a:t>This is precisely where our solution, BaroAuth, comes in.</a:t>
            </a:r>
            <a:endPar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a:p>
            <a:pPr algn="just"/>
            <a:r>
              <a:rPr lang="en-US" altLang="zh-CN" sz="1800" kern="100" dirty="0">
                <a:effectLst/>
                <a:latin typeface="Times New Roman" panose="02020603050405020304" pitchFamily="18" charset="0"/>
                <a:ea typeface="DengXian" panose="02010600030101010101" pitchFamily="2" charset="-122"/>
                <a:cs typeface="Times New Roman" panose="02020603050405020304" pitchFamily="18" charset="0"/>
              </a:rPr>
              <a:t>The intuition behind BaroAuth is simple yet powerful. Instead of analyzing the sound of your voice, we capture something much more fundamental: the physical deformation of your ear canal as you speak.</a:t>
            </a:r>
            <a:endPar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DengXian" panose="02010600030101010101" pitchFamily="2" charset="-122"/>
              </a:rPr>
              <a:t>As this illustration shows, when you speak, your jaw movements cause subtle but distinct pressure changes inside the sealed ear canal. We capture these unique signals using a miniature, low-power MEMS barometer embedded directly into the earbud. We call this rich biometric signal a Speech-aware Pressure Sequence, or SPS.</a:t>
            </a:r>
            <a:r>
              <a:rPr lang="zh-CN" altLang="zh-CN" dirty="0">
                <a:effectLst/>
              </a:rPr>
              <a:t> </a:t>
            </a:r>
            <a:endParaRPr kumimoji="1" lang="zh-CN" altLang="en-US" dirty="0"/>
          </a:p>
        </p:txBody>
      </p:sp>
      <p:sp>
        <p:nvSpPr>
          <p:cNvPr id="4" name="灯片编号占位符 3"/>
          <p:cNvSpPr>
            <a:spLocks noGrp="1"/>
          </p:cNvSpPr>
          <p:nvPr>
            <p:ph type="sldNum" sz="quarter" idx="5"/>
          </p:nvPr>
        </p:nvSpPr>
        <p:spPr/>
        <p:txBody>
          <a:bodyPr/>
          <a:lstStyle/>
          <a:p>
            <a:fld id="{48E3B040-C2A0-6741-A21F-A1D27BF399ED}" type="slidenum">
              <a:rPr kumimoji="1" lang="zh-CN" altLang="en-US" smtClean="0"/>
              <a:t>7</a:t>
            </a:fld>
            <a:endParaRPr kumimoji="1" lang="zh-CN" altLang="en-US"/>
          </a:p>
        </p:txBody>
      </p:sp>
    </p:spTree>
    <p:extLst>
      <p:ext uri="{BB962C8B-B14F-4D97-AF65-F5344CB8AC3E}">
        <p14:creationId xmlns:p14="http://schemas.microsoft.com/office/powerpoint/2010/main" val="23480559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800" dirty="0">
                <a:effectLst/>
                <a:latin typeface="Times New Roman" panose="02020603050405020304" pitchFamily="18" charset="0"/>
                <a:ea typeface="DengXian" panose="02010600030101010101" pitchFamily="2" charset="-122"/>
              </a:rPr>
              <a:t>In this section, we’ll explore the scientific foundation and the empirical evidence that validates our method.</a:t>
            </a:r>
            <a:r>
              <a:rPr lang="zh-CN" altLang="zh-CN" dirty="0">
                <a:effectLst/>
              </a:rPr>
              <a:t> </a:t>
            </a:r>
            <a:endParaRPr kumimoji="1" lang="zh-CN" altLang="en-US" dirty="0"/>
          </a:p>
        </p:txBody>
      </p:sp>
      <p:sp>
        <p:nvSpPr>
          <p:cNvPr id="4" name="灯片编号占位符 3"/>
          <p:cNvSpPr>
            <a:spLocks noGrp="1"/>
          </p:cNvSpPr>
          <p:nvPr>
            <p:ph type="sldNum" sz="quarter" idx="5"/>
          </p:nvPr>
        </p:nvSpPr>
        <p:spPr/>
        <p:txBody>
          <a:bodyPr/>
          <a:lstStyle/>
          <a:p>
            <a:fld id="{48E3B040-C2A0-6741-A21F-A1D27BF399ED}" type="slidenum">
              <a:rPr kumimoji="1" lang="zh-CN" altLang="en-US" smtClean="0"/>
              <a:t>8</a:t>
            </a:fld>
            <a:endParaRPr kumimoji="1" lang="zh-CN" altLang="en-US"/>
          </a:p>
        </p:txBody>
      </p:sp>
    </p:spTree>
    <p:extLst>
      <p:ext uri="{BB962C8B-B14F-4D97-AF65-F5344CB8AC3E}">
        <p14:creationId xmlns:p14="http://schemas.microsoft.com/office/powerpoint/2010/main" val="23166935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a:r>
              <a:rPr lang="en-US" altLang="zh-CN" sz="1800" kern="100" dirty="0">
                <a:effectLst/>
                <a:latin typeface="Times New Roman" panose="02020603050405020304" pitchFamily="18" charset="0"/>
                <a:ea typeface="DengXian" panose="02010600030101010101" pitchFamily="2" charset="-122"/>
                <a:cs typeface="Times New Roman" panose="02020603050405020304" pitchFamily="18" charset="0"/>
              </a:rPr>
              <a:t>The</a:t>
            </a:r>
            <a:r>
              <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rPr>
              <a:t> feasibility of BaroAuth rests on a fascinating physiological phenomenon. When we speak, we make complex movements with our jaw and tongue. These movements are controlled by the temporomandibular joint, or TMJ. Because the TMJ is directly connected to the auditory canal, these movements cause the ear canal to physically deform—it slightly changes its shape and volume. In a sealed earbud environment, this deformation generates subtle, yet measurable, pressure variations.</a:t>
            </a:r>
          </a:p>
          <a:p>
            <a:pPr algn="l"/>
            <a:r>
              <a:rPr lang="en-US" altLang="zh-CN" sz="1800" kern="100" dirty="0">
                <a:effectLst/>
                <a:latin typeface="Times New Roman" panose="02020603050405020304" pitchFamily="18" charset="0"/>
                <a:ea typeface="DengXian" panose="02010600030101010101" pitchFamily="2" charset="-122"/>
                <a:cs typeface="Times New Roman" panose="02020603050405020304" pitchFamily="18" charset="0"/>
              </a:rPr>
              <a:t>This principle is the heart of our system. But </a:t>
            </a:r>
            <a:r>
              <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rPr>
              <a:t>why is using a barometer to measure this better than other methods?</a:t>
            </a:r>
          </a:p>
          <a:p>
            <a:pPr algn="l"/>
            <a:r>
              <a:rPr lang="en-US" altLang="zh-CN" sz="1800" kern="100" dirty="0">
                <a:effectLst/>
                <a:latin typeface="Times New Roman" panose="02020603050405020304" pitchFamily="18" charset="0"/>
                <a:ea typeface="DengXian" panose="02010600030101010101" pitchFamily="2" charset="-122"/>
                <a:cs typeface="Times New Roman" panose="02020603050405020304" pitchFamily="18" charset="0"/>
              </a:rPr>
              <a:t>This brings several key advantages. First, it</a:t>
            </a:r>
            <a:r>
              <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rPr>
              <a:t>'s Passive and Continuous. Unlike ultrasonic methods, we don't need to generate any signals, which makes our system extremely low-power. Second, it's Robust to Motion. These internal pressure changes are far less susceptible to the body motion artifacts that plague IMU-based systems. And third, it's completely User-Friendly, as it captures this biometric from a natural action—speaking—without requiring any deliberate gestures from the user.</a:t>
            </a:r>
          </a:p>
          <a:p>
            <a:r>
              <a:rPr lang="en-US" altLang="zh-CN" sz="1800" dirty="0">
                <a:effectLst/>
                <a:latin typeface="Times New Roman" panose="02020603050405020304" pitchFamily="18" charset="0"/>
                <a:ea typeface="DengXian" panose="02010600030101010101" pitchFamily="2" charset="-122"/>
              </a:rPr>
              <a:t>And here</a:t>
            </a:r>
            <a:r>
              <a:rPr lang="zh-CN" altLang="zh-CN" dirty="0">
                <a:effectLst/>
              </a:rPr>
              <a:t> lies our key novelty. While some prior works have explored in-ear pressure for simple interactions, we are the first to recognize and leverage the richness of these speech-induced patterns for the purpose of robust user authentication. </a:t>
            </a:r>
            <a:endParaRPr lang="en-US" altLang="zh-CN" dirty="0">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kern="100" dirty="0">
                <a:effectLst/>
                <a:latin typeface="Times New Roman" panose="02020603050405020304" pitchFamily="18" charset="0"/>
                <a:ea typeface="DengXian" panose="02010600030101010101" pitchFamily="2" charset="-122"/>
                <a:cs typeface="Times New Roman" panose="02020603050405020304" pitchFamily="18" charset="0"/>
              </a:rPr>
              <a:t>So, Let’s see what do these signals look like in practice, and whether they are useful for authentication.</a:t>
            </a:r>
            <a:endParaRPr lang="zh-CN" altLang="zh-CN" sz="1200" kern="100" dirty="0">
              <a:effectLst/>
              <a:latin typeface="DengXian" panose="02010600030101010101" pitchFamily="2" charset="-122"/>
              <a:ea typeface="DengXian" panose="02010600030101010101" pitchFamily="2" charset="-122"/>
              <a:cs typeface="Times New Roman" panose="02020603050405020304" pitchFamily="18" charset="0"/>
            </a:endParaRPr>
          </a:p>
          <a:p>
            <a:endParaRPr kumimoji="1" lang="zh-CN" altLang="en-US" dirty="0"/>
          </a:p>
        </p:txBody>
      </p:sp>
      <p:sp>
        <p:nvSpPr>
          <p:cNvPr id="4" name="灯片编号占位符 3"/>
          <p:cNvSpPr>
            <a:spLocks noGrp="1"/>
          </p:cNvSpPr>
          <p:nvPr>
            <p:ph type="sldNum" sz="quarter" idx="5"/>
          </p:nvPr>
        </p:nvSpPr>
        <p:spPr/>
        <p:txBody>
          <a:bodyPr/>
          <a:lstStyle/>
          <a:p>
            <a:fld id="{48E3B040-C2A0-6741-A21F-A1D27BF399ED}" type="slidenum">
              <a:rPr kumimoji="1" lang="zh-CN" altLang="en-US" smtClean="0"/>
              <a:t>9</a:t>
            </a:fld>
            <a:endParaRPr kumimoji="1" lang="zh-CN" altLang="en-US"/>
          </a:p>
        </p:txBody>
      </p:sp>
    </p:spTree>
    <p:extLst>
      <p:ext uri="{BB962C8B-B14F-4D97-AF65-F5344CB8AC3E}">
        <p14:creationId xmlns:p14="http://schemas.microsoft.com/office/powerpoint/2010/main" val="217159812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800" dirty="0">
                <a:effectLst/>
                <a:latin typeface="Times New Roman" panose="02020603050405020304" pitchFamily="18" charset="0"/>
                <a:ea typeface="DengXian" panose="02010600030101010101" pitchFamily="2" charset="-122"/>
              </a:rPr>
              <a:t>On the left, when a volunteer says “Navigate to my office”, the barometer signal clearly captures the event. And more importantly, on the right, we see two volunteers speaking the same phrase “Video my mom”. The patterns are highly consistent for the same user, but clearly different between users. This confirms that these SPSs have the two hallmarks of a strong biometric: high consistency for the same person, and high variability between different people.</a:t>
            </a:r>
            <a:r>
              <a:rPr lang="zh-CN" altLang="zh-CN" dirty="0">
                <a:effectLst/>
              </a:rPr>
              <a:t> </a:t>
            </a:r>
            <a:endParaRPr kumimoji="1" lang="zh-CN" altLang="en-US" dirty="0"/>
          </a:p>
        </p:txBody>
      </p:sp>
      <p:sp>
        <p:nvSpPr>
          <p:cNvPr id="4" name="灯片编号占位符 3"/>
          <p:cNvSpPr>
            <a:spLocks noGrp="1"/>
          </p:cNvSpPr>
          <p:nvPr>
            <p:ph type="sldNum" sz="quarter" idx="5"/>
          </p:nvPr>
        </p:nvSpPr>
        <p:spPr/>
        <p:txBody>
          <a:bodyPr/>
          <a:lstStyle/>
          <a:p>
            <a:fld id="{48E3B040-C2A0-6741-A21F-A1D27BF399ED}" type="slidenum">
              <a:rPr kumimoji="1" lang="zh-CN" altLang="en-US" smtClean="0"/>
              <a:t>10</a:t>
            </a:fld>
            <a:endParaRPr kumimoji="1" lang="zh-CN" altLang="en-US"/>
          </a:p>
        </p:txBody>
      </p:sp>
    </p:spTree>
    <p:extLst>
      <p:ext uri="{BB962C8B-B14F-4D97-AF65-F5344CB8AC3E}">
        <p14:creationId xmlns:p14="http://schemas.microsoft.com/office/powerpoint/2010/main" val="203139361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800" dirty="0">
                <a:effectLst/>
                <a:latin typeface="Times New Roman" panose="02020603050405020304" pitchFamily="18" charset="0"/>
                <a:ea typeface="DengXian" panose="02010600030101010101" pitchFamily="2" charset="-122"/>
              </a:rPr>
              <a:t>And we also define the threat model to evaluate the security of BaroAuth.</a:t>
            </a:r>
            <a:r>
              <a:rPr lang="zh-CN" altLang="zh-CN" dirty="0">
                <a:effectLst/>
              </a:rPr>
              <a:t> </a:t>
            </a:r>
            <a:endParaRPr kumimoji="1" lang="zh-CN" altLang="en-US" dirty="0"/>
          </a:p>
        </p:txBody>
      </p:sp>
      <p:sp>
        <p:nvSpPr>
          <p:cNvPr id="4" name="灯片编号占位符 3"/>
          <p:cNvSpPr>
            <a:spLocks noGrp="1"/>
          </p:cNvSpPr>
          <p:nvPr>
            <p:ph type="sldNum" sz="quarter" idx="5"/>
          </p:nvPr>
        </p:nvSpPr>
        <p:spPr/>
        <p:txBody>
          <a:bodyPr/>
          <a:lstStyle/>
          <a:p>
            <a:fld id="{48E3B040-C2A0-6741-A21F-A1D27BF399ED}" type="slidenum">
              <a:rPr kumimoji="1" lang="zh-CN" altLang="en-US" smtClean="0"/>
              <a:t>11</a:t>
            </a:fld>
            <a:endParaRPr kumimoji="1" lang="zh-CN" altLang="en-US"/>
          </a:p>
        </p:txBody>
      </p:sp>
    </p:spTree>
    <p:extLst>
      <p:ext uri="{BB962C8B-B14F-4D97-AF65-F5344CB8AC3E}">
        <p14:creationId xmlns:p14="http://schemas.microsoft.com/office/powerpoint/2010/main" val="315435138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a:r>
              <a:rPr lang="en-US" altLang="zh-CN" sz="1800" kern="100" dirty="0">
                <a:effectLst/>
                <a:latin typeface="Times New Roman" panose="02020603050405020304" pitchFamily="18" charset="0"/>
                <a:ea typeface="DengXian" panose="02010600030101010101" pitchFamily="2" charset="-122"/>
                <a:cs typeface="Times New Roman" panose="02020603050405020304" pitchFamily="18" charset="0"/>
              </a:rPr>
              <a:t>The threat model is built on a few practical assumptions: users enroll with a passphrase, the system works during daily activities, and more importantly, we assume a strong attacker who understands our system’s principles.</a:t>
            </a:r>
            <a:endPar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a:p>
            <a:pPr algn="just"/>
            <a:r>
              <a:rPr lang="en-US" altLang="zh-CN" sz="1800" kern="100" dirty="0">
                <a:effectLst/>
                <a:latin typeface="Times New Roman" panose="02020603050405020304" pitchFamily="18" charset="0"/>
                <a:ea typeface="DengXian" panose="02010600030101010101" pitchFamily="2" charset="-122"/>
                <a:cs typeface="Times New Roman" panose="02020603050405020304" pitchFamily="18" charset="0"/>
              </a:rPr>
              <a:t>Against this system, we test two primary attack scenarios:</a:t>
            </a:r>
            <a:endPar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a:p>
            <a:pPr algn="just"/>
            <a:r>
              <a:rPr lang="en-US" altLang="zh-CN" sz="1800" kern="100" dirty="0">
                <a:effectLst/>
                <a:latin typeface="Times New Roman" panose="02020603050405020304" pitchFamily="18" charset="0"/>
                <a:ea typeface="DengXian" panose="02010600030101010101" pitchFamily="2" charset="-122"/>
                <a:cs typeface="Times New Roman" panose="02020603050405020304" pitchFamily="18" charset="0"/>
              </a:rPr>
              <a:t>First: a Zero-knowledge attack, where the impersonator only knows the victim’s passphrase and tries to mimic their voice;</a:t>
            </a:r>
            <a:endPar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DengXian" panose="02010600030101010101" pitchFamily="2" charset="-122"/>
              </a:rPr>
              <a:t>And second, a more sophisticated Knowledge-based attack. Here, the attacker has studied how the victim utters by watching secret shotting videos. Then, the attacker attempts to replicate not just their voice, but their specific articulatory motions. Successfully defending against this stronger, knowledge-based attacker is crucial for proving the real-world security of our system.</a:t>
            </a:r>
            <a:r>
              <a:rPr lang="zh-CN" altLang="zh-CN" dirty="0">
                <a:effectLst/>
              </a:rPr>
              <a:t> </a:t>
            </a:r>
            <a:endParaRPr kumimoji="1" lang="zh-CN" altLang="en-US" dirty="0"/>
          </a:p>
        </p:txBody>
      </p:sp>
      <p:sp>
        <p:nvSpPr>
          <p:cNvPr id="4" name="灯片编号占位符 3"/>
          <p:cNvSpPr>
            <a:spLocks noGrp="1"/>
          </p:cNvSpPr>
          <p:nvPr>
            <p:ph type="sldNum" sz="quarter" idx="5"/>
          </p:nvPr>
        </p:nvSpPr>
        <p:spPr/>
        <p:txBody>
          <a:bodyPr/>
          <a:lstStyle/>
          <a:p>
            <a:fld id="{48E3B040-C2A0-6741-A21F-A1D27BF399ED}" type="slidenum">
              <a:rPr kumimoji="1" lang="zh-CN" altLang="en-US" smtClean="0"/>
              <a:t>12</a:t>
            </a:fld>
            <a:endParaRPr kumimoji="1" lang="zh-CN" altLang="en-US"/>
          </a:p>
        </p:txBody>
      </p:sp>
    </p:spTree>
    <p:extLst>
      <p:ext uri="{BB962C8B-B14F-4D97-AF65-F5344CB8AC3E}">
        <p14:creationId xmlns:p14="http://schemas.microsoft.com/office/powerpoint/2010/main" val="252660208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800" dirty="0">
                <a:effectLst/>
                <a:latin typeface="Times New Roman" panose="02020603050405020304" pitchFamily="18" charset="0"/>
                <a:ea typeface="DengXian" panose="02010600030101010101" pitchFamily="2" charset="-122"/>
              </a:rPr>
              <a:t>But, to make BaroAuth become a robust and real-world system, we still face three key challenges.</a:t>
            </a:r>
            <a:r>
              <a:rPr lang="zh-CN" altLang="zh-CN" dirty="0">
                <a:effectLst/>
              </a:rPr>
              <a:t> </a:t>
            </a:r>
            <a:endParaRPr kumimoji="1" lang="zh-CN" altLang="en-US" dirty="0"/>
          </a:p>
        </p:txBody>
      </p:sp>
      <p:sp>
        <p:nvSpPr>
          <p:cNvPr id="4" name="灯片编号占位符 3"/>
          <p:cNvSpPr>
            <a:spLocks noGrp="1"/>
          </p:cNvSpPr>
          <p:nvPr>
            <p:ph type="sldNum" sz="quarter" idx="5"/>
          </p:nvPr>
        </p:nvSpPr>
        <p:spPr/>
        <p:txBody>
          <a:bodyPr/>
          <a:lstStyle/>
          <a:p>
            <a:fld id="{48E3B040-C2A0-6741-A21F-A1D27BF399ED}" type="slidenum">
              <a:rPr kumimoji="1" lang="zh-CN" altLang="en-US" smtClean="0"/>
              <a:t>13</a:t>
            </a:fld>
            <a:endParaRPr kumimoji="1" lang="zh-CN" altLang="en-US"/>
          </a:p>
        </p:txBody>
      </p:sp>
    </p:spTree>
    <p:extLst>
      <p:ext uri="{BB962C8B-B14F-4D97-AF65-F5344CB8AC3E}">
        <p14:creationId xmlns:p14="http://schemas.microsoft.com/office/powerpoint/2010/main" val="168694247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800" dirty="0">
                <a:effectLst/>
                <a:latin typeface="Times New Roman" panose="02020603050405020304" pitchFamily="18" charset="0"/>
                <a:ea typeface="DengXian" panose="02010600030101010101" pitchFamily="2" charset="-122"/>
              </a:rPr>
              <a:t>The first major challenge is dealing with environmental interference, specifically baseline drift. Barometer sensor is sensitive enough to detect SPS, but this also means it detects changes in altitude. As you can see from the graphs, when a user is walking on a flat surface, the signal is stable. However, when climbing stairs or riding an elevator, the baseline of the pressure signal drifts significantly. This drift can completely overwhelm the subtle biometric patterns from speech. So, our first critical question is: How can we eliminate this baseline drift while perfectly preserving the user’s unique signature?</a:t>
            </a:r>
            <a:r>
              <a:rPr lang="zh-CN" altLang="zh-CN" dirty="0">
                <a:effectLst/>
              </a:rPr>
              <a:t> </a:t>
            </a:r>
            <a:endParaRPr kumimoji="1" lang="zh-CN" altLang="en-US" dirty="0"/>
          </a:p>
        </p:txBody>
      </p:sp>
      <p:sp>
        <p:nvSpPr>
          <p:cNvPr id="4" name="灯片编号占位符 3"/>
          <p:cNvSpPr>
            <a:spLocks noGrp="1"/>
          </p:cNvSpPr>
          <p:nvPr>
            <p:ph type="sldNum" sz="quarter" idx="5"/>
          </p:nvPr>
        </p:nvSpPr>
        <p:spPr/>
        <p:txBody>
          <a:bodyPr/>
          <a:lstStyle/>
          <a:p>
            <a:fld id="{48E3B040-C2A0-6741-A21F-A1D27BF399ED}" type="slidenum">
              <a:rPr kumimoji="1" lang="zh-CN" altLang="en-US" smtClean="0"/>
              <a:t>14</a:t>
            </a:fld>
            <a:endParaRPr kumimoji="1" lang="zh-CN" altLang="en-US"/>
          </a:p>
        </p:txBody>
      </p:sp>
    </p:spTree>
    <p:extLst>
      <p:ext uri="{BB962C8B-B14F-4D97-AF65-F5344CB8AC3E}">
        <p14:creationId xmlns:p14="http://schemas.microsoft.com/office/powerpoint/2010/main" val="60573458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800" dirty="0">
                <a:effectLst/>
                <a:latin typeface="Times New Roman" panose="02020603050405020304" pitchFamily="18" charset="0"/>
                <a:ea typeface="DengXian" panose="02010600030101010101" pitchFamily="2" charset="-122"/>
              </a:rPr>
              <a:t>The second challenge is saying that we might speak faster when we’re in a hurry, or slower when we’re tired. This variation stretches and compresses the signal in the time domain. A model trained only on a normal speaking pace would likely fail in these common, real-world scenarios. So, BaroAuth needs to figure out how to adapt to various speaking rhythms.</a:t>
            </a:r>
            <a:r>
              <a:rPr lang="zh-CN" altLang="zh-CN" dirty="0">
                <a:effectLst/>
              </a:rPr>
              <a:t> </a:t>
            </a:r>
            <a:endParaRPr kumimoji="1" lang="zh-CN" altLang="en-US" dirty="0"/>
          </a:p>
        </p:txBody>
      </p:sp>
      <p:sp>
        <p:nvSpPr>
          <p:cNvPr id="4" name="灯片编号占位符 3"/>
          <p:cNvSpPr>
            <a:spLocks noGrp="1"/>
          </p:cNvSpPr>
          <p:nvPr>
            <p:ph type="sldNum" sz="quarter" idx="5"/>
          </p:nvPr>
        </p:nvSpPr>
        <p:spPr/>
        <p:txBody>
          <a:bodyPr/>
          <a:lstStyle/>
          <a:p>
            <a:fld id="{48E3B040-C2A0-6741-A21F-A1D27BF399ED}" type="slidenum">
              <a:rPr kumimoji="1" lang="zh-CN" altLang="en-US" smtClean="0"/>
              <a:t>15</a:t>
            </a:fld>
            <a:endParaRPr kumimoji="1" lang="zh-CN" altLang="en-US"/>
          </a:p>
        </p:txBody>
      </p:sp>
    </p:spTree>
    <p:extLst>
      <p:ext uri="{BB962C8B-B14F-4D97-AF65-F5344CB8AC3E}">
        <p14:creationId xmlns:p14="http://schemas.microsoft.com/office/powerpoint/2010/main" val="55396222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800" dirty="0">
                <a:effectLst/>
                <a:latin typeface="Times New Roman" panose="02020603050405020304" pitchFamily="18" charset="0"/>
                <a:ea typeface="DengXian" panose="02010600030101010101" pitchFamily="2" charset="-122"/>
              </a:rPr>
              <a:t>Finally, even with a clean and rhythm-adjusted signal, we face our third and most fundamental challenge: how to extract stable identity features. This is because the SPS signal is complex, it contains complementary information in both the time domain, reflecting large-scale jaw movements, and the frequency domain, which captures finer details from vocal resonance. A simple model might fail to capture the full picture.</a:t>
            </a:r>
            <a:r>
              <a:rPr lang="zh-CN" altLang="zh-CN" dirty="0">
                <a:effectLst/>
              </a:rPr>
              <a:t> </a:t>
            </a:r>
            <a:endParaRPr kumimoji="1" lang="zh-CN" altLang="en-US" dirty="0"/>
          </a:p>
        </p:txBody>
      </p:sp>
      <p:sp>
        <p:nvSpPr>
          <p:cNvPr id="4" name="灯片编号占位符 3"/>
          <p:cNvSpPr>
            <a:spLocks noGrp="1"/>
          </p:cNvSpPr>
          <p:nvPr>
            <p:ph type="sldNum" sz="quarter" idx="5"/>
          </p:nvPr>
        </p:nvSpPr>
        <p:spPr/>
        <p:txBody>
          <a:bodyPr/>
          <a:lstStyle/>
          <a:p>
            <a:fld id="{48E3B040-C2A0-6741-A21F-A1D27BF399ED}" type="slidenum">
              <a:rPr kumimoji="1" lang="zh-CN" altLang="en-US" smtClean="0"/>
              <a:t>16</a:t>
            </a:fld>
            <a:endParaRPr kumimoji="1" lang="zh-CN" altLang="en-US"/>
          </a:p>
        </p:txBody>
      </p:sp>
    </p:spTree>
    <p:extLst>
      <p:ext uri="{BB962C8B-B14F-4D97-AF65-F5344CB8AC3E}">
        <p14:creationId xmlns:p14="http://schemas.microsoft.com/office/powerpoint/2010/main" val="346485874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800" dirty="0">
                <a:effectLst/>
                <a:latin typeface="Times New Roman" panose="02020603050405020304" pitchFamily="18" charset="0"/>
                <a:ea typeface="DengXian" panose="02010600030101010101" pitchFamily="2" charset="-122"/>
              </a:rPr>
              <a:t>Next, Let’s move to the design of our BaroAuth, and explaining how we engineered our solution to address each of these problems.</a:t>
            </a:r>
            <a:r>
              <a:rPr lang="zh-CN" altLang="zh-CN" dirty="0">
                <a:effectLst/>
              </a:rPr>
              <a:t> </a:t>
            </a:r>
            <a:endParaRPr kumimoji="1" lang="zh-CN" altLang="en-US" dirty="0"/>
          </a:p>
        </p:txBody>
      </p:sp>
      <p:sp>
        <p:nvSpPr>
          <p:cNvPr id="4" name="灯片编号占位符 3"/>
          <p:cNvSpPr>
            <a:spLocks noGrp="1"/>
          </p:cNvSpPr>
          <p:nvPr>
            <p:ph type="sldNum" sz="quarter" idx="5"/>
          </p:nvPr>
        </p:nvSpPr>
        <p:spPr/>
        <p:txBody>
          <a:bodyPr/>
          <a:lstStyle/>
          <a:p>
            <a:fld id="{48E3B040-C2A0-6741-A21F-A1D27BF399ED}" type="slidenum">
              <a:rPr kumimoji="1" lang="zh-CN" altLang="en-US" smtClean="0"/>
              <a:t>17</a:t>
            </a:fld>
            <a:endParaRPr kumimoji="1" lang="zh-CN" altLang="en-US"/>
          </a:p>
        </p:txBody>
      </p:sp>
    </p:spTree>
    <p:extLst>
      <p:ext uri="{BB962C8B-B14F-4D97-AF65-F5344CB8AC3E}">
        <p14:creationId xmlns:p14="http://schemas.microsoft.com/office/powerpoint/2010/main" val="247144650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800" dirty="0">
                <a:effectLst/>
                <a:latin typeface="Times New Roman" panose="02020603050405020304" pitchFamily="18" charset="0"/>
                <a:ea typeface="DengXian" panose="02010600030101010101" pitchFamily="2" charset="-122"/>
              </a:rPr>
              <a:t>BaroAuth mainly includes four modules: </a:t>
            </a:r>
            <a:r>
              <a:rPr lang="en-US" altLang="zh-CN" sz="1800" u="sng" dirty="0">
                <a:effectLst/>
                <a:latin typeface="Times New Roman" panose="02020603050405020304" pitchFamily="18" charset="0"/>
                <a:ea typeface="DengXian" panose="02010600030101010101" pitchFamily="2" charset="-122"/>
              </a:rPr>
              <a:t>Data Collection</a:t>
            </a:r>
            <a:r>
              <a:rPr lang="en-US" altLang="zh-CN" sz="1800" dirty="0">
                <a:effectLst/>
                <a:latin typeface="Times New Roman" panose="02020603050405020304" pitchFamily="18" charset="0"/>
                <a:ea typeface="DengXian" panose="02010600030101010101" pitchFamily="2" charset="-122"/>
              </a:rPr>
              <a:t>, </a:t>
            </a:r>
            <a:r>
              <a:rPr lang="en-US" altLang="zh-CN" sz="1800" u="sng" dirty="0">
                <a:effectLst/>
                <a:latin typeface="Times New Roman" panose="02020603050405020304" pitchFamily="18" charset="0"/>
                <a:ea typeface="DengXian" panose="02010600030101010101" pitchFamily="2" charset="-122"/>
              </a:rPr>
              <a:t>Data Preprocessing</a:t>
            </a:r>
            <a:r>
              <a:rPr lang="en-US" altLang="zh-CN" sz="1800" dirty="0">
                <a:effectLst/>
                <a:latin typeface="Times New Roman" panose="02020603050405020304" pitchFamily="18" charset="0"/>
                <a:ea typeface="DengXian" panose="02010600030101010101" pitchFamily="2" charset="-122"/>
              </a:rPr>
              <a:t>, </a:t>
            </a:r>
            <a:r>
              <a:rPr lang="en-US" altLang="zh-CN" sz="1800" u="sng" dirty="0">
                <a:effectLst/>
                <a:latin typeface="Times New Roman" panose="02020603050405020304" pitchFamily="18" charset="0"/>
                <a:ea typeface="DengXian" panose="02010600030101010101" pitchFamily="2" charset="-122"/>
              </a:rPr>
              <a:t>Pseudo Sample Generation</a:t>
            </a:r>
            <a:r>
              <a:rPr lang="en-US" altLang="zh-CN" sz="1800" dirty="0">
                <a:effectLst/>
                <a:latin typeface="Times New Roman" panose="02020603050405020304" pitchFamily="18" charset="0"/>
                <a:ea typeface="DengXian" panose="02010600030101010101" pitchFamily="2" charset="-122"/>
              </a:rPr>
              <a:t> and </a:t>
            </a:r>
            <a:r>
              <a:rPr lang="en-US" altLang="zh-CN" sz="1800" u="sng" dirty="0">
                <a:effectLst/>
                <a:latin typeface="Times New Roman" panose="02020603050405020304" pitchFamily="18" charset="0"/>
                <a:ea typeface="DengXian" panose="02010600030101010101" pitchFamily="2" charset="-122"/>
              </a:rPr>
              <a:t>Training of our end-to-end Authentication model</a:t>
            </a:r>
            <a:r>
              <a:rPr lang="en-US" altLang="zh-CN" sz="1800" dirty="0">
                <a:effectLst/>
                <a:latin typeface="Times New Roman" panose="02020603050405020304" pitchFamily="18" charset="0"/>
                <a:ea typeface="DengXian" panose="02010600030101010101" pitchFamily="2" charset="-122"/>
              </a:rPr>
              <a:t> – BaroIDNet</a:t>
            </a:r>
            <a:r>
              <a:rPr lang="zh-CN" altLang="zh-CN" dirty="0">
                <a:effectLst/>
              </a:rPr>
              <a:t> </a:t>
            </a:r>
            <a:endParaRPr kumimoji="1" lang="zh-CN" altLang="en-US" dirty="0"/>
          </a:p>
        </p:txBody>
      </p:sp>
      <p:sp>
        <p:nvSpPr>
          <p:cNvPr id="4" name="灯片编号占位符 3"/>
          <p:cNvSpPr>
            <a:spLocks noGrp="1"/>
          </p:cNvSpPr>
          <p:nvPr>
            <p:ph type="sldNum" sz="quarter" idx="5"/>
          </p:nvPr>
        </p:nvSpPr>
        <p:spPr/>
        <p:txBody>
          <a:bodyPr/>
          <a:lstStyle/>
          <a:p>
            <a:fld id="{48E3B040-C2A0-6741-A21F-A1D27BF399ED}" type="slidenum">
              <a:rPr kumimoji="1" lang="zh-CN" altLang="en-US" smtClean="0"/>
              <a:t>18</a:t>
            </a:fld>
            <a:endParaRPr kumimoji="1" lang="zh-CN" altLang="en-US"/>
          </a:p>
        </p:txBody>
      </p:sp>
    </p:spTree>
    <p:extLst>
      <p:ext uri="{BB962C8B-B14F-4D97-AF65-F5344CB8AC3E}">
        <p14:creationId xmlns:p14="http://schemas.microsoft.com/office/powerpoint/2010/main" val="99922156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a:r>
              <a:rPr lang="en-US" altLang="zh-CN" sz="1800" kern="100" dirty="0">
                <a:effectLst/>
                <a:latin typeface="Times New Roman" panose="02020603050405020304" pitchFamily="18" charset="0"/>
                <a:ea typeface="DengXian" panose="02010600030101010101" pitchFamily="2" charset="-122"/>
                <a:cs typeface="Times New Roman" panose="02020603050405020304" pitchFamily="18" charset="0"/>
              </a:rPr>
              <a:t>Of course, we develop a custom hardware prototype by embedding a miniature Bosch BMP390 pressure sensor into 3D-printed earbud housing, which allows us to capture the necessary data.</a:t>
            </a:r>
            <a:endPar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a:p>
            <a:pPr algn="just"/>
            <a:r>
              <a:rPr lang="en-US" altLang="zh-CN" sz="1800" kern="100" dirty="0">
                <a:effectLst/>
                <a:latin typeface="Times New Roman" panose="02020603050405020304" pitchFamily="18" charset="0"/>
                <a:ea typeface="DengXian" panose="02010600030101010101" pitchFamily="2" charset="-122"/>
                <a:cs typeface="Times New Roman" panose="02020603050405020304" pitchFamily="18" charset="0"/>
              </a:rPr>
              <a:t>To train our authentication model and comprehensively evaluate BaroAuth, we also conduct an extensive data collection study over 30 days, involving multiple volunteers and a list of 30 different voice commands.</a:t>
            </a:r>
            <a:endPar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DengXian" panose="02010600030101010101" pitchFamily="2" charset="-122"/>
              </a:rPr>
              <a:t>Crucially, we collect three distinct traces of data: Trace A for general training, Trace B specifically to simulate zero-knowledge and knowledge-based attacks, and Trace C to evaluate the system’s stability after a period of six months.</a:t>
            </a:r>
            <a:r>
              <a:rPr lang="zh-CN" altLang="zh-CN" dirty="0">
                <a:effectLst/>
              </a:rPr>
              <a:t> </a:t>
            </a:r>
            <a:endParaRPr kumimoji="1" lang="zh-CN" altLang="en-US" dirty="0"/>
          </a:p>
        </p:txBody>
      </p:sp>
      <p:sp>
        <p:nvSpPr>
          <p:cNvPr id="4" name="灯片编号占位符 3"/>
          <p:cNvSpPr>
            <a:spLocks noGrp="1"/>
          </p:cNvSpPr>
          <p:nvPr>
            <p:ph type="sldNum" sz="quarter" idx="5"/>
          </p:nvPr>
        </p:nvSpPr>
        <p:spPr/>
        <p:txBody>
          <a:bodyPr/>
          <a:lstStyle/>
          <a:p>
            <a:fld id="{48E3B040-C2A0-6741-A21F-A1D27BF399ED}" type="slidenum">
              <a:rPr kumimoji="1" lang="zh-CN" altLang="en-US" smtClean="0"/>
              <a:t>19</a:t>
            </a:fld>
            <a:endParaRPr kumimoji="1" lang="zh-CN" altLang="en-US"/>
          </a:p>
        </p:txBody>
      </p:sp>
    </p:spTree>
    <p:extLst>
      <p:ext uri="{BB962C8B-B14F-4D97-AF65-F5344CB8AC3E}">
        <p14:creationId xmlns:p14="http://schemas.microsoft.com/office/powerpoint/2010/main" val="389929321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a:r>
              <a:rPr lang="en-US" altLang="zh-CN" sz="1800" kern="100" dirty="0">
                <a:effectLst/>
                <a:latin typeface="Times New Roman" panose="02020603050405020304" pitchFamily="18" charset="0"/>
                <a:ea typeface="DengXian" panose="02010600030101010101" pitchFamily="2" charset="-122"/>
                <a:cs typeface="Times New Roman" panose="02020603050405020304" pitchFamily="18" charset="0"/>
              </a:rPr>
              <a:t>Our preprocessing pipeline has three main steps: </a:t>
            </a:r>
            <a:endPar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a:p>
            <a:pPr algn="just"/>
            <a:r>
              <a:rPr lang="en-US" altLang="zh-CN" sz="1800" kern="100" dirty="0">
                <a:effectLst/>
                <a:latin typeface="Times New Roman" panose="02020603050405020304" pitchFamily="18" charset="0"/>
                <a:ea typeface="DengXian" panose="02010600030101010101" pitchFamily="2" charset="-122"/>
                <a:cs typeface="Times New Roman" panose="02020603050405020304" pitchFamily="18" charset="0"/>
              </a:rPr>
              <a:t>First, we use Voice Activity </a:t>
            </a:r>
            <a:r>
              <a:rPr lang="en-US" altLang="zh-CN" sz="1800" kern="100">
                <a:effectLst/>
                <a:latin typeface="Times New Roman" panose="02020603050405020304" pitchFamily="18" charset="0"/>
                <a:ea typeface="DengXian" panose="02010600030101010101" pitchFamily="2" charset="-122"/>
                <a:cs typeface="Times New Roman" panose="02020603050405020304" pitchFamily="18" charset="0"/>
              </a:rPr>
              <a:t>Detection algorithm </a:t>
            </a:r>
            <a:r>
              <a:rPr lang="en-US" altLang="zh-CN" sz="1800" kern="100" dirty="0">
                <a:effectLst/>
                <a:latin typeface="Times New Roman" panose="02020603050405020304" pitchFamily="18" charset="0"/>
                <a:ea typeface="DengXian" panose="02010600030101010101" pitchFamily="2" charset="-122"/>
                <a:cs typeface="Times New Roman" panose="02020603050405020304" pitchFamily="18" charset="0"/>
              </a:rPr>
              <a:t>to accurately segment the speech-related portions from the continuous signal. </a:t>
            </a:r>
            <a:endPar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a:p>
            <a:pPr algn="just"/>
            <a:r>
              <a:rPr lang="en-US" altLang="zh-CN" sz="1800" kern="100" dirty="0">
                <a:effectLst/>
                <a:latin typeface="Times New Roman" panose="02020603050405020304" pitchFamily="18" charset="0"/>
                <a:ea typeface="DengXian" panose="02010600030101010101" pitchFamily="2" charset="-122"/>
                <a:cs typeface="Times New Roman" panose="02020603050405020304" pitchFamily="18" charset="0"/>
              </a:rPr>
              <a:t>Second, to eliminate drift, we apply Empirical Mode Decomposition, or EMD. As you can see in the figures on the right, EMD adaptively decomposes the signal into different frequency components, allowing us to isolate and remove the low-frequency drift while perfectly preserving the high-frequency biometric details.</a:t>
            </a:r>
            <a:endPar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DengXian" panose="02010600030101010101" pitchFamily="2" charset="-122"/>
              </a:rPr>
              <a:t>Finally, we apply Min-Max Normalization to standardize the signal, compensating for any amplitude variations. The result is a clean, stable SPS signal, ready for feature extraction.</a:t>
            </a:r>
            <a:r>
              <a:rPr lang="zh-CN" altLang="zh-CN" dirty="0">
                <a:effectLst/>
              </a:rPr>
              <a:t> </a:t>
            </a:r>
            <a:endParaRPr kumimoji="1" lang="zh-CN" altLang="en-US" dirty="0"/>
          </a:p>
        </p:txBody>
      </p:sp>
      <p:sp>
        <p:nvSpPr>
          <p:cNvPr id="4" name="灯片编号占位符 3"/>
          <p:cNvSpPr>
            <a:spLocks noGrp="1"/>
          </p:cNvSpPr>
          <p:nvPr>
            <p:ph type="sldNum" sz="quarter" idx="5"/>
          </p:nvPr>
        </p:nvSpPr>
        <p:spPr/>
        <p:txBody>
          <a:bodyPr/>
          <a:lstStyle/>
          <a:p>
            <a:fld id="{48E3B040-C2A0-6741-A21F-A1D27BF399ED}" type="slidenum">
              <a:rPr kumimoji="1" lang="zh-CN" altLang="en-US" smtClean="0"/>
              <a:t>20</a:t>
            </a:fld>
            <a:endParaRPr kumimoji="1" lang="zh-CN" altLang="en-US"/>
          </a:p>
        </p:txBody>
      </p:sp>
    </p:spTree>
    <p:extLst>
      <p:ext uri="{BB962C8B-B14F-4D97-AF65-F5344CB8AC3E}">
        <p14:creationId xmlns:p14="http://schemas.microsoft.com/office/powerpoint/2010/main" val="280372904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a:r>
              <a:rPr lang="en-US" altLang="zh-CN" sz="1800" kern="100" dirty="0">
                <a:effectLst/>
                <a:latin typeface="Times New Roman" panose="02020603050405020304" pitchFamily="18" charset="0"/>
                <a:ea typeface="DengXian" panose="02010600030101010101" pitchFamily="2" charset="-122"/>
                <a:cs typeface="Times New Roman" panose="02020603050405020304" pitchFamily="18" charset="0"/>
              </a:rPr>
              <a:t>Next, to tackle Challenge 2: Rhythm Variations, we developed a data augmentation pipeline."</a:t>
            </a:r>
            <a:endPar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a:p>
            <a:pPr algn="just"/>
            <a:r>
              <a:rPr lang="en-US" altLang="zh-CN" sz="1800" kern="100" dirty="0">
                <a:effectLst/>
                <a:latin typeface="Times New Roman" panose="02020603050405020304" pitchFamily="18" charset="0"/>
                <a:ea typeface="DengXian" panose="02010600030101010101" pitchFamily="2" charset="-122"/>
                <a:cs typeface="Times New Roman" panose="02020603050405020304" pitchFamily="18" charset="0"/>
              </a:rPr>
              <a:t>The process is straightforward. We first align the pressure signal with the audio signal. Then, using a Phase Vocoder, we perform time-scaling on the audio to simulate faster and slower speaking rhythms. We apply these same transformations to the synchronized pressure signals."</a:t>
            </a:r>
            <a:endPar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DengXian" panose="02010600030101010101" pitchFamily="2" charset="-122"/>
              </a:rPr>
              <a:t>This process effectively multiplies our training data by a factor of seven, creating a diverse dataset that makes our final model significantly more robust to the natural variations in a user's speaking pace.</a:t>
            </a:r>
            <a:r>
              <a:rPr lang="zh-CN" altLang="zh-CN" dirty="0">
                <a:effectLst/>
              </a:rPr>
              <a:t> </a:t>
            </a:r>
            <a:endParaRPr kumimoji="1" lang="zh-CN" altLang="en-US" dirty="0"/>
          </a:p>
        </p:txBody>
      </p:sp>
      <p:sp>
        <p:nvSpPr>
          <p:cNvPr id="4" name="灯片编号占位符 3"/>
          <p:cNvSpPr>
            <a:spLocks noGrp="1"/>
          </p:cNvSpPr>
          <p:nvPr>
            <p:ph type="sldNum" sz="quarter" idx="5"/>
          </p:nvPr>
        </p:nvSpPr>
        <p:spPr/>
        <p:txBody>
          <a:bodyPr/>
          <a:lstStyle/>
          <a:p>
            <a:fld id="{48E3B040-C2A0-6741-A21F-A1D27BF399ED}" type="slidenum">
              <a:rPr kumimoji="1" lang="zh-CN" altLang="en-US" smtClean="0"/>
              <a:t>21</a:t>
            </a:fld>
            <a:endParaRPr kumimoji="1" lang="zh-CN" altLang="en-US"/>
          </a:p>
        </p:txBody>
      </p:sp>
    </p:spTree>
    <p:extLst>
      <p:ext uri="{BB962C8B-B14F-4D97-AF65-F5344CB8AC3E}">
        <p14:creationId xmlns:p14="http://schemas.microsoft.com/office/powerpoint/2010/main" val="302464241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a:r>
              <a:rPr lang="en-US" altLang="zh-CN" sz="1800" kern="100" dirty="0">
                <a:effectLst/>
                <a:latin typeface="Times New Roman" panose="02020603050405020304" pitchFamily="18" charset="0"/>
                <a:ea typeface="DengXian" panose="02010600030101010101" pitchFamily="2" charset="-122"/>
                <a:cs typeface="Times New Roman" panose="02020603050405020304" pitchFamily="18" charset="0"/>
              </a:rPr>
              <a:t>Finally, to solve Challenge 3: Extracting Stable Features, we designed our novel end-to-end authentication model, BaroIDNet."</a:t>
            </a:r>
            <a:endPar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a:p>
            <a:pPr algn="just"/>
            <a:r>
              <a:rPr lang="en-US" altLang="zh-CN" sz="1800" kern="100" dirty="0">
                <a:effectLst/>
                <a:latin typeface="Times New Roman" panose="02020603050405020304" pitchFamily="18" charset="0"/>
                <a:ea typeface="DengXian" panose="02010600030101010101" pitchFamily="2" charset="-122"/>
                <a:cs typeface="Times New Roman" panose="02020603050405020304" pitchFamily="18" charset="0"/>
              </a:rPr>
              <a:t>The architecture is designed to fuse information from multiple domains. It starts by using parallel 1D and 2D convolutions to separately extract features from the time-domain waveforms and the frequency-domain spectrograms."</a:t>
            </a:r>
            <a:endPar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a:p>
            <a:pPr algn="just"/>
            <a:r>
              <a:rPr lang="en-US" altLang="zh-CN" sz="1800" kern="100" dirty="0">
                <a:effectLst/>
                <a:latin typeface="Times New Roman" panose="02020603050405020304" pitchFamily="18" charset="0"/>
                <a:ea typeface="DengXian" panose="02010600030101010101" pitchFamily="2" charset="-122"/>
                <a:cs typeface="Times New Roman" panose="02020603050405020304" pitchFamily="18" charset="0"/>
              </a:rPr>
              <a:t>To capture features at different temporal scales, we use Multi-scale Inception modules. But the most critical component is our Cross-Attention Mechanism. This allows the time and frequency branches to dynamically interact and fuse their complementary information, creating a much richer and more discriminative feature representation than either could alone.</a:t>
            </a:r>
            <a:endPar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DengXian" panose="02010600030101010101" pitchFamily="2" charset="-122"/>
              </a:rPr>
              <a:t>The resulting fused vector is then passed through a final classification head to make the authentication decision.</a:t>
            </a:r>
            <a:r>
              <a:rPr lang="zh-CN" altLang="zh-CN" sz="2800" dirty="0">
                <a:effectLst/>
              </a:rPr>
              <a:t> </a:t>
            </a:r>
            <a:endPar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p:txBody>
      </p:sp>
      <p:sp>
        <p:nvSpPr>
          <p:cNvPr id="4" name="灯片编号占位符 3"/>
          <p:cNvSpPr>
            <a:spLocks noGrp="1"/>
          </p:cNvSpPr>
          <p:nvPr>
            <p:ph type="sldNum" sz="quarter" idx="5"/>
          </p:nvPr>
        </p:nvSpPr>
        <p:spPr/>
        <p:txBody>
          <a:bodyPr/>
          <a:lstStyle/>
          <a:p>
            <a:fld id="{48E3B040-C2A0-6741-A21F-A1D27BF399ED}" type="slidenum">
              <a:rPr kumimoji="1" lang="zh-CN" altLang="en-US" smtClean="0"/>
              <a:t>22</a:t>
            </a:fld>
            <a:endParaRPr kumimoji="1" lang="zh-CN" altLang="en-US"/>
          </a:p>
        </p:txBody>
      </p:sp>
    </p:spTree>
    <p:extLst>
      <p:ext uri="{BB962C8B-B14F-4D97-AF65-F5344CB8AC3E}">
        <p14:creationId xmlns:p14="http://schemas.microsoft.com/office/powerpoint/2010/main" val="69444945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a:r>
              <a:rPr lang="en-US" altLang="zh-CN" sz="1800" kern="100" dirty="0">
                <a:effectLst/>
                <a:latin typeface="Times New Roman" panose="02020603050405020304" pitchFamily="18" charset="0"/>
                <a:ea typeface="DengXian" panose="02010600030101010101" pitchFamily="2" charset="-122"/>
                <a:cs typeface="Times New Roman" panose="02020603050405020304" pitchFamily="18" charset="0"/>
              </a:rPr>
              <a:t>To evaluate the ability of BaroAuth to extract user discriminative features, we visualize both raw input data and model-extracted features using t-SNE.</a:t>
            </a:r>
            <a:endPar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a:p>
            <a:pPr algn="just"/>
            <a:r>
              <a:rPr lang="en-US" altLang="zh-CN" sz="1800" kern="100" dirty="0">
                <a:effectLst/>
                <a:latin typeface="Times New Roman" panose="02020603050405020304" pitchFamily="18" charset="0"/>
                <a:ea typeface="DengXian" panose="02010600030101010101" pitchFamily="2" charset="-122"/>
                <a:cs typeface="Times New Roman" panose="02020603050405020304" pitchFamily="18" charset="0"/>
              </a:rPr>
              <a:t>The left figure shows the t-SNE visualization of raw input data, where samples from</a:t>
            </a:r>
            <a:endPar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a:p>
            <a:pPr algn="just"/>
            <a:r>
              <a:rPr lang="en-US" altLang="zh-CN" sz="1800" kern="100" dirty="0">
                <a:effectLst/>
                <a:latin typeface="Times New Roman" panose="02020603050405020304" pitchFamily="18" charset="0"/>
                <a:ea typeface="DengXian" panose="02010600030101010101" pitchFamily="2" charset="-122"/>
                <a:cs typeface="Times New Roman" panose="02020603050405020304" pitchFamily="18" charset="0"/>
              </a:rPr>
              <a:t>different users are intermixed, indicating a lack of discriminative properties. </a:t>
            </a:r>
            <a:endPar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DengXian" panose="02010600030101010101" pitchFamily="2" charset="-122"/>
              </a:rPr>
              <a:t>In contrast, after feature extraction, the right figure illustrates the model-extracted features, where samples from the same user form distinct, compact clusters. These results demonstrate the effectiveness of BaroAuth in transforming ambiguous raw inputs into a structured feature space with clear user-specific separability.</a:t>
            </a:r>
            <a:r>
              <a:rPr lang="zh-CN" altLang="zh-CN" dirty="0">
                <a:effectLst/>
              </a:rPr>
              <a:t> </a:t>
            </a:r>
            <a:endParaRPr kumimoji="1" lang="zh-CN" altLang="en-US" dirty="0"/>
          </a:p>
        </p:txBody>
      </p:sp>
      <p:sp>
        <p:nvSpPr>
          <p:cNvPr id="4" name="灯片编号占位符 3"/>
          <p:cNvSpPr>
            <a:spLocks noGrp="1"/>
          </p:cNvSpPr>
          <p:nvPr>
            <p:ph type="sldNum" sz="quarter" idx="5"/>
          </p:nvPr>
        </p:nvSpPr>
        <p:spPr/>
        <p:txBody>
          <a:bodyPr/>
          <a:lstStyle/>
          <a:p>
            <a:fld id="{48E3B040-C2A0-6741-A21F-A1D27BF399ED}" type="slidenum">
              <a:rPr kumimoji="1" lang="zh-CN" altLang="en-US" smtClean="0"/>
              <a:t>23</a:t>
            </a:fld>
            <a:endParaRPr kumimoji="1" lang="zh-CN" altLang="en-US"/>
          </a:p>
        </p:txBody>
      </p:sp>
    </p:spTree>
    <p:extLst>
      <p:ext uri="{BB962C8B-B14F-4D97-AF65-F5344CB8AC3E}">
        <p14:creationId xmlns:p14="http://schemas.microsoft.com/office/powerpoint/2010/main" val="99458414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a:r>
              <a:rPr lang="en-US" altLang="zh-CN" sz="1800" kern="100" dirty="0">
                <a:effectLst/>
                <a:latin typeface="Times New Roman" panose="02020603050405020304" pitchFamily="18" charset="0"/>
                <a:ea typeface="DengXian" panose="02010600030101010101" pitchFamily="2" charset="-122"/>
                <a:cs typeface="Times New Roman" panose="02020603050405020304" pitchFamily="18" charset="0"/>
              </a:rPr>
              <a:t>To measure performance, we use three standard metrics for biometric systems: the False Acceptance Rate, which is the probability of an imposter being incorrectly accepted; the False Rejection Rate, the probability of a genuine user being incorrectly rejected; and the Equal Error Rate, where these two are equal."</a:t>
            </a:r>
            <a:endPar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a:p>
            <a:pPr algn="just"/>
            <a:r>
              <a:rPr lang="en-US" altLang="zh-CN" sz="1800" kern="100" dirty="0">
                <a:effectLst/>
                <a:latin typeface="Times New Roman" panose="02020603050405020304" pitchFamily="18" charset="0"/>
                <a:ea typeface="DengXian" panose="02010600030101010101" pitchFamily="2" charset="-122"/>
                <a:cs typeface="Times New Roman" panose="02020603050405020304" pitchFamily="18" charset="0"/>
              </a:rPr>
              <a:t> </a:t>
            </a:r>
            <a:endPar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a:p>
            <a:pPr algn="just"/>
            <a:r>
              <a:rPr lang="en-US" altLang="zh-CN" sz="1800" kern="100" dirty="0">
                <a:effectLst/>
                <a:latin typeface="Times New Roman" panose="02020603050405020304" pitchFamily="18" charset="0"/>
                <a:ea typeface="DengXian" panose="02010600030101010101" pitchFamily="2" charset="-122"/>
                <a:cs typeface="Times New Roman" panose="02020603050405020304" pitchFamily="18" charset="0"/>
              </a:rPr>
              <a:t>And finally, we will be comparing our results against several key baselines, including both traditional and deep learning approaches."</a:t>
            </a:r>
            <a:endPar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DengXian" panose="02010600030101010101" pitchFamily="2" charset="-122"/>
              </a:rPr>
              <a:t>So, let's dive into the results.</a:t>
            </a:r>
            <a:r>
              <a:rPr lang="zh-CN" altLang="zh-CN" sz="2800" dirty="0">
                <a:effectLst/>
              </a:rPr>
              <a:t> </a:t>
            </a:r>
            <a:endParaRPr kumimoji="1" lang="zh-CN" altLang="en-US" dirty="0"/>
          </a:p>
        </p:txBody>
      </p:sp>
      <p:sp>
        <p:nvSpPr>
          <p:cNvPr id="4" name="灯片编号占位符 3"/>
          <p:cNvSpPr>
            <a:spLocks noGrp="1"/>
          </p:cNvSpPr>
          <p:nvPr>
            <p:ph type="sldNum" sz="quarter" idx="5"/>
          </p:nvPr>
        </p:nvSpPr>
        <p:spPr/>
        <p:txBody>
          <a:bodyPr/>
          <a:lstStyle/>
          <a:p>
            <a:fld id="{48E3B040-C2A0-6741-A21F-A1D27BF399ED}" type="slidenum">
              <a:rPr kumimoji="1" lang="zh-CN" altLang="en-US" smtClean="0"/>
              <a:t>25</a:t>
            </a:fld>
            <a:endParaRPr kumimoji="1" lang="zh-CN" altLang="en-US"/>
          </a:p>
        </p:txBody>
      </p:sp>
    </p:spTree>
    <p:extLst>
      <p:ext uri="{BB962C8B-B14F-4D97-AF65-F5344CB8AC3E}">
        <p14:creationId xmlns:p14="http://schemas.microsoft.com/office/powerpoint/2010/main" val="227137493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800" dirty="0">
                <a:effectLst/>
                <a:latin typeface="Times New Roman" panose="02020603050405020304" pitchFamily="18" charset="0"/>
                <a:ea typeface="DengXian" panose="02010600030101010101" pitchFamily="2" charset="-122"/>
              </a:rPr>
              <a:t>We first evaluate the overall performance of BaroAuth in the static scenario. During the experiment, we consider each participant as a valid user, and remaining participants as attackers. The experiment simulates the zero-knowledge attack where attackers expect their SPSs can fool the system. Overall, the average FAR and FRR over 12 participants are 1.57% and 1.31%, respectively.</a:t>
            </a:r>
            <a:r>
              <a:rPr lang="zh-CN" altLang="zh-CN" dirty="0">
                <a:effectLst/>
              </a:rPr>
              <a:t> </a:t>
            </a:r>
            <a:endParaRPr kumimoji="1" lang="zh-CN" altLang="en-US" dirty="0"/>
          </a:p>
        </p:txBody>
      </p:sp>
      <p:sp>
        <p:nvSpPr>
          <p:cNvPr id="4" name="灯片编号占位符 3"/>
          <p:cNvSpPr>
            <a:spLocks noGrp="1"/>
          </p:cNvSpPr>
          <p:nvPr>
            <p:ph type="sldNum" sz="quarter" idx="5"/>
          </p:nvPr>
        </p:nvSpPr>
        <p:spPr/>
        <p:txBody>
          <a:bodyPr/>
          <a:lstStyle/>
          <a:p>
            <a:fld id="{48E3B040-C2A0-6741-A21F-A1D27BF399ED}" type="slidenum">
              <a:rPr kumimoji="1" lang="zh-CN" altLang="en-US" smtClean="0"/>
              <a:t>26</a:t>
            </a:fld>
            <a:endParaRPr kumimoji="1" lang="zh-CN" altLang="en-US"/>
          </a:p>
        </p:txBody>
      </p:sp>
    </p:spTree>
    <p:extLst>
      <p:ext uri="{BB962C8B-B14F-4D97-AF65-F5344CB8AC3E}">
        <p14:creationId xmlns:p14="http://schemas.microsoft.com/office/powerpoint/2010/main" val="189978807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800" dirty="0">
                <a:effectLst/>
                <a:latin typeface="Times New Roman" panose="02020603050405020304" pitchFamily="18" charset="0"/>
                <a:ea typeface="DengXian" panose="02010600030101010101" pitchFamily="2" charset="-122"/>
              </a:rPr>
              <a:t>Compared to the four baseline methods, our BaroIDNet achieves lower FAR and FRR in both monaural and binaural channel, as shown in this table. In the monaural channel, BaroIDNet achieves a FAR of 4.05% and FRR of 3.25%, while in the binaural channel, these values drop to 1.57% and 1.31%, respectively. Notably, the significant performance improvement in the binaural channel is due to </a:t>
            </a:r>
            <a:r>
              <a:rPr lang="en-US" altLang="zh-CN" sz="1800" dirty="0" err="1">
                <a:effectLst/>
                <a:latin typeface="Times New Roman" panose="02020603050405020304" pitchFamily="18" charset="0"/>
                <a:ea typeface="DengXian" panose="02010600030101010101" pitchFamily="2" charset="-122"/>
              </a:rPr>
              <a:t>BaroIDNet’s</a:t>
            </a:r>
            <a:r>
              <a:rPr lang="en-US" altLang="zh-CN" sz="1800" dirty="0">
                <a:effectLst/>
                <a:latin typeface="Times New Roman" panose="02020603050405020304" pitchFamily="18" charset="0"/>
                <a:ea typeface="DengXian" panose="02010600030101010101" pitchFamily="2" charset="-122"/>
              </a:rPr>
              <a:t> ability to extract and fuse complementary features from left and right ear signals using convolution operations in both time and frequency domains.</a:t>
            </a:r>
            <a:r>
              <a:rPr lang="zh-CN" altLang="zh-CN" dirty="0">
                <a:effectLst/>
              </a:rPr>
              <a:t> </a:t>
            </a:r>
            <a:endParaRPr kumimoji="1" lang="zh-CN" altLang="en-US" dirty="0"/>
          </a:p>
        </p:txBody>
      </p:sp>
      <p:sp>
        <p:nvSpPr>
          <p:cNvPr id="4" name="灯片编号占位符 3"/>
          <p:cNvSpPr>
            <a:spLocks noGrp="1"/>
          </p:cNvSpPr>
          <p:nvPr>
            <p:ph type="sldNum" sz="quarter" idx="5"/>
          </p:nvPr>
        </p:nvSpPr>
        <p:spPr/>
        <p:txBody>
          <a:bodyPr/>
          <a:lstStyle/>
          <a:p>
            <a:fld id="{48E3B040-C2A0-6741-A21F-A1D27BF399ED}" type="slidenum">
              <a:rPr kumimoji="1" lang="zh-CN" altLang="en-US" smtClean="0"/>
              <a:t>27</a:t>
            </a:fld>
            <a:endParaRPr kumimoji="1" lang="zh-CN" altLang="en-US"/>
          </a:p>
        </p:txBody>
      </p:sp>
    </p:spTree>
    <p:extLst>
      <p:ext uri="{BB962C8B-B14F-4D97-AF65-F5344CB8AC3E}">
        <p14:creationId xmlns:p14="http://schemas.microsoft.com/office/powerpoint/2010/main" val="293967506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800" dirty="0">
                <a:effectLst/>
                <a:latin typeface="Times New Roman" panose="02020603050405020304" pitchFamily="18" charset="0"/>
                <a:ea typeface="DengXian" panose="02010600030101010101" pitchFamily="2" charset="-122"/>
              </a:rPr>
              <a:t>Next, we evaluated the system's robustness in mobile scenarios. As the graph clearly shows, without drift elimination, the error rates during activities like stair climbing are very high. However, with our EMD-based processing enabled, the performance is drastically improved. For instance, when climbing stairs, the error rate is reduced by over eleven percent. This confirms that our EMD-based approach is crucial for making BaroAuth a practical and reliable system in real-world mobile environments.</a:t>
            </a:r>
            <a:r>
              <a:rPr lang="zh-CN" altLang="zh-CN" dirty="0">
                <a:effectLst/>
              </a:rPr>
              <a:t> </a:t>
            </a:r>
            <a:endParaRPr kumimoji="1" lang="zh-CN" altLang="en-US" dirty="0"/>
          </a:p>
        </p:txBody>
      </p:sp>
      <p:sp>
        <p:nvSpPr>
          <p:cNvPr id="4" name="灯片编号占位符 3"/>
          <p:cNvSpPr>
            <a:spLocks noGrp="1"/>
          </p:cNvSpPr>
          <p:nvPr>
            <p:ph type="sldNum" sz="quarter" idx="5"/>
          </p:nvPr>
        </p:nvSpPr>
        <p:spPr/>
        <p:txBody>
          <a:bodyPr/>
          <a:lstStyle/>
          <a:p>
            <a:fld id="{48E3B040-C2A0-6741-A21F-A1D27BF399ED}" type="slidenum">
              <a:rPr kumimoji="1" lang="zh-CN" altLang="en-US" smtClean="0"/>
              <a:t>28</a:t>
            </a:fld>
            <a:endParaRPr kumimoji="1" lang="zh-CN" altLang="en-US"/>
          </a:p>
        </p:txBody>
      </p:sp>
    </p:spTree>
    <p:extLst>
      <p:ext uri="{BB962C8B-B14F-4D97-AF65-F5344CB8AC3E}">
        <p14:creationId xmlns:p14="http://schemas.microsoft.com/office/powerpoint/2010/main" val="156895886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a:r>
              <a:rPr lang="en-US" altLang="zh-CN" sz="1800" kern="100" dirty="0">
                <a:effectLst/>
                <a:latin typeface="Times New Roman" panose="02020603050405020304" pitchFamily="18" charset="0"/>
                <a:ea typeface="DengXian" panose="02010600030101010101" pitchFamily="2" charset="-122"/>
                <a:cs typeface="Times New Roman" panose="02020603050405020304" pitchFamily="18" charset="0"/>
              </a:rPr>
              <a:t>We also analyzed the impact of speaking style. </a:t>
            </a:r>
            <a:endPar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a:p>
            <a:pPr algn="just"/>
            <a:r>
              <a:rPr lang="en-US" altLang="zh-CN" sz="1800" kern="100" dirty="0">
                <a:effectLst/>
                <a:latin typeface="Times New Roman" panose="02020603050405020304" pitchFamily="18" charset="0"/>
                <a:ea typeface="DengXian" panose="02010600030101010101" pitchFamily="2" charset="-122"/>
                <a:cs typeface="Times New Roman" panose="02020603050405020304" pitchFamily="18" charset="0"/>
              </a:rPr>
              <a:t>On the left, you can see that without our rhythm-based data augmentation, the system is brittle, with error rates spiking for fast or slow speech. With augmentation, however, the performance becomes stable and robust across all speeds.</a:t>
            </a:r>
            <a:endPar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DengXian" panose="02010600030101010101" pitchFamily="2" charset="-122"/>
              </a:rPr>
              <a:t>On the right, we see a clear trend: longer commands boost security. As the command length increases, the error rates for both false accepts and false rejects drop significantly, providing an easy way to tune the system for higher-security applications.</a:t>
            </a:r>
            <a:r>
              <a:rPr lang="zh-CN" altLang="zh-CN" dirty="0">
                <a:effectLst/>
              </a:rPr>
              <a:t> </a:t>
            </a:r>
            <a:endParaRPr kumimoji="1" lang="zh-CN" altLang="en-US" dirty="0"/>
          </a:p>
        </p:txBody>
      </p:sp>
      <p:sp>
        <p:nvSpPr>
          <p:cNvPr id="4" name="灯片编号占位符 3"/>
          <p:cNvSpPr>
            <a:spLocks noGrp="1"/>
          </p:cNvSpPr>
          <p:nvPr>
            <p:ph type="sldNum" sz="quarter" idx="5"/>
          </p:nvPr>
        </p:nvSpPr>
        <p:spPr/>
        <p:txBody>
          <a:bodyPr/>
          <a:lstStyle/>
          <a:p>
            <a:fld id="{48E3B040-C2A0-6741-A21F-A1D27BF399ED}" type="slidenum">
              <a:rPr kumimoji="1" lang="zh-CN" altLang="en-US" smtClean="0"/>
              <a:t>29</a:t>
            </a:fld>
            <a:endParaRPr kumimoji="1" lang="zh-CN" altLang="en-US"/>
          </a:p>
        </p:txBody>
      </p:sp>
    </p:spTree>
    <p:extLst>
      <p:ext uri="{BB962C8B-B14F-4D97-AF65-F5344CB8AC3E}">
        <p14:creationId xmlns:p14="http://schemas.microsoft.com/office/powerpoint/2010/main" val="332029279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a:r>
              <a:rPr lang="en-US" altLang="zh-CN" sz="1800" kern="100" dirty="0">
                <a:effectLst/>
                <a:latin typeface="Times New Roman" panose="02020603050405020304" pitchFamily="18" charset="0"/>
                <a:ea typeface="DengXian" panose="02010600030101010101" pitchFamily="2" charset="-122"/>
                <a:cs typeface="Times New Roman" panose="02020603050405020304" pitchFamily="18" charset="0"/>
              </a:rPr>
              <a:t>Of course, a key measure of any authentication system is its resistance to attacks.</a:t>
            </a:r>
            <a:endPar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a:p>
            <a:pPr algn="just"/>
            <a:r>
              <a:rPr lang="en-US" altLang="zh-CN" sz="1800" kern="100" dirty="0">
                <a:effectLst/>
                <a:latin typeface="Times New Roman" panose="02020603050405020304" pitchFamily="18" charset="0"/>
                <a:ea typeface="DengXian" panose="02010600030101010101" pitchFamily="2" charset="-122"/>
                <a:cs typeface="Times New Roman" panose="02020603050405020304" pitchFamily="18" charset="0"/>
              </a:rPr>
              <a:t>On the left, we tested a Zero-Knowledge Attack, where an attacker mimics the passphrase. The results are excellent—the FAR increases by less than one percent, showing that voice alone is not enough to fool the system.</a:t>
            </a:r>
            <a:endPar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DengXian" panose="02010600030101010101" pitchFamily="2" charset="-122"/>
              </a:rPr>
              <a:t>On the right, we evaluated a tougher Knowledge-based Attack, where the attacker studies how the victim speaks. Even in this more sophisticated scenario, BaroAuth remains secure, especially with longer passphrases.</a:t>
            </a:r>
            <a:r>
              <a:rPr lang="zh-CN" altLang="zh-CN" dirty="0">
                <a:effectLst/>
              </a:rPr>
              <a:t> </a:t>
            </a:r>
            <a:endParaRPr kumimoji="1" lang="zh-CN" altLang="en-US" dirty="0"/>
          </a:p>
        </p:txBody>
      </p:sp>
      <p:sp>
        <p:nvSpPr>
          <p:cNvPr id="4" name="灯片编号占位符 3"/>
          <p:cNvSpPr>
            <a:spLocks noGrp="1"/>
          </p:cNvSpPr>
          <p:nvPr>
            <p:ph type="sldNum" sz="quarter" idx="5"/>
          </p:nvPr>
        </p:nvSpPr>
        <p:spPr/>
        <p:txBody>
          <a:bodyPr/>
          <a:lstStyle/>
          <a:p>
            <a:fld id="{48E3B040-C2A0-6741-A21F-A1D27BF399ED}" type="slidenum">
              <a:rPr kumimoji="1" lang="zh-CN" altLang="en-US" smtClean="0"/>
              <a:t>30</a:t>
            </a:fld>
            <a:endParaRPr kumimoji="1" lang="zh-CN" altLang="en-US"/>
          </a:p>
        </p:txBody>
      </p:sp>
    </p:spTree>
    <p:extLst>
      <p:ext uri="{BB962C8B-B14F-4D97-AF65-F5344CB8AC3E}">
        <p14:creationId xmlns:p14="http://schemas.microsoft.com/office/powerpoint/2010/main" val="303529907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a:r>
              <a:rPr lang="en-US" altLang="zh-CN" sz="1800" kern="100" dirty="0">
                <a:effectLst/>
                <a:latin typeface="Times New Roman" panose="02020603050405020304" pitchFamily="18" charset="0"/>
                <a:ea typeface="DengXian" panose="02010600030101010101" pitchFamily="2" charset="-122"/>
                <a:cs typeface="Times New Roman" panose="02020603050405020304" pitchFamily="18" charset="0"/>
              </a:rPr>
              <a:t>To better understand what drives this performance, we conducted an ablation study.</a:t>
            </a:r>
            <a:endPar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a:p>
            <a:pPr algn="just"/>
            <a:r>
              <a:rPr lang="en-US" altLang="zh-CN" sz="1800" kern="100" dirty="0">
                <a:effectLst/>
                <a:latin typeface="Times New Roman" panose="02020603050405020304" pitchFamily="18" charset="0"/>
                <a:ea typeface="DengXian" panose="02010600030101010101" pitchFamily="2" charset="-122"/>
                <a:cs typeface="Times New Roman" panose="02020603050405020304" pitchFamily="18" charset="0"/>
              </a:rPr>
              <a:t>The results on the left show that performance scales predictably with data size. Even with just 20% of the data, the system achieves a respectable EER, which improves steadily as more data becomes available.</a:t>
            </a:r>
            <a:endPar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DengXian" panose="02010600030101010101" pitchFamily="2" charset="-122"/>
              </a:rPr>
              <a:t>On the right, we analyzed the impact of sampling rate. We found that we can reduce the sampling rate all the way down to 17 Hertz while keeping error rates below three percent. This is a critical finding, as it proves that BaroAuth is extremely efficient and perfectly suited for low-power, resource-constrained devices.</a:t>
            </a:r>
            <a:r>
              <a:rPr lang="zh-CN" altLang="zh-CN" dirty="0">
                <a:effectLst/>
              </a:rPr>
              <a:t> </a:t>
            </a:r>
            <a:endParaRPr kumimoji="1" lang="zh-CN" altLang="en-US" dirty="0"/>
          </a:p>
        </p:txBody>
      </p:sp>
      <p:sp>
        <p:nvSpPr>
          <p:cNvPr id="4" name="灯片编号占位符 3"/>
          <p:cNvSpPr>
            <a:spLocks noGrp="1"/>
          </p:cNvSpPr>
          <p:nvPr>
            <p:ph type="sldNum" sz="quarter" idx="5"/>
          </p:nvPr>
        </p:nvSpPr>
        <p:spPr/>
        <p:txBody>
          <a:bodyPr/>
          <a:lstStyle/>
          <a:p>
            <a:fld id="{48E3B040-C2A0-6741-A21F-A1D27BF399ED}" type="slidenum">
              <a:rPr kumimoji="1" lang="zh-CN" altLang="en-US" smtClean="0"/>
              <a:t>31</a:t>
            </a:fld>
            <a:endParaRPr kumimoji="1" lang="zh-CN" altLang="en-US"/>
          </a:p>
        </p:txBody>
      </p:sp>
    </p:spTree>
    <p:extLst>
      <p:ext uri="{BB962C8B-B14F-4D97-AF65-F5344CB8AC3E}">
        <p14:creationId xmlns:p14="http://schemas.microsoft.com/office/powerpoint/2010/main" val="283980082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a:r>
              <a:rPr lang="en-US" altLang="zh-CN" sz="1800" kern="100" dirty="0">
                <a:effectLst/>
                <a:latin typeface="Times New Roman" panose="02020603050405020304" pitchFamily="18" charset="0"/>
                <a:ea typeface="DengXian" panose="02010600030101010101" pitchFamily="2" charset="-122"/>
                <a:cs typeface="Times New Roman" panose="02020603050405020304" pitchFamily="18" charset="0"/>
              </a:rPr>
              <a:t>Finally, we evaluated the computational overhead on a wide range of real-world devices.</a:t>
            </a:r>
            <a:endPar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a:p>
            <a:pPr algn="just"/>
            <a:r>
              <a:rPr lang="en-US" altLang="zh-CN" sz="1800" kern="100" dirty="0">
                <a:effectLst/>
                <a:latin typeface="Times New Roman" panose="02020603050405020304" pitchFamily="18" charset="0"/>
                <a:ea typeface="DengXian" panose="02010600030101010101" pitchFamily="2" charset="-122"/>
                <a:cs typeface="Times New Roman" panose="02020603050405020304" pitchFamily="18" charset="0"/>
              </a:rPr>
              <a:t>As the summary table shows, the total authentication latency is well within a practical range, typically between 200 and 400 milliseconds.</a:t>
            </a:r>
            <a:endPar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DengXian" panose="02010600030101010101" pitchFamily="2" charset="-122"/>
              </a:rPr>
              <a:t>Our key finding here is that the primary bottleneck is not computation, but data transmission. The actual on-device processing on modern phones is incredibly fast—often less than 50 milliseconds.</a:t>
            </a:r>
            <a:r>
              <a:rPr lang="zh-CN" altLang="zh-CN" dirty="0">
                <a:effectLst/>
              </a:rPr>
              <a:t> </a:t>
            </a:r>
            <a:endParaRPr kumimoji="1" lang="zh-CN" altLang="en-US" dirty="0"/>
          </a:p>
        </p:txBody>
      </p:sp>
      <p:sp>
        <p:nvSpPr>
          <p:cNvPr id="4" name="灯片编号占位符 3"/>
          <p:cNvSpPr>
            <a:spLocks noGrp="1"/>
          </p:cNvSpPr>
          <p:nvPr>
            <p:ph type="sldNum" sz="quarter" idx="5"/>
          </p:nvPr>
        </p:nvSpPr>
        <p:spPr/>
        <p:txBody>
          <a:bodyPr/>
          <a:lstStyle/>
          <a:p>
            <a:fld id="{48E3B040-C2A0-6741-A21F-A1D27BF399ED}" type="slidenum">
              <a:rPr kumimoji="1" lang="zh-CN" altLang="en-US" smtClean="0"/>
              <a:t>32</a:t>
            </a:fld>
            <a:endParaRPr kumimoji="1" lang="zh-CN" altLang="en-US"/>
          </a:p>
        </p:txBody>
      </p:sp>
    </p:spTree>
    <p:extLst>
      <p:ext uri="{BB962C8B-B14F-4D97-AF65-F5344CB8AC3E}">
        <p14:creationId xmlns:p14="http://schemas.microsoft.com/office/powerpoint/2010/main" val="276494453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kern="100" dirty="0">
                <a:effectLst/>
                <a:latin typeface="Times New Roman" panose="02020603050405020304" pitchFamily="18" charset="0"/>
                <a:ea typeface="DengXian" panose="02010600030101010101" pitchFamily="2" charset="-122"/>
                <a:cs typeface="Times New Roman" panose="02020603050405020304" pitchFamily="18" charset="0"/>
              </a:rPr>
              <a:t>So, generally...</a:t>
            </a:r>
            <a:endPar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p:txBody>
      </p:sp>
      <p:sp>
        <p:nvSpPr>
          <p:cNvPr id="4" name="灯片编号占位符 3"/>
          <p:cNvSpPr>
            <a:spLocks noGrp="1"/>
          </p:cNvSpPr>
          <p:nvPr>
            <p:ph type="sldNum" sz="quarter" idx="5"/>
          </p:nvPr>
        </p:nvSpPr>
        <p:spPr/>
        <p:txBody>
          <a:bodyPr/>
          <a:lstStyle/>
          <a:p>
            <a:fld id="{48E3B040-C2A0-6741-A21F-A1D27BF399ED}" type="slidenum">
              <a:rPr kumimoji="1" lang="zh-CN" altLang="en-US" smtClean="0"/>
              <a:t>33</a:t>
            </a:fld>
            <a:endParaRPr kumimoji="1" lang="zh-CN" altLang="en-US"/>
          </a:p>
        </p:txBody>
      </p:sp>
    </p:spTree>
    <p:extLst>
      <p:ext uri="{BB962C8B-B14F-4D97-AF65-F5344CB8AC3E}">
        <p14:creationId xmlns:p14="http://schemas.microsoft.com/office/powerpoint/2010/main" val="317521157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800" dirty="0">
                <a:effectLst/>
                <a:latin typeface="Times New Roman" panose="02020603050405020304" pitchFamily="18" charset="0"/>
                <a:ea typeface="DengXian" panose="02010600030101010101" pitchFamily="2" charset="-122"/>
              </a:rPr>
              <a:t>We propose BaroAuth, a novel biometric authentication system that utilizes SPSs captured by MEMS barometers in earbuds to extract dynamic and static physiological features, enabling efficient, robust, and accurate user authentication. By leveraging unique in-ear pressure signals, BaroAuth adapts to diverse mobile scenarios, with stands environmental noise, and resists both zero-knowledge and knowledge-based attacks. Extensive experiments demonstrate its effectiveness and </a:t>
            </a:r>
            <a:r>
              <a:rPr lang="en-US" altLang="zh-CN" sz="1800">
                <a:effectLst/>
                <a:latin typeface="Times New Roman" panose="02020603050405020304" pitchFamily="18" charset="0"/>
                <a:ea typeface="DengXian" panose="02010600030101010101" pitchFamily="2" charset="-122"/>
              </a:rPr>
              <a:t>robustness.</a:t>
            </a:r>
            <a:endParaRPr kumimoji="1" lang="zh-CN" altLang="en-US" dirty="0"/>
          </a:p>
        </p:txBody>
      </p:sp>
      <p:sp>
        <p:nvSpPr>
          <p:cNvPr id="4" name="灯片编号占位符 3"/>
          <p:cNvSpPr>
            <a:spLocks noGrp="1"/>
          </p:cNvSpPr>
          <p:nvPr>
            <p:ph type="sldNum" sz="quarter" idx="5"/>
          </p:nvPr>
        </p:nvSpPr>
        <p:spPr/>
        <p:txBody>
          <a:bodyPr/>
          <a:lstStyle/>
          <a:p>
            <a:fld id="{48E3B040-C2A0-6741-A21F-A1D27BF399ED}" type="slidenum">
              <a:rPr kumimoji="1" lang="zh-CN" altLang="en-US" smtClean="0"/>
              <a:t>34</a:t>
            </a:fld>
            <a:endParaRPr kumimoji="1" lang="zh-CN" altLang="en-US"/>
          </a:p>
        </p:txBody>
      </p:sp>
    </p:spTree>
    <p:extLst>
      <p:ext uri="{BB962C8B-B14F-4D97-AF65-F5344CB8AC3E}">
        <p14:creationId xmlns:p14="http://schemas.microsoft.com/office/powerpoint/2010/main" val="42402868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8DAD5CC2-B0A0-524A-96CD-CD75E7405F63}" type="datetimeFigureOut">
              <a:rPr kumimoji="1" lang="zh-CN" altLang="en-US" smtClean="0"/>
              <a:t>2025/7/22</a:t>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F4C96F2A-F2F2-8E44-84CC-C2BC8BFEE689}" type="slidenum">
              <a:rPr kumimoji="1" lang="zh-CN" altLang="en-US" smtClean="0"/>
              <a:t>‹#›</a:t>
            </a:fld>
            <a:endParaRPr kumimoji="1" lang="zh-CN" altLang="en-US"/>
          </a:p>
        </p:txBody>
      </p:sp>
    </p:spTree>
    <p:extLst>
      <p:ext uri="{BB962C8B-B14F-4D97-AF65-F5344CB8AC3E}">
        <p14:creationId xmlns:p14="http://schemas.microsoft.com/office/powerpoint/2010/main" val="5012586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8DAD5CC2-B0A0-524A-96CD-CD75E7405F63}" type="datetimeFigureOut">
              <a:rPr kumimoji="1" lang="zh-CN" altLang="en-US" smtClean="0"/>
              <a:t>2025/7/22</a:t>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F4C96F2A-F2F2-8E44-84CC-C2BC8BFEE689}" type="slidenum">
              <a:rPr kumimoji="1" lang="zh-CN" altLang="en-US" smtClean="0"/>
              <a:t>‹#›</a:t>
            </a:fld>
            <a:endParaRPr kumimoji="1" lang="zh-CN" altLang="en-US"/>
          </a:p>
        </p:txBody>
      </p:sp>
    </p:spTree>
    <p:extLst>
      <p:ext uri="{BB962C8B-B14F-4D97-AF65-F5344CB8AC3E}">
        <p14:creationId xmlns:p14="http://schemas.microsoft.com/office/powerpoint/2010/main" val="25161183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8DAD5CC2-B0A0-524A-96CD-CD75E7405F63}" type="datetimeFigureOut">
              <a:rPr kumimoji="1" lang="zh-CN" altLang="en-US" smtClean="0"/>
              <a:t>2025/7/22</a:t>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F4C96F2A-F2F2-8E44-84CC-C2BC8BFEE689}" type="slidenum">
              <a:rPr kumimoji="1" lang="zh-CN" altLang="en-US" smtClean="0"/>
              <a:t>‹#›</a:t>
            </a:fld>
            <a:endParaRPr kumimoji="1" lang="zh-CN" altLang="en-US"/>
          </a:p>
        </p:txBody>
      </p:sp>
    </p:spTree>
    <p:extLst>
      <p:ext uri="{BB962C8B-B14F-4D97-AF65-F5344CB8AC3E}">
        <p14:creationId xmlns:p14="http://schemas.microsoft.com/office/powerpoint/2010/main" val="13186727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fld id="{8DAD5CC2-B0A0-524A-96CD-CD75E7405F63}" type="datetimeFigureOut">
              <a:rPr kumimoji="1" lang="zh-CN" altLang="en-US" smtClean="0"/>
              <a:t>2025/7/22</a:t>
            </a:fld>
            <a:endParaRPr kumimoji="1" lang="zh-CN" altLang="en-US"/>
          </a:p>
        </p:txBody>
      </p:sp>
      <p:sp>
        <p:nvSpPr>
          <p:cNvPr id="6" name="Footer Placeholder 5"/>
          <p:cNvSpPr>
            <a:spLocks noGrp="1"/>
          </p:cNvSpPr>
          <p:nvPr>
            <p:ph type="ftr" sz="quarter" idx="11"/>
          </p:nvPr>
        </p:nvSpPr>
        <p:spPr/>
        <p:txBody>
          <a:bodyPr/>
          <a:lstStyle/>
          <a:p>
            <a:endParaRPr kumimoji="1" lang="zh-CN" altLang="en-US"/>
          </a:p>
        </p:txBody>
      </p:sp>
      <p:sp>
        <p:nvSpPr>
          <p:cNvPr id="7" name="Slide Number Placeholder 6"/>
          <p:cNvSpPr>
            <a:spLocks noGrp="1"/>
          </p:cNvSpPr>
          <p:nvPr>
            <p:ph type="sldNum" sz="quarter" idx="12"/>
          </p:nvPr>
        </p:nvSpPr>
        <p:spPr/>
        <p:txBody>
          <a:bodyPr/>
          <a:lstStyle/>
          <a:p>
            <a:fld id="{F4C96F2A-F2F2-8E44-84CC-C2BC8BFEE689}" type="slidenum">
              <a:rPr kumimoji="1" lang="zh-CN" altLang="en-US" smtClean="0"/>
              <a:t>‹#›</a:t>
            </a:fld>
            <a:endParaRPr kumimoji="1" lang="zh-CN" altLang="en-US"/>
          </a:p>
        </p:txBody>
      </p:sp>
    </p:spTree>
    <p:extLst>
      <p:ext uri="{BB962C8B-B14F-4D97-AF65-F5344CB8AC3E}">
        <p14:creationId xmlns:p14="http://schemas.microsoft.com/office/powerpoint/2010/main" val="14066290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629842" y="2505075"/>
            <a:ext cx="3868340"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4629150" y="2505075"/>
            <a:ext cx="3887391"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8DAD5CC2-B0A0-524A-96CD-CD75E7405F63}" type="datetimeFigureOut">
              <a:rPr kumimoji="1" lang="zh-CN" altLang="en-US" smtClean="0"/>
              <a:t>2025/7/22</a:t>
            </a:fld>
            <a:endParaRPr kumimoji="1" lang="zh-CN" altLang="en-US"/>
          </a:p>
        </p:txBody>
      </p:sp>
      <p:sp>
        <p:nvSpPr>
          <p:cNvPr id="8" name="Footer Placeholder 7"/>
          <p:cNvSpPr>
            <a:spLocks noGrp="1"/>
          </p:cNvSpPr>
          <p:nvPr>
            <p:ph type="ftr" sz="quarter" idx="11"/>
          </p:nvPr>
        </p:nvSpPr>
        <p:spPr/>
        <p:txBody>
          <a:bodyPr/>
          <a:lstStyle/>
          <a:p>
            <a:endParaRPr kumimoji="1" lang="zh-CN" altLang="en-US"/>
          </a:p>
        </p:txBody>
      </p:sp>
      <p:sp>
        <p:nvSpPr>
          <p:cNvPr id="9" name="Slide Number Placeholder 8"/>
          <p:cNvSpPr>
            <a:spLocks noGrp="1"/>
          </p:cNvSpPr>
          <p:nvPr>
            <p:ph type="sldNum" sz="quarter" idx="12"/>
          </p:nvPr>
        </p:nvSpPr>
        <p:spPr/>
        <p:txBody>
          <a:bodyPr/>
          <a:lstStyle/>
          <a:p>
            <a:fld id="{F4C96F2A-F2F2-8E44-84CC-C2BC8BFEE689}" type="slidenum">
              <a:rPr kumimoji="1" lang="zh-CN" altLang="en-US" smtClean="0"/>
              <a:t>‹#›</a:t>
            </a:fld>
            <a:endParaRPr kumimoji="1" lang="zh-CN" altLang="en-US"/>
          </a:p>
        </p:txBody>
      </p:sp>
    </p:spTree>
    <p:extLst>
      <p:ext uri="{BB962C8B-B14F-4D97-AF65-F5344CB8AC3E}">
        <p14:creationId xmlns:p14="http://schemas.microsoft.com/office/powerpoint/2010/main" val="31327323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8DAD5CC2-B0A0-524A-96CD-CD75E7405F63}" type="datetimeFigureOut">
              <a:rPr kumimoji="1" lang="zh-CN" altLang="en-US" smtClean="0"/>
              <a:t>2025/7/22</a:t>
            </a:fld>
            <a:endParaRPr kumimoji="1" lang="zh-CN" altLang="en-US"/>
          </a:p>
        </p:txBody>
      </p:sp>
      <p:sp>
        <p:nvSpPr>
          <p:cNvPr id="4" name="Footer Placeholder 3"/>
          <p:cNvSpPr>
            <a:spLocks noGrp="1"/>
          </p:cNvSpPr>
          <p:nvPr>
            <p:ph type="ftr" sz="quarter" idx="11"/>
          </p:nvPr>
        </p:nvSpPr>
        <p:spPr/>
        <p:txBody>
          <a:bodyPr/>
          <a:lstStyle/>
          <a:p>
            <a:endParaRPr kumimoji="1" lang="zh-CN" altLang="en-US"/>
          </a:p>
        </p:txBody>
      </p:sp>
      <p:sp>
        <p:nvSpPr>
          <p:cNvPr id="5" name="Slide Number Placeholder 4"/>
          <p:cNvSpPr>
            <a:spLocks noGrp="1"/>
          </p:cNvSpPr>
          <p:nvPr>
            <p:ph type="sldNum" sz="quarter" idx="12"/>
          </p:nvPr>
        </p:nvSpPr>
        <p:spPr/>
        <p:txBody>
          <a:bodyPr/>
          <a:lstStyle/>
          <a:p>
            <a:fld id="{F4C96F2A-F2F2-8E44-84CC-C2BC8BFEE689}" type="slidenum">
              <a:rPr kumimoji="1" lang="zh-CN" altLang="en-US" smtClean="0"/>
              <a:t>‹#›</a:t>
            </a:fld>
            <a:endParaRPr kumimoji="1" lang="zh-CN" altLang="en-US"/>
          </a:p>
        </p:txBody>
      </p:sp>
    </p:spTree>
    <p:extLst>
      <p:ext uri="{BB962C8B-B14F-4D97-AF65-F5344CB8AC3E}">
        <p14:creationId xmlns:p14="http://schemas.microsoft.com/office/powerpoint/2010/main" val="29084119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DAD5CC2-B0A0-524A-96CD-CD75E7405F63}" type="datetimeFigureOut">
              <a:rPr kumimoji="1" lang="zh-CN" altLang="en-US" smtClean="0"/>
              <a:t>2025/7/22</a:t>
            </a:fld>
            <a:endParaRPr kumimoji="1" lang="zh-CN" altLang="en-US"/>
          </a:p>
        </p:txBody>
      </p:sp>
      <p:sp>
        <p:nvSpPr>
          <p:cNvPr id="3" name="Footer Placeholder 2"/>
          <p:cNvSpPr>
            <a:spLocks noGrp="1"/>
          </p:cNvSpPr>
          <p:nvPr>
            <p:ph type="ftr" sz="quarter" idx="11"/>
          </p:nvPr>
        </p:nvSpPr>
        <p:spPr/>
        <p:txBody>
          <a:bodyPr/>
          <a:lstStyle/>
          <a:p>
            <a:endParaRPr kumimoji="1" lang="zh-CN" altLang="en-US"/>
          </a:p>
        </p:txBody>
      </p:sp>
      <p:sp>
        <p:nvSpPr>
          <p:cNvPr id="4" name="Slide Number Placeholder 3"/>
          <p:cNvSpPr>
            <a:spLocks noGrp="1"/>
          </p:cNvSpPr>
          <p:nvPr>
            <p:ph type="sldNum" sz="quarter" idx="12"/>
          </p:nvPr>
        </p:nvSpPr>
        <p:spPr/>
        <p:txBody>
          <a:bodyPr/>
          <a:lstStyle/>
          <a:p>
            <a:fld id="{F4C96F2A-F2F2-8E44-84CC-C2BC8BFEE689}" type="slidenum">
              <a:rPr kumimoji="1" lang="zh-CN" altLang="en-US" smtClean="0"/>
              <a:t>‹#›</a:t>
            </a:fld>
            <a:endParaRPr kumimoji="1" lang="zh-CN" altLang="en-US"/>
          </a:p>
        </p:txBody>
      </p:sp>
    </p:spTree>
    <p:extLst>
      <p:ext uri="{BB962C8B-B14F-4D97-AF65-F5344CB8AC3E}">
        <p14:creationId xmlns:p14="http://schemas.microsoft.com/office/powerpoint/2010/main" val="12852695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8DAD5CC2-B0A0-524A-96CD-CD75E7405F63}" type="datetimeFigureOut">
              <a:rPr kumimoji="1" lang="zh-CN" altLang="en-US" smtClean="0"/>
              <a:t>2025/7/22</a:t>
            </a:fld>
            <a:endParaRPr kumimoji="1" lang="zh-CN" altLang="en-US"/>
          </a:p>
        </p:txBody>
      </p:sp>
      <p:sp>
        <p:nvSpPr>
          <p:cNvPr id="6" name="Footer Placeholder 5"/>
          <p:cNvSpPr>
            <a:spLocks noGrp="1"/>
          </p:cNvSpPr>
          <p:nvPr>
            <p:ph type="ftr" sz="quarter" idx="11"/>
          </p:nvPr>
        </p:nvSpPr>
        <p:spPr/>
        <p:txBody>
          <a:bodyPr/>
          <a:lstStyle/>
          <a:p>
            <a:endParaRPr kumimoji="1" lang="zh-CN" altLang="en-US"/>
          </a:p>
        </p:txBody>
      </p:sp>
      <p:sp>
        <p:nvSpPr>
          <p:cNvPr id="7" name="Slide Number Placeholder 6"/>
          <p:cNvSpPr>
            <a:spLocks noGrp="1"/>
          </p:cNvSpPr>
          <p:nvPr>
            <p:ph type="sldNum" sz="quarter" idx="12"/>
          </p:nvPr>
        </p:nvSpPr>
        <p:spPr/>
        <p:txBody>
          <a:bodyPr/>
          <a:lstStyle/>
          <a:p>
            <a:fld id="{F4C96F2A-F2F2-8E44-84CC-C2BC8BFEE689}" type="slidenum">
              <a:rPr kumimoji="1" lang="zh-CN" altLang="en-US" smtClean="0"/>
              <a:t>‹#›</a:t>
            </a:fld>
            <a:endParaRPr kumimoji="1" lang="zh-CN" altLang="en-US"/>
          </a:p>
        </p:txBody>
      </p:sp>
    </p:spTree>
    <p:extLst>
      <p:ext uri="{BB962C8B-B14F-4D97-AF65-F5344CB8AC3E}">
        <p14:creationId xmlns:p14="http://schemas.microsoft.com/office/powerpoint/2010/main" val="26172124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8DAD5CC2-B0A0-524A-96CD-CD75E7405F63}" type="datetimeFigureOut">
              <a:rPr kumimoji="1" lang="zh-CN" altLang="en-US" smtClean="0"/>
              <a:t>2025/7/22</a:t>
            </a:fld>
            <a:endParaRPr kumimoji="1" lang="zh-CN" altLang="en-US"/>
          </a:p>
        </p:txBody>
      </p:sp>
      <p:sp>
        <p:nvSpPr>
          <p:cNvPr id="6" name="Footer Placeholder 5"/>
          <p:cNvSpPr>
            <a:spLocks noGrp="1"/>
          </p:cNvSpPr>
          <p:nvPr>
            <p:ph type="ftr" sz="quarter" idx="11"/>
          </p:nvPr>
        </p:nvSpPr>
        <p:spPr/>
        <p:txBody>
          <a:bodyPr/>
          <a:lstStyle/>
          <a:p>
            <a:endParaRPr kumimoji="1" lang="zh-CN" altLang="en-US"/>
          </a:p>
        </p:txBody>
      </p:sp>
      <p:sp>
        <p:nvSpPr>
          <p:cNvPr id="7" name="Slide Number Placeholder 6"/>
          <p:cNvSpPr>
            <a:spLocks noGrp="1"/>
          </p:cNvSpPr>
          <p:nvPr>
            <p:ph type="sldNum" sz="quarter" idx="12"/>
          </p:nvPr>
        </p:nvSpPr>
        <p:spPr/>
        <p:txBody>
          <a:bodyPr/>
          <a:lstStyle/>
          <a:p>
            <a:fld id="{F4C96F2A-F2F2-8E44-84CC-C2BC8BFEE689}" type="slidenum">
              <a:rPr kumimoji="1" lang="zh-CN" altLang="en-US" smtClean="0"/>
              <a:t>‹#›</a:t>
            </a:fld>
            <a:endParaRPr kumimoji="1" lang="zh-CN" altLang="en-US"/>
          </a:p>
        </p:txBody>
      </p:sp>
    </p:spTree>
    <p:extLst>
      <p:ext uri="{BB962C8B-B14F-4D97-AF65-F5344CB8AC3E}">
        <p14:creationId xmlns:p14="http://schemas.microsoft.com/office/powerpoint/2010/main" val="16456072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8DAD5CC2-B0A0-524A-96CD-CD75E7405F63}" type="datetimeFigureOut">
              <a:rPr kumimoji="1" lang="zh-CN" altLang="en-US" smtClean="0"/>
              <a:t>2025/7/22</a:t>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F4C96F2A-F2F2-8E44-84CC-C2BC8BFEE689}" type="slidenum">
              <a:rPr kumimoji="1" lang="zh-CN" altLang="en-US" smtClean="0"/>
              <a:t>‹#›</a:t>
            </a:fld>
            <a:endParaRPr kumimoji="1" lang="zh-CN" altLang="en-US"/>
          </a:p>
        </p:txBody>
      </p:sp>
    </p:spTree>
    <p:extLst>
      <p:ext uri="{BB962C8B-B14F-4D97-AF65-F5344CB8AC3E}">
        <p14:creationId xmlns:p14="http://schemas.microsoft.com/office/powerpoint/2010/main" val="26335533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8DAD5CC2-B0A0-524A-96CD-CD75E7405F63}" type="datetimeFigureOut">
              <a:rPr kumimoji="1" lang="zh-CN" altLang="en-US" smtClean="0"/>
              <a:t>2025/7/22</a:t>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F4C96F2A-F2F2-8E44-84CC-C2BC8BFEE689}" type="slidenum">
              <a:rPr kumimoji="1" lang="zh-CN" altLang="en-US" smtClean="0"/>
              <a:t>‹#›</a:t>
            </a:fld>
            <a:endParaRPr kumimoji="1" lang="zh-CN" altLang="en-US"/>
          </a:p>
        </p:txBody>
      </p:sp>
    </p:spTree>
    <p:extLst>
      <p:ext uri="{BB962C8B-B14F-4D97-AF65-F5344CB8AC3E}">
        <p14:creationId xmlns:p14="http://schemas.microsoft.com/office/powerpoint/2010/main" val="34396268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DAD5CC2-B0A0-524A-96CD-CD75E7405F63}" type="datetimeFigureOut">
              <a:rPr kumimoji="1" lang="zh-CN" altLang="en-US" smtClean="0"/>
              <a:t>2025/7/22</a:t>
            </a:fld>
            <a:endParaRPr kumimoji="1" lang="zh-CN"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CN"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4C96F2A-F2F2-8E44-84CC-C2BC8BFEE689}" type="slidenum">
              <a:rPr kumimoji="1" lang="zh-CN" altLang="en-US" smtClean="0"/>
              <a:t>‹#›</a:t>
            </a:fld>
            <a:endParaRPr kumimoji="1" lang="zh-CN" altLang="en-US"/>
          </a:p>
        </p:txBody>
      </p:sp>
    </p:spTree>
    <p:extLst>
      <p:ext uri="{BB962C8B-B14F-4D97-AF65-F5344CB8AC3E}">
        <p14:creationId xmlns:p14="http://schemas.microsoft.com/office/powerpoint/2010/main" val="327789847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jp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image" Target="../media/image8.png"/><Relationship Id="rId7"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microsoft.com/office/2007/relationships/hdphoto" Target="../media/hdphoto1.wdp"/></Relationships>
</file>

<file path=ppt/slides/_rels/slide6.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image" Target="../media/image8.png"/><Relationship Id="rId7"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microsoft.com/office/2007/relationships/hdphoto" Target="../media/hdphoto3.wdp"/></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2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31.png"/><Relationship Id="rId4" Type="http://schemas.openxmlformats.org/officeDocument/2006/relationships/image" Target="../media/image30.png"/></Relationships>
</file>

<file path=ppt/slides/_rels/slide2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22.xml.rels><?xml version="1.0" encoding="UTF-8" standalone="yes"?>
<Relationships xmlns="http://schemas.openxmlformats.org/package/2006/relationships"><Relationship Id="rId3" Type="http://schemas.openxmlformats.org/officeDocument/2006/relationships/image" Target="../media/image34.png"/><Relationship Id="rId7" Type="http://schemas.openxmlformats.org/officeDocument/2006/relationships/image" Target="../media/image38.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2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43.emf"/><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44.png"/></Relationships>
</file>

<file path=ppt/slides/_rels/slide2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46.png"/></Relationships>
</file>

<file path=ppt/slides/_rels/slide30.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48.png"/></Relationships>
</file>

<file path=ppt/slides/_rels/slide31.xml.rels><?xml version="1.0" encoding="UTF-8" standalone="yes"?>
<Relationships xmlns="http://schemas.openxmlformats.org/package/2006/relationships"><Relationship Id="rId3" Type="http://schemas.openxmlformats.org/officeDocument/2006/relationships/image" Target="../media/image49.png"/><Relationship Id="rId7" Type="http://schemas.openxmlformats.org/officeDocument/2006/relationships/image" Target="../media/image53.png"/><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image" Target="../media/image52.png"/><Relationship Id="rId5" Type="http://schemas.openxmlformats.org/officeDocument/2006/relationships/image" Target="../media/image51.png"/><Relationship Id="rId4" Type="http://schemas.openxmlformats.org/officeDocument/2006/relationships/image" Target="../media/image50.png"/></Relationships>
</file>

<file path=ppt/slides/_rels/slide32.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55.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512C7791-7093-9C4C-8AE6-C295190F2282}"/>
              </a:ext>
            </a:extLst>
          </p:cNvPr>
          <p:cNvSpPr txBox="1"/>
          <p:nvPr/>
        </p:nvSpPr>
        <p:spPr>
          <a:xfrm>
            <a:off x="1592786" y="2611997"/>
            <a:ext cx="6215611" cy="954107"/>
          </a:xfrm>
          <a:prstGeom prst="rect">
            <a:avLst/>
          </a:prstGeom>
          <a:noFill/>
        </p:spPr>
        <p:txBody>
          <a:bodyPr wrap="none" rtlCol="0">
            <a:spAutoFit/>
          </a:bodyPr>
          <a:lstStyle/>
          <a:p>
            <a:pPr algn="ctr"/>
            <a:r>
              <a:rPr kumimoji="1" lang="en-US" altLang="zh-CN" sz="2800" dirty="0"/>
              <a:t>Harnessing </a:t>
            </a:r>
            <a:r>
              <a:rPr kumimoji="1" lang="en-US" altLang="zh-CN" sz="2800" dirty="0">
                <a:solidFill>
                  <a:schemeClr val="accent2">
                    <a:lumMod val="75000"/>
                  </a:schemeClr>
                </a:solidFill>
              </a:rPr>
              <a:t>Ear Canal Deformation </a:t>
            </a:r>
            <a:r>
              <a:rPr kumimoji="1" lang="en-US" altLang="zh-CN" sz="2800" dirty="0"/>
              <a:t>for </a:t>
            </a:r>
          </a:p>
          <a:p>
            <a:pPr algn="ctr"/>
            <a:r>
              <a:rPr kumimoji="1" lang="en-US" altLang="zh-CN" sz="2800" dirty="0"/>
              <a:t>Speaking User </a:t>
            </a:r>
            <a:r>
              <a:rPr kumimoji="1" lang="en-US" altLang="zh-CN" sz="2800" dirty="0">
                <a:solidFill>
                  <a:schemeClr val="accent2">
                    <a:lumMod val="75000"/>
                  </a:schemeClr>
                </a:solidFill>
              </a:rPr>
              <a:t>Authentication</a:t>
            </a:r>
            <a:r>
              <a:rPr kumimoji="1" lang="en-US" altLang="zh-CN" sz="2800" dirty="0"/>
              <a:t> on </a:t>
            </a:r>
            <a:r>
              <a:rPr kumimoji="1" lang="en-US" altLang="zh-CN" sz="2800" dirty="0">
                <a:solidFill>
                  <a:schemeClr val="accent2">
                    <a:lumMod val="75000"/>
                  </a:schemeClr>
                </a:solidFill>
              </a:rPr>
              <a:t>Earbuds</a:t>
            </a:r>
            <a:endParaRPr kumimoji="1" lang="zh-CN" altLang="en-US" sz="2800" dirty="0">
              <a:solidFill>
                <a:schemeClr val="accent2">
                  <a:lumMod val="75000"/>
                </a:schemeClr>
              </a:solidFill>
            </a:endParaRPr>
          </a:p>
        </p:txBody>
      </p:sp>
      <p:cxnSp>
        <p:nvCxnSpPr>
          <p:cNvPr id="7" name="直线连接符 6">
            <a:extLst>
              <a:ext uri="{FF2B5EF4-FFF2-40B4-BE49-F238E27FC236}">
                <a16:creationId xmlns:a16="http://schemas.microsoft.com/office/drawing/2014/main" id="{27F53845-B0C3-F444-BE3B-DF7267BF3886}"/>
              </a:ext>
            </a:extLst>
          </p:cNvPr>
          <p:cNvCxnSpPr>
            <a:cxnSpLocks/>
          </p:cNvCxnSpPr>
          <p:nvPr/>
        </p:nvCxnSpPr>
        <p:spPr>
          <a:xfrm>
            <a:off x="1192266" y="2543480"/>
            <a:ext cx="7016651" cy="0"/>
          </a:xfrm>
          <a:prstGeom prst="line">
            <a:avLst/>
          </a:prstGeom>
          <a:ln w="38100">
            <a:solidFill>
              <a:srgbClr val="8B302D"/>
            </a:solidFill>
          </a:ln>
          <a:effectLst>
            <a:outerShdw blurRad="50800" dist="38100" dir="5400000" algn="t" rotWithShape="0">
              <a:prstClr val="black">
                <a:alpha val="40000"/>
              </a:prstClr>
            </a:outerShdw>
          </a:effectLst>
        </p:spPr>
        <p:style>
          <a:lnRef idx="1">
            <a:schemeClr val="dk1"/>
          </a:lnRef>
          <a:fillRef idx="0">
            <a:schemeClr val="dk1"/>
          </a:fillRef>
          <a:effectRef idx="0">
            <a:schemeClr val="dk1"/>
          </a:effectRef>
          <a:fontRef idx="minor">
            <a:schemeClr val="tx1"/>
          </a:fontRef>
        </p:style>
      </p:cxnSp>
      <p:sp>
        <p:nvSpPr>
          <p:cNvPr id="8" name="文本框 7">
            <a:extLst>
              <a:ext uri="{FF2B5EF4-FFF2-40B4-BE49-F238E27FC236}">
                <a16:creationId xmlns:a16="http://schemas.microsoft.com/office/drawing/2014/main" id="{42BC471B-8E7D-ED45-B940-1595DD049697}"/>
              </a:ext>
            </a:extLst>
          </p:cNvPr>
          <p:cNvSpPr txBox="1"/>
          <p:nvPr/>
        </p:nvSpPr>
        <p:spPr>
          <a:xfrm>
            <a:off x="2958672" y="4191256"/>
            <a:ext cx="3483839" cy="492443"/>
          </a:xfrm>
          <a:prstGeom prst="rect">
            <a:avLst/>
          </a:prstGeom>
          <a:noFill/>
        </p:spPr>
        <p:txBody>
          <a:bodyPr wrap="none" rtlCol="0">
            <a:spAutoFit/>
          </a:bodyPr>
          <a:lstStyle/>
          <a:p>
            <a:r>
              <a:rPr kumimoji="1" lang="en-US" altLang="zh-CN" sz="2600" b="1" dirty="0"/>
              <a:t>Presented by : </a:t>
            </a:r>
            <a:r>
              <a:rPr kumimoji="1" lang="en-US" altLang="zh-CN" sz="2600" u="sng" dirty="0"/>
              <a:t>Luo Zhou</a:t>
            </a:r>
            <a:endParaRPr kumimoji="1" lang="zh-CN" altLang="en-US" sz="2600" u="sng" dirty="0"/>
          </a:p>
        </p:txBody>
      </p:sp>
      <p:sp>
        <p:nvSpPr>
          <p:cNvPr id="9" name="文本框 8">
            <a:extLst>
              <a:ext uri="{FF2B5EF4-FFF2-40B4-BE49-F238E27FC236}">
                <a16:creationId xmlns:a16="http://schemas.microsoft.com/office/drawing/2014/main" id="{3A1C6DB2-98AF-E14C-AC03-6B92869971B4}"/>
              </a:ext>
            </a:extLst>
          </p:cNvPr>
          <p:cNvSpPr txBox="1"/>
          <p:nvPr/>
        </p:nvSpPr>
        <p:spPr>
          <a:xfrm>
            <a:off x="1030067" y="4847186"/>
            <a:ext cx="7341049" cy="461665"/>
          </a:xfrm>
          <a:prstGeom prst="rect">
            <a:avLst/>
          </a:prstGeom>
          <a:noFill/>
        </p:spPr>
        <p:txBody>
          <a:bodyPr wrap="none" rtlCol="0">
            <a:spAutoFit/>
          </a:bodyPr>
          <a:lstStyle/>
          <a:p>
            <a:r>
              <a:rPr kumimoji="1" lang="en-US" altLang="zh-CN" sz="2400" dirty="0"/>
              <a:t>Co-authors: Shan Chang, Jiusong Luo, Huixiang Wen, Li Lu</a:t>
            </a:r>
            <a:endParaRPr kumimoji="1" lang="zh-CN" altLang="en-US" sz="2400" dirty="0"/>
          </a:p>
        </p:txBody>
      </p:sp>
      <p:pic>
        <p:nvPicPr>
          <p:cNvPr id="29" name="图片 28">
            <a:extLst>
              <a:ext uri="{FF2B5EF4-FFF2-40B4-BE49-F238E27FC236}">
                <a16:creationId xmlns:a16="http://schemas.microsoft.com/office/drawing/2014/main" id="{D6106893-B010-9C41-A43E-20AF41B88EF4}"/>
              </a:ext>
            </a:extLst>
          </p:cNvPr>
          <p:cNvPicPr>
            <a:picLocks noChangeAspect="1"/>
          </p:cNvPicPr>
          <p:nvPr/>
        </p:nvPicPr>
        <p:blipFill>
          <a:blip r:embed="rId3"/>
          <a:stretch>
            <a:fillRect/>
          </a:stretch>
        </p:blipFill>
        <p:spPr>
          <a:xfrm>
            <a:off x="3717271" y="251904"/>
            <a:ext cx="1966641" cy="1138000"/>
          </a:xfrm>
          <a:prstGeom prst="rect">
            <a:avLst/>
          </a:prstGeom>
        </p:spPr>
      </p:pic>
      <p:sp>
        <p:nvSpPr>
          <p:cNvPr id="30" name="文本框 29">
            <a:extLst>
              <a:ext uri="{FF2B5EF4-FFF2-40B4-BE49-F238E27FC236}">
                <a16:creationId xmlns:a16="http://schemas.microsoft.com/office/drawing/2014/main" id="{C6DB1C37-D5E6-E144-B35D-888C747C2113}"/>
              </a:ext>
            </a:extLst>
          </p:cNvPr>
          <p:cNvSpPr txBox="1"/>
          <p:nvPr/>
        </p:nvSpPr>
        <p:spPr>
          <a:xfrm>
            <a:off x="3491189" y="1842555"/>
            <a:ext cx="2418804" cy="769441"/>
          </a:xfrm>
          <a:prstGeom prst="rect">
            <a:avLst/>
          </a:prstGeom>
          <a:noFill/>
        </p:spPr>
        <p:txBody>
          <a:bodyPr wrap="none" rtlCol="0">
            <a:spAutoFit/>
          </a:bodyPr>
          <a:lstStyle/>
          <a:p>
            <a:r>
              <a:rPr kumimoji="1" lang="en-US" altLang="zh-CN" sz="4400" b="1" dirty="0">
                <a:solidFill>
                  <a:srgbClr val="8B302D"/>
                </a:solidFill>
              </a:rPr>
              <a:t>BaroAuth</a:t>
            </a:r>
            <a:endParaRPr kumimoji="1" lang="zh-CN" altLang="en-US" sz="4400" b="1" dirty="0">
              <a:solidFill>
                <a:srgbClr val="8B302D"/>
              </a:solidFill>
            </a:endParaRPr>
          </a:p>
        </p:txBody>
      </p:sp>
      <p:sp>
        <p:nvSpPr>
          <p:cNvPr id="32" name="矩形 31">
            <a:extLst>
              <a:ext uri="{FF2B5EF4-FFF2-40B4-BE49-F238E27FC236}">
                <a16:creationId xmlns:a16="http://schemas.microsoft.com/office/drawing/2014/main" id="{720CE08A-C07E-CE4A-9A6A-7E8D712C817F}"/>
              </a:ext>
            </a:extLst>
          </p:cNvPr>
          <p:cNvSpPr/>
          <p:nvPr/>
        </p:nvSpPr>
        <p:spPr>
          <a:xfrm>
            <a:off x="-1" y="0"/>
            <a:ext cx="9143996" cy="246920"/>
          </a:xfrm>
          <a:prstGeom prst="rect">
            <a:avLst/>
          </a:prstGeom>
          <a:solidFill>
            <a:srgbClr val="8B30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kumimoji="1" lang="zh-CN" altLang="en-US" sz="1200" dirty="0"/>
          </a:p>
        </p:txBody>
      </p:sp>
      <p:sp>
        <p:nvSpPr>
          <p:cNvPr id="33" name="矩形 32">
            <a:extLst>
              <a:ext uri="{FF2B5EF4-FFF2-40B4-BE49-F238E27FC236}">
                <a16:creationId xmlns:a16="http://schemas.microsoft.com/office/drawing/2014/main" id="{5ED56619-DCB8-4645-8F2B-BB4EE475EE61}"/>
              </a:ext>
            </a:extLst>
          </p:cNvPr>
          <p:cNvSpPr/>
          <p:nvPr/>
        </p:nvSpPr>
        <p:spPr>
          <a:xfrm>
            <a:off x="0" y="6671732"/>
            <a:ext cx="3069166" cy="186267"/>
          </a:xfrm>
          <a:prstGeom prst="rect">
            <a:avLst/>
          </a:prstGeom>
          <a:solidFill>
            <a:srgbClr val="8B30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t>Luo Zhou et al.</a:t>
            </a:r>
            <a:endParaRPr kumimoji="1" lang="zh-CN" altLang="en-US" sz="1200" dirty="0"/>
          </a:p>
        </p:txBody>
      </p:sp>
      <p:sp>
        <p:nvSpPr>
          <p:cNvPr id="34" name="矩形 33">
            <a:extLst>
              <a:ext uri="{FF2B5EF4-FFF2-40B4-BE49-F238E27FC236}">
                <a16:creationId xmlns:a16="http://schemas.microsoft.com/office/drawing/2014/main" id="{30E90559-F95B-294C-89D9-5471059A2CBB}"/>
              </a:ext>
            </a:extLst>
          </p:cNvPr>
          <p:cNvSpPr/>
          <p:nvPr/>
        </p:nvSpPr>
        <p:spPr>
          <a:xfrm>
            <a:off x="3069166" y="6671732"/>
            <a:ext cx="3005666" cy="186268"/>
          </a:xfrm>
          <a:prstGeom prst="rect">
            <a:avLst/>
          </a:prstGeom>
          <a:solidFill>
            <a:srgbClr val="9141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t>Donghua University</a:t>
            </a:r>
            <a:endParaRPr kumimoji="1" lang="zh-CN" altLang="en-US" sz="1200" dirty="0"/>
          </a:p>
        </p:txBody>
      </p:sp>
      <p:sp>
        <p:nvSpPr>
          <p:cNvPr id="35" name="矩形 34">
            <a:extLst>
              <a:ext uri="{FF2B5EF4-FFF2-40B4-BE49-F238E27FC236}">
                <a16:creationId xmlns:a16="http://schemas.microsoft.com/office/drawing/2014/main" id="{E0E92E5D-2D33-B646-B3AA-6D5353296D46}"/>
              </a:ext>
            </a:extLst>
          </p:cNvPr>
          <p:cNvSpPr/>
          <p:nvPr/>
        </p:nvSpPr>
        <p:spPr>
          <a:xfrm>
            <a:off x="6074832" y="6671731"/>
            <a:ext cx="2374901" cy="186268"/>
          </a:xfrm>
          <a:prstGeom prst="rect">
            <a:avLst/>
          </a:prstGeom>
          <a:solidFill>
            <a:srgbClr val="9C53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t>2025.07.21</a:t>
            </a:r>
            <a:endParaRPr kumimoji="1" lang="zh-CN" altLang="en-US" sz="1200" dirty="0"/>
          </a:p>
        </p:txBody>
      </p:sp>
      <p:sp>
        <p:nvSpPr>
          <p:cNvPr id="36" name="矩形 35">
            <a:extLst>
              <a:ext uri="{FF2B5EF4-FFF2-40B4-BE49-F238E27FC236}">
                <a16:creationId xmlns:a16="http://schemas.microsoft.com/office/drawing/2014/main" id="{674930D7-7EA6-534B-8D15-2F1ABAD08B0F}"/>
              </a:ext>
            </a:extLst>
          </p:cNvPr>
          <p:cNvSpPr/>
          <p:nvPr/>
        </p:nvSpPr>
        <p:spPr>
          <a:xfrm>
            <a:off x="8106833" y="6671730"/>
            <a:ext cx="1037167" cy="186270"/>
          </a:xfrm>
          <a:prstGeom prst="rect">
            <a:avLst/>
          </a:prstGeom>
          <a:solidFill>
            <a:srgbClr val="9D53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t>1/35</a:t>
            </a:r>
            <a:endParaRPr kumimoji="1" lang="zh-CN" altLang="en-US" sz="1200" dirty="0"/>
          </a:p>
        </p:txBody>
      </p:sp>
      <p:pic>
        <p:nvPicPr>
          <p:cNvPr id="38" name="图片 37">
            <a:extLst>
              <a:ext uri="{FF2B5EF4-FFF2-40B4-BE49-F238E27FC236}">
                <a16:creationId xmlns:a16="http://schemas.microsoft.com/office/drawing/2014/main" id="{B5B4AF4D-FE8E-F14C-8CFE-21DA26D2AB57}"/>
              </a:ext>
            </a:extLst>
          </p:cNvPr>
          <p:cNvPicPr>
            <a:picLocks noChangeAspect="1"/>
          </p:cNvPicPr>
          <p:nvPr/>
        </p:nvPicPr>
        <p:blipFill>
          <a:blip r:embed="rId4"/>
          <a:stretch>
            <a:fillRect/>
          </a:stretch>
        </p:blipFill>
        <p:spPr>
          <a:xfrm>
            <a:off x="208734" y="5984436"/>
            <a:ext cx="1525335" cy="468000"/>
          </a:xfrm>
          <a:prstGeom prst="rect">
            <a:avLst/>
          </a:prstGeom>
        </p:spPr>
      </p:pic>
      <p:pic>
        <p:nvPicPr>
          <p:cNvPr id="40" name="图片 39">
            <a:extLst>
              <a:ext uri="{FF2B5EF4-FFF2-40B4-BE49-F238E27FC236}">
                <a16:creationId xmlns:a16="http://schemas.microsoft.com/office/drawing/2014/main" id="{FDFDB348-432F-BB4D-BCBE-E6BEB6A0FABC}"/>
              </a:ext>
            </a:extLst>
          </p:cNvPr>
          <p:cNvPicPr>
            <a:picLocks noChangeAspect="1"/>
          </p:cNvPicPr>
          <p:nvPr/>
        </p:nvPicPr>
        <p:blipFill>
          <a:blip r:embed="rId5"/>
          <a:stretch>
            <a:fillRect/>
          </a:stretch>
        </p:blipFill>
        <p:spPr>
          <a:xfrm>
            <a:off x="4534235" y="5881902"/>
            <a:ext cx="1974766" cy="648000"/>
          </a:xfrm>
          <a:prstGeom prst="rect">
            <a:avLst/>
          </a:prstGeom>
        </p:spPr>
      </p:pic>
      <p:pic>
        <p:nvPicPr>
          <p:cNvPr id="44" name="图片 43">
            <a:extLst>
              <a:ext uri="{FF2B5EF4-FFF2-40B4-BE49-F238E27FC236}">
                <a16:creationId xmlns:a16="http://schemas.microsoft.com/office/drawing/2014/main" id="{2BE49138-8C13-6F45-83FF-52F469792F82}"/>
              </a:ext>
            </a:extLst>
          </p:cNvPr>
          <p:cNvPicPr>
            <a:picLocks noChangeAspect="1"/>
          </p:cNvPicPr>
          <p:nvPr/>
        </p:nvPicPr>
        <p:blipFill>
          <a:blip r:embed="rId6"/>
          <a:stretch>
            <a:fillRect/>
          </a:stretch>
        </p:blipFill>
        <p:spPr>
          <a:xfrm>
            <a:off x="6812327" y="5979199"/>
            <a:ext cx="2141409" cy="504000"/>
          </a:xfrm>
          <a:prstGeom prst="rect">
            <a:avLst/>
          </a:prstGeom>
        </p:spPr>
      </p:pic>
      <p:pic>
        <p:nvPicPr>
          <p:cNvPr id="46" name="图片 45">
            <a:extLst>
              <a:ext uri="{FF2B5EF4-FFF2-40B4-BE49-F238E27FC236}">
                <a16:creationId xmlns:a16="http://schemas.microsoft.com/office/drawing/2014/main" id="{41898034-6D59-9C44-BC53-8908023025C5}"/>
              </a:ext>
            </a:extLst>
          </p:cNvPr>
          <p:cNvPicPr>
            <a:picLocks noChangeAspect="1"/>
          </p:cNvPicPr>
          <p:nvPr/>
        </p:nvPicPr>
        <p:blipFill>
          <a:blip r:embed="rId7"/>
          <a:stretch>
            <a:fillRect/>
          </a:stretch>
        </p:blipFill>
        <p:spPr>
          <a:xfrm>
            <a:off x="2037395" y="5881902"/>
            <a:ext cx="2223000" cy="684000"/>
          </a:xfrm>
          <a:prstGeom prst="rect">
            <a:avLst/>
          </a:prstGeom>
        </p:spPr>
      </p:pic>
    </p:spTree>
    <p:extLst>
      <p:ext uri="{BB962C8B-B14F-4D97-AF65-F5344CB8AC3E}">
        <p14:creationId xmlns:p14="http://schemas.microsoft.com/office/powerpoint/2010/main" val="37702132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a:extLst>
              <a:ext uri="{FF2B5EF4-FFF2-40B4-BE49-F238E27FC236}">
                <a16:creationId xmlns:a16="http://schemas.microsoft.com/office/drawing/2014/main" id="{7298F338-BF45-D446-A7EB-9738B9AF0B49}"/>
              </a:ext>
            </a:extLst>
          </p:cNvPr>
          <p:cNvSpPr/>
          <p:nvPr/>
        </p:nvSpPr>
        <p:spPr>
          <a:xfrm>
            <a:off x="0" y="6671732"/>
            <a:ext cx="3069166" cy="186267"/>
          </a:xfrm>
          <a:prstGeom prst="rect">
            <a:avLst/>
          </a:prstGeom>
          <a:solidFill>
            <a:srgbClr val="8B30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t>Luo Zhou et al.</a:t>
            </a:r>
            <a:endParaRPr kumimoji="1" lang="zh-CN" altLang="en-US" sz="1200" dirty="0"/>
          </a:p>
        </p:txBody>
      </p:sp>
      <p:sp>
        <p:nvSpPr>
          <p:cNvPr id="13" name="矩形 12">
            <a:extLst>
              <a:ext uri="{FF2B5EF4-FFF2-40B4-BE49-F238E27FC236}">
                <a16:creationId xmlns:a16="http://schemas.microsoft.com/office/drawing/2014/main" id="{F34D8F6A-E87C-8145-BE0C-C609627D4B7C}"/>
              </a:ext>
            </a:extLst>
          </p:cNvPr>
          <p:cNvSpPr/>
          <p:nvPr/>
        </p:nvSpPr>
        <p:spPr>
          <a:xfrm>
            <a:off x="3069166" y="6671732"/>
            <a:ext cx="3005666" cy="186268"/>
          </a:xfrm>
          <a:prstGeom prst="rect">
            <a:avLst/>
          </a:prstGeom>
          <a:solidFill>
            <a:srgbClr val="9141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t>Donghua University</a:t>
            </a:r>
            <a:endParaRPr kumimoji="1" lang="zh-CN" altLang="en-US" sz="1200" dirty="0"/>
          </a:p>
        </p:txBody>
      </p:sp>
      <p:sp>
        <p:nvSpPr>
          <p:cNvPr id="15" name="矩形 14">
            <a:extLst>
              <a:ext uri="{FF2B5EF4-FFF2-40B4-BE49-F238E27FC236}">
                <a16:creationId xmlns:a16="http://schemas.microsoft.com/office/drawing/2014/main" id="{56D33D00-85D6-064B-A329-4FA724561018}"/>
              </a:ext>
            </a:extLst>
          </p:cNvPr>
          <p:cNvSpPr/>
          <p:nvPr/>
        </p:nvSpPr>
        <p:spPr>
          <a:xfrm>
            <a:off x="6074832" y="6671731"/>
            <a:ext cx="2374901" cy="186268"/>
          </a:xfrm>
          <a:prstGeom prst="rect">
            <a:avLst/>
          </a:prstGeom>
          <a:solidFill>
            <a:srgbClr val="9C53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t>2025.07.21</a:t>
            </a:r>
            <a:endParaRPr kumimoji="1" lang="zh-CN" altLang="en-US" sz="1200" dirty="0"/>
          </a:p>
        </p:txBody>
      </p:sp>
      <p:sp>
        <p:nvSpPr>
          <p:cNvPr id="16" name="矩形 15">
            <a:extLst>
              <a:ext uri="{FF2B5EF4-FFF2-40B4-BE49-F238E27FC236}">
                <a16:creationId xmlns:a16="http://schemas.microsoft.com/office/drawing/2014/main" id="{86551296-CD29-084E-9713-D38000C31A77}"/>
              </a:ext>
            </a:extLst>
          </p:cNvPr>
          <p:cNvSpPr/>
          <p:nvPr/>
        </p:nvSpPr>
        <p:spPr>
          <a:xfrm>
            <a:off x="8106833" y="6671730"/>
            <a:ext cx="1037167" cy="186270"/>
          </a:xfrm>
          <a:prstGeom prst="rect">
            <a:avLst/>
          </a:prstGeom>
          <a:solidFill>
            <a:srgbClr val="9D53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t>2/35</a:t>
            </a:r>
            <a:endParaRPr kumimoji="1" lang="zh-CN" altLang="en-US" sz="1200" dirty="0"/>
          </a:p>
        </p:txBody>
      </p:sp>
      <p:sp>
        <p:nvSpPr>
          <p:cNvPr id="18" name="矩形 17">
            <a:extLst>
              <a:ext uri="{FF2B5EF4-FFF2-40B4-BE49-F238E27FC236}">
                <a16:creationId xmlns:a16="http://schemas.microsoft.com/office/drawing/2014/main" id="{0C7C7718-50BC-064C-A6C9-83D2313EAFC4}"/>
              </a:ext>
            </a:extLst>
          </p:cNvPr>
          <p:cNvSpPr/>
          <p:nvPr/>
        </p:nvSpPr>
        <p:spPr>
          <a:xfrm>
            <a:off x="-1" y="0"/>
            <a:ext cx="9143996" cy="246920"/>
          </a:xfrm>
          <a:prstGeom prst="rect">
            <a:avLst/>
          </a:prstGeom>
          <a:solidFill>
            <a:srgbClr val="8B30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kumimoji="1" lang="zh-CN" altLang="en-US" sz="1200" dirty="0"/>
          </a:p>
        </p:txBody>
      </p:sp>
      <p:sp>
        <p:nvSpPr>
          <p:cNvPr id="2" name="矩形 1">
            <a:extLst>
              <a:ext uri="{FF2B5EF4-FFF2-40B4-BE49-F238E27FC236}">
                <a16:creationId xmlns:a16="http://schemas.microsoft.com/office/drawing/2014/main" id="{D29C7C69-602C-7844-B74B-2FCBDCA056A0}"/>
              </a:ext>
            </a:extLst>
          </p:cNvPr>
          <p:cNvSpPr/>
          <p:nvPr/>
        </p:nvSpPr>
        <p:spPr>
          <a:xfrm>
            <a:off x="0" y="246919"/>
            <a:ext cx="9143996" cy="48121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zh-CN" sz="2400" dirty="0">
                <a:solidFill>
                  <a:srgbClr val="8B302D"/>
                </a:solidFill>
                <a:latin typeface="+mj-lt"/>
                <a:ea typeface="PingFang SC" panose="020B0400000000000000" pitchFamily="34" charset="-122"/>
                <a:cs typeface="Arial" panose="020B0604020202020204" pitchFamily="34" charset="0"/>
              </a:rPr>
              <a:t>   Contents</a:t>
            </a:r>
            <a:endParaRPr kumimoji="1" lang="zh-CN" altLang="en-US" dirty="0">
              <a:solidFill>
                <a:srgbClr val="8B302D"/>
              </a:solidFill>
              <a:latin typeface="+mj-lt"/>
              <a:ea typeface="PingFang SC" panose="020B0400000000000000" pitchFamily="34" charset="-122"/>
              <a:cs typeface="Arial" panose="020B0604020202020204" pitchFamily="34" charset="0"/>
            </a:endParaRPr>
          </a:p>
        </p:txBody>
      </p:sp>
      <p:sp>
        <p:nvSpPr>
          <p:cNvPr id="4" name="椭圆 3">
            <a:extLst>
              <a:ext uri="{FF2B5EF4-FFF2-40B4-BE49-F238E27FC236}">
                <a16:creationId xmlns:a16="http://schemas.microsoft.com/office/drawing/2014/main" id="{53857E01-B4AE-7543-AE0D-8E3EE0F4060B}"/>
              </a:ext>
            </a:extLst>
          </p:cNvPr>
          <p:cNvSpPr/>
          <p:nvPr/>
        </p:nvSpPr>
        <p:spPr>
          <a:xfrm>
            <a:off x="648107" y="1231611"/>
            <a:ext cx="279401" cy="279401"/>
          </a:xfrm>
          <a:prstGeom prst="ellipse">
            <a:avLst/>
          </a:prstGeom>
          <a:solidFill>
            <a:srgbClr val="0030F0"/>
          </a:solidFill>
          <a:ln>
            <a:no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t>1</a:t>
            </a:r>
            <a:endParaRPr kumimoji="1" lang="zh-CN" altLang="en-US" dirty="0"/>
          </a:p>
        </p:txBody>
      </p:sp>
      <p:sp>
        <p:nvSpPr>
          <p:cNvPr id="17" name="椭圆 16">
            <a:extLst>
              <a:ext uri="{FF2B5EF4-FFF2-40B4-BE49-F238E27FC236}">
                <a16:creationId xmlns:a16="http://schemas.microsoft.com/office/drawing/2014/main" id="{DF518B0B-5707-ED4E-A486-A088ACB2834C}"/>
              </a:ext>
            </a:extLst>
          </p:cNvPr>
          <p:cNvSpPr/>
          <p:nvPr/>
        </p:nvSpPr>
        <p:spPr>
          <a:xfrm>
            <a:off x="648104" y="1971875"/>
            <a:ext cx="279401" cy="279401"/>
          </a:xfrm>
          <a:prstGeom prst="ellipse">
            <a:avLst/>
          </a:prstGeom>
          <a:solidFill>
            <a:srgbClr val="0030F0"/>
          </a:solidFill>
          <a:ln>
            <a:no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t>2</a:t>
            </a:r>
            <a:endParaRPr kumimoji="1" lang="zh-CN" altLang="en-US" dirty="0"/>
          </a:p>
        </p:txBody>
      </p:sp>
      <p:sp>
        <p:nvSpPr>
          <p:cNvPr id="20" name="椭圆 19">
            <a:extLst>
              <a:ext uri="{FF2B5EF4-FFF2-40B4-BE49-F238E27FC236}">
                <a16:creationId xmlns:a16="http://schemas.microsoft.com/office/drawing/2014/main" id="{631BC840-5FF5-BB48-8C2D-57DAF6BD5C0C}"/>
              </a:ext>
            </a:extLst>
          </p:cNvPr>
          <p:cNvSpPr/>
          <p:nvPr/>
        </p:nvSpPr>
        <p:spPr>
          <a:xfrm>
            <a:off x="648103" y="2712139"/>
            <a:ext cx="279401" cy="279401"/>
          </a:xfrm>
          <a:prstGeom prst="ellipse">
            <a:avLst/>
          </a:prstGeom>
          <a:solidFill>
            <a:srgbClr val="0030F0"/>
          </a:solidFill>
          <a:ln>
            <a:no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t>3</a:t>
            </a:r>
            <a:endParaRPr kumimoji="1" lang="zh-CN" altLang="en-US" dirty="0"/>
          </a:p>
        </p:txBody>
      </p:sp>
      <p:sp>
        <p:nvSpPr>
          <p:cNvPr id="21" name="椭圆 20">
            <a:extLst>
              <a:ext uri="{FF2B5EF4-FFF2-40B4-BE49-F238E27FC236}">
                <a16:creationId xmlns:a16="http://schemas.microsoft.com/office/drawing/2014/main" id="{DB891DDE-F91F-A642-8CDF-04D5F9697FDB}"/>
              </a:ext>
            </a:extLst>
          </p:cNvPr>
          <p:cNvSpPr/>
          <p:nvPr/>
        </p:nvSpPr>
        <p:spPr>
          <a:xfrm>
            <a:off x="648102" y="3430597"/>
            <a:ext cx="279401" cy="279401"/>
          </a:xfrm>
          <a:prstGeom prst="ellipse">
            <a:avLst/>
          </a:prstGeom>
          <a:solidFill>
            <a:srgbClr val="0030F0"/>
          </a:solidFill>
          <a:ln>
            <a:no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t>4</a:t>
            </a:r>
            <a:endParaRPr kumimoji="1" lang="zh-CN" altLang="en-US" dirty="0"/>
          </a:p>
        </p:txBody>
      </p:sp>
      <p:sp>
        <p:nvSpPr>
          <p:cNvPr id="22" name="椭圆 21">
            <a:extLst>
              <a:ext uri="{FF2B5EF4-FFF2-40B4-BE49-F238E27FC236}">
                <a16:creationId xmlns:a16="http://schemas.microsoft.com/office/drawing/2014/main" id="{6CA096DF-1C07-2746-A16D-557711FC9626}"/>
              </a:ext>
            </a:extLst>
          </p:cNvPr>
          <p:cNvSpPr/>
          <p:nvPr/>
        </p:nvSpPr>
        <p:spPr>
          <a:xfrm>
            <a:off x="648102" y="4095581"/>
            <a:ext cx="279401" cy="279401"/>
          </a:xfrm>
          <a:prstGeom prst="ellipse">
            <a:avLst/>
          </a:prstGeom>
          <a:solidFill>
            <a:srgbClr val="0030F0"/>
          </a:solidFill>
          <a:ln>
            <a:no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t>5</a:t>
            </a:r>
            <a:endParaRPr kumimoji="1" lang="zh-CN" altLang="en-US" dirty="0"/>
          </a:p>
        </p:txBody>
      </p:sp>
      <p:sp>
        <p:nvSpPr>
          <p:cNvPr id="25" name="椭圆 24">
            <a:extLst>
              <a:ext uri="{FF2B5EF4-FFF2-40B4-BE49-F238E27FC236}">
                <a16:creationId xmlns:a16="http://schemas.microsoft.com/office/drawing/2014/main" id="{A17D60FB-25C2-F945-B996-DFA464BB98A6}"/>
              </a:ext>
            </a:extLst>
          </p:cNvPr>
          <p:cNvSpPr/>
          <p:nvPr/>
        </p:nvSpPr>
        <p:spPr>
          <a:xfrm>
            <a:off x="648101" y="4835375"/>
            <a:ext cx="279401" cy="279401"/>
          </a:xfrm>
          <a:prstGeom prst="ellipse">
            <a:avLst/>
          </a:prstGeom>
          <a:solidFill>
            <a:srgbClr val="0030F0"/>
          </a:solidFill>
          <a:ln>
            <a:no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t>6</a:t>
            </a:r>
            <a:endParaRPr kumimoji="1" lang="zh-CN" altLang="en-US" dirty="0"/>
          </a:p>
        </p:txBody>
      </p:sp>
      <p:sp>
        <p:nvSpPr>
          <p:cNvPr id="5" name="文本框 4">
            <a:extLst>
              <a:ext uri="{FF2B5EF4-FFF2-40B4-BE49-F238E27FC236}">
                <a16:creationId xmlns:a16="http://schemas.microsoft.com/office/drawing/2014/main" id="{607794BA-B4F5-DC48-84B2-206479DB541D}"/>
              </a:ext>
            </a:extLst>
          </p:cNvPr>
          <p:cNvSpPr txBox="1"/>
          <p:nvPr/>
        </p:nvSpPr>
        <p:spPr>
          <a:xfrm>
            <a:off x="1050361" y="1171256"/>
            <a:ext cx="1401153" cy="400110"/>
          </a:xfrm>
          <a:prstGeom prst="rect">
            <a:avLst/>
          </a:prstGeom>
          <a:noFill/>
        </p:spPr>
        <p:txBody>
          <a:bodyPr wrap="none" rtlCol="0">
            <a:spAutoFit/>
          </a:bodyPr>
          <a:lstStyle/>
          <a:p>
            <a:r>
              <a:rPr kumimoji="1" lang="en-US" altLang="zh-CN" sz="2000" dirty="0">
                <a:latin typeface="+mj-lt"/>
              </a:rPr>
              <a:t>Background</a:t>
            </a:r>
            <a:endParaRPr kumimoji="1" lang="zh-CN" altLang="en-US" dirty="0">
              <a:latin typeface="+mj-lt"/>
            </a:endParaRPr>
          </a:p>
        </p:txBody>
      </p:sp>
      <p:sp>
        <p:nvSpPr>
          <p:cNvPr id="6" name="文本框 5">
            <a:extLst>
              <a:ext uri="{FF2B5EF4-FFF2-40B4-BE49-F238E27FC236}">
                <a16:creationId xmlns:a16="http://schemas.microsoft.com/office/drawing/2014/main" id="{2B2671E4-5C63-714E-ACF7-57D5309B204A}"/>
              </a:ext>
            </a:extLst>
          </p:cNvPr>
          <p:cNvSpPr txBox="1"/>
          <p:nvPr/>
        </p:nvSpPr>
        <p:spPr>
          <a:xfrm>
            <a:off x="1050361" y="1915757"/>
            <a:ext cx="1700915" cy="369332"/>
          </a:xfrm>
          <a:prstGeom prst="rect">
            <a:avLst/>
          </a:prstGeom>
          <a:noFill/>
        </p:spPr>
        <p:txBody>
          <a:bodyPr wrap="none" rtlCol="0">
            <a:spAutoFit/>
          </a:bodyPr>
          <a:lstStyle/>
          <a:p>
            <a:r>
              <a:rPr kumimoji="1" lang="en-US" altLang="zh-CN" dirty="0">
                <a:latin typeface="+mj-lt"/>
              </a:rPr>
              <a:t>Feasibility</a:t>
            </a:r>
            <a:r>
              <a:rPr kumimoji="1" lang="zh-CN" altLang="en-US" dirty="0">
                <a:latin typeface="+mj-lt"/>
              </a:rPr>
              <a:t> </a:t>
            </a:r>
            <a:r>
              <a:rPr kumimoji="1" lang="en-US" altLang="zh-CN" dirty="0">
                <a:latin typeface="+mj-lt"/>
              </a:rPr>
              <a:t>Study</a:t>
            </a:r>
            <a:endParaRPr kumimoji="1" lang="zh-CN" altLang="en-US" dirty="0">
              <a:latin typeface="+mj-lt"/>
            </a:endParaRPr>
          </a:p>
        </p:txBody>
      </p:sp>
      <p:sp>
        <p:nvSpPr>
          <p:cNvPr id="7" name="文本框 6">
            <a:extLst>
              <a:ext uri="{FF2B5EF4-FFF2-40B4-BE49-F238E27FC236}">
                <a16:creationId xmlns:a16="http://schemas.microsoft.com/office/drawing/2014/main" id="{7CDFA727-892D-0C4D-85BE-4926A2B0E26A}"/>
              </a:ext>
            </a:extLst>
          </p:cNvPr>
          <p:cNvSpPr txBox="1"/>
          <p:nvPr/>
        </p:nvSpPr>
        <p:spPr>
          <a:xfrm>
            <a:off x="1050361" y="3340666"/>
            <a:ext cx="1195840" cy="369332"/>
          </a:xfrm>
          <a:prstGeom prst="rect">
            <a:avLst/>
          </a:prstGeom>
          <a:noFill/>
        </p:spPr>
        <p:txBody>
          <a:bodyPr wrap="none" rtlCol="0">
            <a:spAutoFit/>
          </a:bodyPr>
          <a:lstStyle/>
          <a:p>
            <a:r>
              <a:rPr kumimoji="1" lang="en-US" altLang="zh-CN" dirty="0">
                <a:latin typeface="+mj-lt"/>
              </a:rPr>
              <a:t>Challenges</a:t>
            </a:r>
            <a:endParaRPr kumimoji="1" lang="zh-CN" altLang="en-US" dirty="0">
              <a:latin typeface="+mj-lt"/>
            </a:endParaRPr>
          </a:p>
        </p:txBody>
      </p:sp>
      <p:sp>
        <p:nvSpPr>
          <p:cNvPr id="8" name="文本框 7">
            <a:extLst>
              <a:ext uri="{FF2B5EF4-FFF2-40B4-BE49-F238E27FC236}">
                <a16:creationId xmlns:a16="http://schemas.microsoft.com/office/drawing/2014/main" id="{644EC01F-EA10-5347-B6A8-B7D86EA55160}"/>
              </a:ext>
            </a:extLst>
          </p:cNvPr>
          <p:cNvSpPr txBox="1"/>
          <p:nvPr/>
        </p:nvSpPr>
        <p:spPr>
          <a:xfrm>
            <a:off x="1050361" y="4051852"/>
            <a:ext cx="1977144" cy="369332"/>
          </a:xfrm>
          <a:prstGeom prst="rect">
            <a:avLst/>
          </a:prstGeom>
          <a:noFill/>
        </p:spPr>
        <p:txBody>
          <a:bodyPr wrap="none" rtlCol="0">
            <a:spAutoFit/>
          </a:bodyPr>
          <a:lstStyle/>
          <a:p>
            <a:r>
              <a:rPr kumimoji="1" lang="en-US" altLang="zh-CN" dirty="0">
                <a:latin typeface="+mj-lt"/>
              </a:rPr>
              <a:t>Design</a:t>
            </a:r>
            <a:r>
              <a:rPr kumimoji="1" lang="zh-CN" altLang="en-US" dirty="0">
                <a:latin typeface="+mj-lt"/>
              </a:rPr>
              <a:t> </a:t>
            </a:r>
            <a:r>
              <a:rPr kumimoji="1" lang="en-US" altLang="zh-CN" dirty="0">
                <a:latin typeface="+mj-lt"/>
              </a:rPr>
              <a:t>of</a:t>
            </a:r>
            <a:r>
              <a:rPr kumimoji="1" lang="zh-CN" altLang="en-US" dirty="0">
                <a:latin typeface="+mj-lt"/>
              </a:rPr>
              <a:t> </a:t>
            </a:r>
            <a:r>
              <a:rPr kumimoji="1" lang="en-US" altLang="zh-CN" dirty="0">
                <a:latin typeface="+mj-lt"/>
              </a:rPr>
              <a:t>BaroAuth</a:t>
            </a:r>
            <a:endParaRPr kumimoji="1" lang="zh-CN" altLang="en-US" dirty="0">
              <a:latin typeface="+mj-lt"/>
            </a:endParaRPr>
          </a:p>
        </p:txBody>
      </p:sp>
      <p:sp>
        <p:nvSpPr>
          <p:cNvPr id="9" name="文本框 8">
            <a:extLst>
              <a:ext uri="{FF2B5EF4-FFF2-40B4-BE49-F238E27FC236}">
                <a16:creationId xmlns:a16="http://schemas.microsoft.com/office/drawing/2014/main" id="{224999A7-B386-584F-95F7-7BAC4D0121C0}"/>
              </a:ext>
            </a:extLst>
          </p:cNvPr>
          <p:cNvSpPr txBox="1"/>
          <p:nvPr/>
        </p:nvSpPr>
        <p:spPr>
          <a:xfrm>
            <a:off x="1050361" y="4785898"/>
            <a:ext cx="1159613" cy="369332"/>
          </a:xfrm>
          <a:prstGeom prst="rect">
            <a:avLst/>
          </a:prstGeom>
          <a:noFill/>
        </p:spPr>
        <p:txBody>
          <a:bodyPr wrap="none" rtlCol="0">
            <a:spAutoFit/>
          </a:bodyPr>
          <a:lstStyle/>
          <a:p>
            <a:r>
              <a:rPr kumimoji="1" lang="en-US" altLang="zh-CN" dirty="0">
                <a:latin typeface="+mj-lt"/>
              </a:rPr>
              <a:t>Evaluation</a:t>
            </a:r>
            <a:endParaRPr kumimoji="1" lang="zh-CN" altLang="en-US" dirty="0">
              <a:latin typeface="+mj-lt"/>
            </a:endParaRPr>
          </a:p>
        </p:txBody>
      </p:sp>
      <p:sp>
        <p:nvSpPr>
          <p:cNvPr id="11" name="文本框 10">
            <a:extLst>
              <a:ext uri="{FF2B5EF4-FFF2-40B4-BE49-F238E27FC236}">
                <a16:creationId xmlns:a16="http://schemas.microsoft.com/office/drawing/2014/main" id="{7A7A226E-D722-774B-ADEB-426A50D05693}"/>
              </a:ext>
            </a:extLst>
          </p:cNvPr>
          <p:cNvSpPr txBox="1"/>
          <p:nvPr/>
        </p:nvSpPr>
        <p:spPr>
          <a:xfrm>
            <a:off x="1050361" y="5550750"/>
            <a:ext cx="1210588" cy="369332"/>
          </a:xfrm>
          <a:prstGeom prst="rect">
            <a:avLst/>
          </a:prstGeom>
          <a:noFill/>
        </p:spPr>
        <p:txBody>
          <a:bodyPr wrap="none" rtlCol="0">
            <a:spAutoFit/>
          </a:bodyPr>
          <a:lstStyle/>
          <a:p>
            <a:r>
              <a:rPr kumimoji="1" lang="en-US" altLang="zh-CN" dirty="0">
                <a:latin typeface="+mj-lt"/>
              </a:rPr>
              <a:t>Conclusion</a:t>
            </a:r>
            <a:endParaRPr kumimoji="1" lang="zh-CN" altLang="en-US" dirty="0">
              <a:latin typeface="+mj-lt"/>
            </a:endParaRPr>
          </a:p>
        </p:txBody>
      </p:sp>
      <p:sp>
        <p:nvSpPr>
          <p:cNvPr id="26" name="文本框 25">
            <a:extLst>
              <a:ext uri="{FF2B5EF4-FFF2-40B4-BE49-F238E27FC236}">
                <a16:creationId xmlns:a16="http://schemas.microsoft.com/office/drawing/2014/main" id="{6C0EAAC2-7A6F-F049-83ED-5C11DAA84F5E}"/>
              </a:ext>
            </a:extLst>
          </p:cNvPr>
          <p:cNvSpPr txBox="1"/>
          <p:nvPr/>
        </p:nvSpPr>
        <p:spPr>
          <a:xfrm>
            <a:off x="1050361" y="2629480"/>
            <a:ext cx="1443793" cy="369332"/>
          </a:xfrm>
          <a:prstGeom prst="rect">
            <a:avLst/>
          </a:prstGeom>
          <a:noFill/>
        </p:spPr>
        <p:txBody>
          <a:bodyPr wrap="none" rtlCol="0">
            <a:spAutoFit/>
          </a:bodyPr>
          <a:lstStyle/>
          <a:p>
            <a:r>
              <a:rPr kumimoji="1" lang="en-US" altLang="zh-CN" dirty="0">
                <a:latin typeface="+mj-lt"/>
              </a:rPr>
              <a:t>Threat Model</a:t>
            </a:r>
            <a:endParaRPr kumimoji="1" lang="zh-CN" altLang="en-US" dirty="0">
              <a:latin typeface="+mj-lt"/>
            </a:endParaRPr>
          </a:p>
        </p:txBody>
      </p:sp>
      <p:sp>
        <p:nvSpPr>
          <p:cNvPr id="27" name="椭圆 26">
            <a:extLst>
              <a:ext uri="{FF2B5EF4-FFF2-40B4-BE49-F238E27FC236}">
                <a16:creationId xmlns:a16="http://schemas.microsoft.com/office/drawing/2014/main" id="{291A748F-58CE-DF42-BAA4-B647913783BC}"/>
              </a:ext>
            </a:extLst>
          </p:cNvPr>
          <p:cNvSpPr/>
          <p:nvPr/>
        </p:nvSpPr>
        <p:spPr>
          <a:xfrm>
            <a:off x="659132" y="5581179"/>
            <a:ext cx="279401" cy="279401"/>
          </a:xfrm>
          <a:prstGeom prst="ellipse">
            <a:avLst/>
          </a:prstGeom>
          <a:solidFill>
            <a:srgbClr val="0030F0"/>
          </a:solidFill>
          <a:ln>
            <a:no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t>7</a:t>
            </a:r>
            <a:endParaRPr kumimoji="1" lang="zh-CN" altLang="en-US" dirty="0"/>
          </a:p>
        </p:txBody>
      </p:sp>
    </p:spTree>
    <p:extLst>
      <p:ext uri="{BB962C8B-B14F-4D97-AF65-F5344CB8AC3E}">
        <p14:creationId xmlns:p14="http://schemas.microsoft.com/office/powerpoint/2010/main" val="22522130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圆角矩形 9">
            <a:extLst>
              <a:ext uri="{FF2B5EF4-FFF2-40B4-BE49-F238E27FC236}">
                <a16:creationId xmlns:a16="http://schemas.microsoft.com/office/drawing/2014/main" id="{2DA8A703-3A5D-954E-97F2-8118418F5066}"/>
              </a:ext>
            </a:extLst>
          </p:cNvPr>
          <p:cNvSpPr/>
          <p:nvPr/>
        </p:nvSpPr>
        <p:spPr>
          <a:xfrm>
            <a:off x="1037165" y="2582333"/>
            <a:ext cx="7069667" cy="846667"/>
          </a:xfrm>
          <a:prstGeom prst="roundRect">
            <a:avLst/>
          </a:prstGeom>
          <a:solidFill>
            <a:srgbClr val="8B30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3200" dirty="0">
                <a:latin typeface="+mj-lt"/>
              </a:rPr>
              <a:t>Background</a:t>
            </a:r>
            <a:endParaRPr kumimoji="1" lang="zh-CN" altLang="en-US" sz="3200" dirty="0">
              <a:latin typeface="+mj-lt"/>
            </a:endParaRPr>
          </a:p>
        </p:txBody>
      </p:sp>
      <p:sp>
        <p:nvSpPr>
          <p:cNvPr id="12" name="矩形 11">
            <a:extLst>
              <a:ext uri="{FF2B5EF4-FFF2-40B4-BE49-F238E27FC236}">
                <a16:creationId xmlns:a16="http://schemas.microsoft.com/office/drawing/2014/main" id="{7298F338-BF45-D446-A7EB-9738B9AF0B49}"/>
              </a:ext>
            </a:extLst>
          </p:cNvPr>
          <p:cNvSpPr/>
          <p:nvPr/>
        </p:nvSpPr>
        <p:spPr>
          <a:xfrm>
            <a:off x="0" y="6671732"/>
            <a:ext cx="3069166" cy="186267"/>
          </a:xfrm>
          <a:prstGeom prst="rect">
            <a:avLst/>
          </a:prstGeom>
          <a:solidFill>
            <a:srgbClr val="8B30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t>Luo Zhou et al.</a:t>
            </a:r>
            <a:endParaRPr kumimoji="1" lang="zh-CN" altLang="en-US" sz="1200" dirty="0"/>
          </a:p>
        </p:txBody>
      </p:sp>
      <p:sp>
        <p:nvSpPr>
          <p:cNvPr id="13" name="矩形 12">
            <a:extLst>
              <a:ext uri="{FF2B5EF4-FFF2-40B4-BE49-F238E27FC236}">
                <a16:creationId xmlns:a16="http://schemas.microsoft.com/office/drawing/2014/main" id="{F34D8F6A-E87C-8145-BE0C-C609627D4B7C}"/>
              </a:ext>
            </a:extLst>
          </p:cNvPr>
          <p:cNvSpPr/>
          <p:nvPr/>
        </p:nvSpPr>
        <p:spPr>
          <a:xfrm>
            <a:off x="3069166" y="6671732"/>
            <a:ext cx="3005666" cy="186268"/>
          </a:xfrm>
          <a:prstGeom prst="rect">
            <a:avLst/>
          </a:prstGeom>
          <a:solidFill>
            <a:srgbClr val="9141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t>Donghua University</a:t>
            </a:r>
            <a:endParaRPr kumimoji="1" lang="zh-CN" altLang="en-US" sz="1200" dirty="0"/>
          </a:p>
        </p:txBody>
      </p:sp>
      <p:sp>
        <p:nvSpPr>
          <p:cNvPr id="15" name="矩形 14">
            <a:extLst>
              <a:ext uri="{FF2B5EF4-FFF2-40B4-BE49-F238E27FC236}">
                <a16:creationId xmlns:a16="http://schemas.microsoft.com/office/drawing/2014/main" id="{56D33D00-85D6-064B-A329-4FA724561018}"/>
              </a:ext>
            </a:extLst>
          </p:cNvPr>
          <p:cNvSpPr/>
          <p:nvPr/>
        </p:nvSpPr>
        <p:spPr>
          <a:xfrm>
            <a:off x="6074832" y="6671731"/>
            <a:ext cx="2374901" cy="186268"/>
          </a:xfrm>
          <a:prstGeom prst="rect">
            <a:avLst/>
          </a:prstGeom>
          <a:solidFill>
            <a:srgbClr val="9C53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t>2025.07.21</a:t>
            </a:r>
            <a:endParaRPr kumimoji="1" lang="zh-CN" altLang="en-US" sz="1200" dirty="0"/>
          </a:p>
        </p:txBody>
      </p:sp>
      <p:sp>
        <p:nvSpPr>
          <p:cNvPr id="16" name="矩形 15">
            <a:extLst>
              <a:ext uri="{FF2B5EF4-FFF2-40B4-BE49-F238E27FC236}">
                <a16:creationId xmlns:a16="http://schemas.microsoft.com/office/drawing/2014/main" id="{86551296-CD29-084E-9713-D38000C31A77}"/>
              </a:ext>
            </a:extLst>
          </p:cNvPr>
          <p:cNvSpPr/>
          <p:nvPr/>
        </p:nvSpPr>
        <p:spPr>
          <a:xfrm>
            <a:off x="8106833" y="6671730"/>
            <a:ext cx="1037167" cy="186270"/>
          </a:xfrm>
          <a:prstGeom prst="rect">
            <a:avLst/>
          </a:prstGeom>
          <a:solidFill>
            <a:srgbClr val="9D53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t>3/35</a:t>
            </a:r>
            <a:endParaRPr kumimoji="1" lang="zh-CN" altLang="en-US" sz="1200" dirty="0"/>
          </a:p>
        </p:txBody>
      </p:sp>
      <p:sp>
        <p:nvSpPr>
          <p:cNvPr id="18" name="矩形 17">
            <a:extLst>
              <a:ext uri="{FF2B5EF4-FFF2-40B4-BE49-F238E27FC236}">
                <a16:creationId xmlns:a16="http://schemas.microsoft.com/office/drawing/2014/main" id="{0C7C7718-50BC-064C-A6C9-83D2313EAFC4}"/>
              </a:ext>
            </a:extLst>
          </p:cNvPr>
          <p:cNvSpPr/>
          <p:nvPr/>
        </p:nvSpPr>
        <p:spPr>
          <a:xfrm>
            <a:off x="0" y="0"/>
            <a:ext cx="9144000" cy="246920"/>
          </a:xfrm>
          <a:prstGeom prst="rect">
            <a:avLst/>
          </a:prstGeom>
          <a:solidFill>
            <a:srgbClr val="8B30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kumimoji="1" lang="zh-CN" altLang="en-US" sz="1200" dirty="0"/>
          </a:p>
        </p:txBody>
      </p:sp>
      <p:sp>
        <p:nvSpPr>
          <p:cNvPr id="20" name="椭圆 19">
            <a:extLst>
              <a:ext uri="{FF2B5EF4-FFF2-40B4-BE49-F238E27FC236}">
                <a16:creationId xmlns:a16="http://schemas.microsoft.com/office/drawing/2014/main" id="{F107BCBB-EED2-EB42-8163-2147234C5F13}"/>
              </a:ext>
            </a:extLst>
          </p:cNvPr>
          <p:cNvSpPr/>
          <p:nvPr/>
        </p:nvSpPr>
        <p:spPr>
          <a:xfrm>
            <a:off x="2997200" y="2849031"/>
            <a:ext cx="351367" cy="351367"/>
          </a:xfrm>
          <a:prstGeom prst="ellipse">
            <a:avLst/>
          </a:prstGeom>
          <a:solidFill>
            <a:srgbClr val="0030F0"/>
          </a:solidFill>
          <a:ln>
            <a:no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t>1</a:t>
            </a:r>
            <a:endParaRPr kumimoji="1" lang="zh-CN" altLang="en-US" dirty="0"/>
          </a:p>
        </p:txBody>
      </p:sp>
    </p:spTree>
    <p:extLst>
      <p:ext uri="{BB962C8B-B14F-4D97-AF65-F5344CB8AC3E}">
        <p14:creationId xmlns:p14="http://schemas.microsoft.com/office/powerpoint/2010/main" val="24759081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a:extLst>
              <a:ext uri="{FF2B5EF4-FFF2-40B4-BE49-F238E27FC236}">
                <a16:creationId xmlns:a16="http://schemas.microsoft.com/office/drawing/2014/main" id="{7298F338-BF45-D446-A7EB-9738B9AF0B49}"/>
              </a:ext>
            </a:extLst>
          </p:cNvPr>
          <p:cNvSpPr/>
          <p:nvPr/>
        </p:nvSpPr>
        <p:spPr>
          <a:xfrm>
            <a:off x="0" y="6671732"/>
            <a:ext cx="3069166" cy="186267"/>
          </a:xfrm>
          <a:prstGeom prst="rect">
            <a:avLst/>
          </a:prstGeom>
          <a:solidFill>
            <a:srgbClr val="8B30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t>Luo Zhou et al.</a:t>
            </a:r>
            <a:endParaRPr kumimoji="1" lang="zh-CN" altLang="en-US" sz="1200" dirty="0"/>
          </a:p>
        </p:txBody>
      </p:sp>
      <p:sp>
        <p:nvSpPr>
          <p:cNvPr id="13" name="矩形 12">
            <a:extLst>
              <a:ext uri="{FF2B5EF4-FFF2-40B4-BE49-F238E27FC236}">
                <a16:creationId xmlns:a16="http://schemas.microsoft.com/office/drawing/2014/main" id="{F34D8F6A-E87C-8145-BE0C-C609627D4B7C}"/>
              </a:ext>
            </a:extLst>
          </p:cNvPr>
          <p:cNvSpPr/>
          <p:nvPr/>
        </p:nvSpPr>
        <p:spPr>
          <a:xfrm>
            <a:off x="3069166" y="6671732"/>
            <a:ext cx="3005666" cy="186268"/>
          </a:xfrm>
          <a:prstGeom prst="rect">
            <a:avLst/>
          </a:prstGeom>
          <a:solidFill>
            <a:srgbClr val="9141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t>Donghua University</a:t>
            </a:r>
            <a:endParaRPr kumimoji="1" lang="zh-CN" altLang="en-US" sz="1200" dirty="0"/>
          </a:p>
        </p:txBody>
      </p:sp>
      <p:sp>
        <p:nvSpPr>
          <p:cNvPr id="15" name="矩形 14">
            <a:extLst>
              <a:ext uri="{FF2B5EF4-FFF2-40B4-BE49-F238E27FC236}">
                <a16:creationId xmlns:a16="http://schemas.microsoft.com/office/drawing/2014/main" id="{56D33D00-85D6-064B-A329-4FA724561018}"/>
              </a:ext>
            </a:extLst>
          </p:cNvPr>
          <p:cNvSpPr/>
          <p:nvPr/>
        </p:nvSpPr>
        <p:spPr>
          <a:xfrm>
            <a:off x="6074832" y="6671731"/>
            <a:ext cx="2374901" cy="186268"/>
          </a:xfrm>
          <a:prstGeom prst="rect">
            <a:avLst/>
          </a:prstGeom>
          <a:solidFill>
            <a:srgbClr val="9C53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t>2025.07.21</a:t>
            </a:r>
            <a:endParaRPr kumimoji="1" lang="zh-CN" altLang="en-US" sz="1200" dirty="0"/>
          </a:p>
        </p:txBody>
      </p:sp>
      <p:sp>
        <p:nvSpPr>
          <p:cNvPr id="16" name="矩形 15">
            <a:extLst>
              <a:ext uri="{FF2B5EF4-FFF2-40B4-BE49-F238E27FC236}">
                <a16:creationId xmlns:a16="http://schemas.microsoft.com/office/drawing/2014/main" id="{86551296-CD29-084E-9713-D38000C31A77}"/>
              </a:ext>
            </a:extLst>
          </p:cNvPr>
          <p:cNvSpPr/>
          <p:nvPr/>
        </p:nvSpPr>
        <p:spPr>
          <a:xfrm>
            <a:off x="8106833" y="6671730"/>
            <a:ext cx="1037167" cy="186270"/>
          </a:xfrm>
          <a:prstGeom prst="rect">
            <a:avLst/>
          </a:prstGeom>
          <a:solidFill>
            <a:srgbClr val="9D53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t>4/35</a:t>
            </a:r>
            <a:endParaRPr kumimoji="1" lang="zh-CN" altLang="en-US" sz="1200" dirty="0"/>
          </a:p>
        </p:txBody>
      </p:sp>
      <p:sp>
        <p:nvSpPr>
          <p:cNvPr id="18" name="矩形 17">
            <a:extLst>
              <a:ext uri="{FF2B5EF4-FFF2-40B4-BE49-F238E27FC236}">
                <a16:creationId xmlns:a16="http://schemas.microsoft.com/office/drawing/2014/main" id="{0C7C7718-50BC-064C-A6C9-83D2313EAFC4}"/>
              </a:ext>
            </a:extLst>
          </p:cNvPr>
          <p:cNvSpPr/>
          <p:nvPr/>
        </p:nvSpPr>
        <p:spPr>
          <a:xfrm>
            <a:off x="-1" y="0"/>
            <a:ext cx="9143995" cy="246920"/>
          </a:xfrm>
          <a:prstGeom prst="rect">
            <a:avLst/>
          </a:prstGeom>
          <a:solidFill>
            <a:srgbClr val="8B30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t>Background</a:t>
            </a:r>
            <a:endParaRPr kumimoji="1" lang="zh-CN" altLang="en-US" sz="1200" dirty="0"/>
          </a:p>
        </p:txBody>
      </p:sp>
      <p:sp>
        <p:nvSpPr>
          <p:cNvPr id="2" name="矩形 1">
            <a:extLst>
              <a:ext uri="{FF2B5EF4-FFF2-40B4-BE49-F238E27FC236}">
                <a16:creationId xmlns:a16="http://schemas.microsoft.com/office/drawing/2014/main" id="{D29C7C69-602C-7844-B74B-2FCBDCA056A0}"/>
              </a:ext>
            </a:extLst>
          </p:cNvPr>
          <p:cNvSpPr/>
          <p:nvPr/>
        </p:nvSpPr>
        <p:spPr>
          <a:xfrm>
            <a:off x="0" y="246919"/>
            <a:ext cx="9143996" cy="48121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zh-CN" sz="2400" dirty="0">
                <a:solidFill>
                  <a:srgbClr val="8B302D"/>
                </a:solidFill>
                <a:latin typeface="+mj-lt"/>
                <a:ea typeface="PingFang SC" panose="020B0400000000000000" pitchFamily="34" charset="-122"/>
                <a:cs typeface="Arial" panose="020B0604020202020204" pitchFamily="34" charset="0"/>
              </a:rPr>
              <a:t>   The Growing Era of Smart Wearables</a:t>
            </a:r>
            <a:endParaRPr kumimoji="1" lang="zh-CN" altLang="en-US" dirty="0">
              <a:solidFill>
                <a:srgbClr val="8B302D"/>
              </a:solidFill>
              <a:latin typeface="+mj-lt"/>
              <a:ea typeface="PingFang SC" panose="020B0400000000000000" pitchFamily="34" charset="-122"/>
              <a:cs typeface="Arial" panose="020B0604020202020204" pitchFamily="34" charset="0"/>
            </a:endParaRPr>
          </a:p>
        </p:txBody>
      </p:sp>
      <p:sp>
        <p:nvSpPr>
          <p:cNvPr id="6" name="文本框 5">
            <a:extLst>
              <a:ext uri="{FF2B5EF4-FFF2-40B4-BE49-F238E27FC236}">
                <a16:creationId xmlns:a16="http://schemas.microsoft.com/office/drawing/2014/main" id="{2BFDAD51-72B3-6940-BED8-22F7136D5E93}"/>
              </a:ext>
            </a:extLst>
          </p:cNvPr>
          <p:cNvSpPr txBox="1"/>
          <p:nvPr/>
        </p:nvSpPr>
        <p:spPr>
          <a:xfrm>
            <a:off x="273989" y="3831063"/>
            <a:ext cx="4021667" cy="769441"/>
          </a:xfrm>
          <a:prstGeom prst="rect">
            <a:avLst/>
          </a:prstGeom>
          <a:noFill/>
        </p:spPr>
        <p:txBody>
          <a:bodyPr wrap="square" rtlCol="0">
            <a:spAutoFit/>
          </a:bodyPr>
          <a:lstStyle/>
          <a:p>
            <a:pPr algn="ctr"/>
            <a:r>
              <a:rPr kumimoji="1" lang="en-US" altLang="zh-CN" sz="2400" b="1" dirty="0">
                <a:solidFill>
                  <a:srgbClr val="8B302D"/>
                </a:solidFill>
              </a:rPr>
              <a:t>$114B Market by 2033</a:t>
            </a:r>
          </a:p>
          <a:p>
            <a:pPr algn="ctr"/>
            <a:r>
              <a:rPr kumimoji="1" lang="en-US" altLang="zh-CN" sz="2000" dirty="0"/>
              <a:t>17% Annual Growth Rate</a:t>
            </a:r>
            <a:endParaRPr kumimoji="1" lang="zh-CN" altLang="en-US" sz="2000" dirty="0"/>
          </a:p>
        </p:txBody>
      </p:sp>
      <p:pic>
        <p:nvPicPr>
          <p:cNvPr id="7" name="图片 6">
            <a:extLst>
              <a:ext uri="{FF2B5EF4-FFF2-40B4-BE49-F238E27FC236}">
                <a16:creationId xmlns:a16="http://schemas.microsoft.com/office/drawing/2014/main" id="{1B4DBEBE-82CF-C244-B6B3-7DF4B3D1E4F6}"/>
              </a:ext>
            </a:extLst>
          </p:cNvPr>
          <p:cNvPicPr>
            <a:picLocks noChangeAspect="1"/>
          </p:cNvPicPr>
          <p:nvPr/>
        </p:nvPicPr>
        <p:blipFill>
          <a:blip r:embed="rId3"/>
          <a:stretch>
            <a:fillRect/>
          </a:stretch>
        </p:blipFill>
        <p:spPr>
          <a:xfrm>
            <a:off x="4660638" y="1193786"/>
            <a:ext cx="3964778" cy="2209801"/>
          </a:xfrm>
          <a:prstGeom prst="rect">
            <a:avLst/>
          </a:prstGeom>
        </p:spPr>
      </p:pic>
      <p:sp>
        <p:nvSpPr>
          <p:cNvPr id="8" name="文本框 7">
            <a:extLst>
              <a:ext uri="{FF2B5EF4-FFF2-40B4-BE49-F238E27FC236}">
                <a16:creationId xmlns:a16="http://schemas.microsoft.com/office/drawing/2014/main" id="{35D768A2-ED5E-1741-85DF-FA3AC41DED5B}"/>
              </a:ext>
            </a:extLst>
          </p:cNvPr>
          <p:cNvSpPr txBox="1"/>
          <p:nvPr/>
        </p:nvSpPr>
        <p:spPr>
          <a:xfrm>
            <a:off x="5378033" y="3831063"/>
            <a:ext cx="2529988" cy="769441"/>
          </a:xfrm>
          <a:prstGeom prst="rect">
            <a:avLst/>
          </a:prstGeom>
          <a:noFill/>
        </p:spPr>
        <p:txBody>
          <a:bodyPr wrap="none" rtlCol="0">
            <a:spAutoFit/>
          </a:bodyPr>
          <a:lstStyle/>
          <a:p>
            <a:pPr algn="ctr"/>
            <a:r>
              <a:rPr kumimoji="1" lang="en-US" altLang="zh-CN" sz="2000" dirty="0"/>
              <a:t>From Audio Devices to</a:t>
            </a:r>
          </a:p>
          <a:p>
            <a:pPr algn="ctr"/>
            <a:r>
              <a:rPr kumimoji="1" lang="en-US" altLang="zh-CN" sz="2400" b="1" dirty="0">
                <a:solidFill>
                  <a:srgbClr val="8B302D"/>
                </a:solidFill>
              </a:rPr>
              <a:t>IoT Gateways</a:t>
            </a:r>
            <a:endParaRPr kumimoji="1" lang="zh-CN" altLang="en-US" sz="2400" b="1" dirty="0">
              <a:solidFill>
                <a:srgbClr val="8B302D"/>
              </a:solidFill>
            </a:endParaRPr>
          </a:p>
        </p:txBody>
      </p:sp>
      <p:sp>
        <p:nvSpPr>
          <p:cNvPr id="21" name="燕尾形箭头 20">
            <a:extLst>
              <a:ext uri="{FF2B5EF4-FFF2-40B4-BE49-F238E27FC236}">
                <a16:creationId xmlns:a16="http://schemas.microsoft.com/office/drawing/2014/main" id="{DBBC0BA8-24EA-B645-B487-A85A53151652}"/>
              </a:ext>
            </a:extLst>
          </p:cNvPr>
          <p:cNvSpPr/>
          <p:nvPr/>
        </p:nvSpPr>
        <p:spPr>
          <a:xfrm rot="5400000">
            <a:off x="4171123" y="4627281"/>
            <a:ext cx="629553" cy="372279"/>
          </a:xfrm>
          <a:prstGeom prst="notchedRightArrow">
            <a:avLst/>
          </a:prstGeom>
          <a:solidFill>
            <a:srgbClr val="003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nvGrpSpPr>
          <p:cNvPr id="22" name="组合 21">
            <a:extLst>
              <a:ext uri="{FF2B5EF4-FFF2-40B4-BE49-F238E27FC236}">
                <a16:creationId xmlns:a16="http://schemas.microsoft.com/office/drawing/2014/main" id="{80C49595-3A4F-114B-84E0-6ACF1D820C00}"/>
              </a:ext>
            </a:extLst>
          </p:cNvPr>
          <p:cNvGrpSpPr/>
          <p:nvPr/>
        </p:nvGrpSpPr>
        <p:grpSpPr>
          <a:xfrm>
            <a:off x="2900893" y="5377309"/>
            <a:ext cx="3519490" cy="738767"/>
            <a:chOff x="5105926" y="5636415"/>
            <a:chExt cx="3519490" cy="738767"/>
          </a:xfrm>
        </p:grpSpPr>
        <p:sp>
          <p:nvSpPr>
            <p:cNvPr id="10" name="文本框 9">
              <a:extLst>
                <a:ext uri="{FF2B5EF4-FFF2-40B4-BE49-F238E27FC236}">
                  <a16:creationId xmlns:a16="http://schemas.microsoft.com/office/drawing/2014/main" id="{5CEE3E45-C0AD-B241-A113-2FAA3A2C3961}"/>
                </a:ext>
              </a:extLst>
            </p:cNvPr>
            <p:cNvSpPr txBox="1"/>
            <p:nvPr/>
          </p:nvSpPr>
          <p:spPr>
            <a:xfrm>
              <a:off x="5105926" y="5636415"/>
              <a:ext cx="1649811" cy="369332"/>
            </a:xfrm>
            <a:prstGeom prst="rect">
              <a:avLst/>
            </a:prstGeom>
            <a:noFill/>
          </p:spPr>
          <p:txBody>
            <a:bodyPr wrap="none" rtlCol="0">
              <a:spAutoFit/>
            </a:bodyPr>
            <a:lstStyle/>
            <a:p>
              <a:pPr marL="285750" indent="-285750">
                <a:buFont typeface="Wingdings" pitchFamily="2" charset="2"/>
                <a:buChar char="l"/>
              </a:pPr>
              <a:r>
                <a:rPr kumimoji="1" lang="en-US" altLang="zh-CN" dirty="0"/>
                <a:t>Smart Home</a:t>
              </a:r>
              <a:endParaRPr kumimoji="1" lang="zh-CN" altLang="en-US" dirty="0"/>
            </a:p>
          </p:txBody>
        </p:sp>
        <p:sp>
          <p:nvSpPr>
            <p:cNvPr id="11" name="文本框 10">
              <a:extLst>
                <a:ext uri="{FF2B5EF4-FFF2-40B4-BE49-F238E27FC236}">
                  <a16:creationId xmlns:a16="http://schemas.microsoft.com/office/drawing/2014/main" id="{CAA15D33-5691-6C4F-AD5A-87193DB132A3}"/>
                </a:ext>
              </a:extLst>
            </p:cNvPr>
            <p:cNvSpPr txBox="1"/>
            <p:nvPr/>
          </p:nvSpPr>
          <p:spPr>
            <a:xfrm>
              <a:off x="5105926" y="6005747"/>
              <a:ext cx="1383584" cy="369332"/>
            </a:xfrm>
            <a:prstGeom prst="rect">
              <a:avLst/>
            </a:prstGeom>
            <a:noFill/>
          </p:spPr>
          <p:txBody>
            <a:bodyPr wrap="none" rtlCol="0">
              <a:spAutoFit/>
            </a:bodyPr>
            <a:lstStyle/>
            <a:p>
              <a:pPr marL="285750" indent="-285750">
                <a:buFont typeface="Wingdings" pitchFamily="2" charset="2"/>
                <a:buChar char="l"/>
              </a:pPr>
              <a:r>
                <a:rPr kumimoji="1" lang="en-US" altLang="zh-CN" dirty="0"/>
                <a:t>Payments</a:t>
              </a:r>
              <a:endParaRPr kumimoji="1" lang="zh-CN" altLang="en-US" dirty="0"/>
            </a:p>
          </p:txBody>
        </p:sp>
        <p:sp>
          <p:nvSpPr>
            <p:cNvPr id="17" name="文本框 16">
              <a:extLst>
                <a:ext uri="{FF2B5EF4-FFF2-40B4-BE49-F238E27FC236}">
                  <a16:creationId xmlns:a16="http://schemas.microsoft.com/office/drawing/2014/main" id="{E124DD13-7AD9-FD48-B24D-6DB8D15440D4}"/>
                </a:ext>
              </a:extLst>
            </p:cNvPr>
            <p:cNvSpPr txBox="1"/>
            <p:nvPr/>
          </p:nvSpPr>
          <p:spPr>
            <a:xfrm>
              <a:off x="6755737" y="5636415"/>
              <a:ext cx="1226554" cy="369332"/>
            </a:xfrm>
            <a:prstGeom prst="rect">
              <a:avLst/>
            </a:prstGeom>
            <a:noFill/>
          </p:spPr>
          <p:txBody>
            <a:bodyPr wrap="none" rtlCol="0">
              <a:spAutoFit/>
            </a:bodyPr>
            <a:lstStyle/>
            <a:p>
              <a:pPr marL="285750" indent="-285750">
                <a:buFont typeface="Wingdings" pitchFamily="2" charset="2"/>
                <a:buChar char="l"/>
              </a:pPr>
              <a:r>
                <a:rPr kumimoji="1" lang="en-US" altLang="zh-CN" dirty="0"/>
                <a:t>Voice AI</a:t>
              </a:r>
              <a:endParaRPr kumimoji="1" lang="zh-CN" altLang="en-US" dirty="0"/>
            </a:p>
          </p:txBody>
        </p:sp>
        <p:sp>
          <p:nvSpPr>
            <p:cNvPr id="20" name="文本框 19">
              <a:extLst>
                <a:ext uri="{FF2B5EF4-FFF2-40B4-BE49-F238E27FC236}">
                  <a16:creationId xmlns:a16="http://schemas.microsoft.com/office/drawing/2014/main" id="{4ABF87D5-0B51-2040-BDA6-49B93B07EDF4}"/>
                </a:ext>
              </a:extLst>
            </p:cNvPr>
            <p:cNvSpPr txBox="1"/>
            <p:nvPr/>
          </p:nvSpPr>
          <p:spPr>
            <a:xfrm>
              <a:off x="6755737" y="6005850"/>
              <a:ext cx="1869679" cy="369332"/>
            </a:xfrm>
            <a:prstGeom prst="rect">
              <a:avLst/>
            </a:prstGeom>
            <a:noFill/>
          </p:spPr>
          <p:txBody>
            <a:bodyPr wrap="none" rtlCol="0">
              <a:spAutoFit/>
            </a:bodyPr>
            <a:lstStyle/>
            <a:p>
              <a:pPr marL="285750" indent="-285750">
                <a:buFont typeface="Wingdings" pitchFamily="2" charset="2"/>
                <a:buChar char="l"/>
              </a:pPr>
              <a:r>
                <a:rPr kumimoji="1" lang="en-US" altLang="zh-CN" dirty="0"/>
                <a:t>Authentication</a:t>
              </a:r>
              <a:endParaRPr kumimoji="1" lang="zh-CN" altLang="en-US" dirty="0"/>
            </a:p>
          </p:txBody>
        </p:sp>
      </p:grpSp>
      <p:sp>
        <p:nvSpPr>
          <p:cNvPr id="23" name="矩形 22">
            <a:extLst>
              <a:ext uri="{FF2B5EF4-FFF2-40B4-BE49-F238E27FC236}">
                <a16:creationId xmlns:a16="http://schemas.microsoft.com/office/drawing/2014/main" id="{0451FFD8-9E26-844B-9455-777B3A1A501C}"/>
              </a:ext>
            </a:extLst>
          </p:cNvPr>
          <p:cNvSpPr/>
          <p:nvPr/>
        </p:nvSpPr>
        <p:spPr>
          <a:xfrm>
            <a:off x="2743200" y="5188848"/>
            <a:ext cx="3759200" cy="1049693"/>
          </a:xfrm>
          <a:prstGeom prst="rect">
            <a:avLst/>
          </a:prstGeom>
          <a:noFill/>
          <a:ln w="19050">
            <a:solidFill>
              <a:schemeClr val="bg1">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pic>
        <p:nvPicPr>
          <p:cNvPr id="26" name="图片 25">
            <a:extLst>
              <a:ext uri="{FF2B5EF4-FFF2-40B4-BE49-F238E27FC236}">
                <a16:creationId xmlns:a16="http://schemas.microsoft.com/office/drawing/2014/main" id="{F5E07DA0-11FE-3B4A-A022-CA7C641AA880}"/>
              </a:ext>
            </a:extLst>
          </p:cNvPr>
          <p:cNvPicPr>
            <a:picLocks noChangeAspect="1"/>
          </p:cNvPicPr>
          <p:nvPr/>
        </p:nvPicPr>
        <p:blipFill>
          <a:blip r:embed="rId4"/>
          <a:stretch>
            <a:fillRect/>
          </a:stretch>
        </p:blipFill>
        <p:spPr>
          <a:xfrm>
            <a:off x="518584" y="964284"/>
            <a:ext cx="3611478" cy="2882452"/>
          </a:xfrm>
          <a:prstGeom prst="rect">
            <a:avLst/>
          </a:prstGeom>
        </p:spPr>
      </p:pic>
    </p:spTree>
    <p:extLst>
      <p:ext uri="{BB962C8B-B14F-4D97-AF65-F5344CB8AC3E}">
        <p14:creationId xmlns:p14="http://schemas.microsoft.com/office/powerpoint/2010/main" val="691944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a:extLst>
              <a:ext uri="{FF2B5EF4-FFF2-40B4-BE49-F238E27FC236}">
                <a16:creationId xmlns:a16="http://schemas.microsoft.com/office/drawing/2014/main" id="{7298F338-BF45-D446-A7EB-9738B9AF0B49}"/>
              </a:ext>
            </a:extLst>
          </p:cNvPr>
          <p:cNvSpPr/>
          <p:nvPr/>
        </p:nvSpPr>
        <p:spPr>
          <a:xfrm>
            <a:off x="0" y="6671732"/>
            <a:ext cx="3069166" cy="186267"/>
          </a:xfrm>
          <a:prstGeom prst="rect">
            <a:avLst/>
          </a:prstGeom>
          <a:solidFill>
            <a:srgbClr val="8B30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t>Luo Zhou et al.</a:t>
            </a:r>
            <a:endParaRPr kumimoji="1" lang="zh-CN" altLang="en-US" sz="1200" dirty="0"/>
          </a:p>
        </p:txBody>
      </p:sp>
      <p:sp>
        <p:nvSpPr>
          <p:cNvPr id="13" name="矩形 12">
            <a:extLst>
              <a:ext uri="{FF2B5EF4-FFF2-40B4-BE49-F238E27FC236}">
                <a16:creationId xmlns:a16="http://schemas.microsoft.com/office/drawing/2014/main" id="{F34D8F6A-E87C-8145-BE0C-C609627D4B7C}"/>
              </a:ext>
            </a:extLst>
          </p:cNvPr>
          <p:cNvSpPr/>
          <p:nvPr/>
        </p:nvSpPr>
        <p:spPr>
          <a:xfrm>
            <a:off x="3069166" y="6671732"/>
            <a:ext cx="3005666" cy="186268"/>
          </a:xfrm>
          <a:prstGeom prst="rect">
            <a:avLst/>
          </a:prstGeom>
          <a:solidFill>
            <a:srgbClr val="9141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t>Donghua University</a:t>
            </a:r>
            <a:endParaRPr kumimoji="1" lang="zh-CN" altLang="en-US" sz="1200" dirty="0"/>
          </a:p>
        </p:txBody>
      </p:sp>
      <p:sp>
        <p:nvSpPr>
          <p:cNvPr id="15" name="矩形 14">
            <a:extLst>
              <a:ext uri="{FF2B5EF4-FFF2-40B4-BE49-F238E27FC236}">
                <a16:creationId xmlns:a16="http://schemas.microsoft.com/office/drawing/2014/main" id="{56D33D00-85D6-064B-A329-4FA724561018}"/>
              </a:ext>
            </a:extLst>
          </p:cNvPr>
          <p:cNvSpPr/>
          <p:nvPr/>
        </p:nvSpPr>
        <p:spPr>
          <a:xfrm>
            <a:off x="6074832" y="6671731"/>
            <a:ext cx="2374901" cy="186268"/>
          </a:xfrm>
          <a:prstGeom prst="rect">
            <a:avLst/>
          </a:prstGeom>
          <a:solidFill>
            <a:srgbClr val="9C53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t>2025.07.21</a:t>
            </a:r>
            <a:endParaRPr kumimoji="1" lang="zh-CN" altLang="en-US" sz="1200" dirty="0"/>
          </a:p>
        </p:txBody>
      </p:sp>
      <p:sp>
        <p:nvSpPr>
          <p:cNvPr id="16" name="矩形 15">
            <a:extLst>
              <a:ext uri="{FF2B5EF4-FFF2-40B4-BE49-F238E27FC236}">
                <a16:creationId xmlns:a16="http://schemas.microsoft.com/office/drawing/2014/main" id="{86551296-CD29-084E-9713-D38000C31A77}"/>
              </a:ext>
            </a:extLst>
          </p:cNvPr>
          <p:cNvSpPr/>
          <p:nvPr/>
        </p:nvSpPr>
        <p:spPr>
          <a:xfrm>
            <a:off x="8106833" y="6671730"/>
            <a:ext cx="1037167" cy="186270"/>
          </a:xfrm>
          <a:prstGeom prst="rect">
            <a:avLst/>
          </a:prstGeom>
          <a:solidFill>
            <a:srgbClr val="9D53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t>5/35</a:t>
            </a:r>
            <a:endParaRPr kumimoji="1" lang="zh-CN" altLang="en-US" sz="1200" dirty="0"/>
          </a:p>
        </p:txBody>
      </p:sp>
      <p:sp>
        <p:nvSpPr>
          <p:cNvPr id="2" name="矩形 1">
            <a:extLst>
              <a:ext uri="{FF2B5EF4-FFF2-40B4-BE49-F238E27FC236}">
                <a16:creationId xmlns:a16="http://schemas.microsoft.com/office/drawing/2014/main" id="{D29C7C69-602C-7844-B74B-2FCBDCA056A0}"/>
              </a:ext>
            </a:extLst>
          </p:cNvPr>
          <p:cNvSpPr/>
          <p:nvPr/>
        </p:nvSpPr>
        <p:spPr>
          <a:xfrm>
            <a:off x="0" y="246919"/>
            <a:ext cx="9143996" cy="48121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zh-CN" sz="2400" dirty="0">
                <a:solidFill>
                  <a:srgbClr val="8B302D"/>
                </a:solidFill>
                <a:latin typeface="+mj-lt"/>
                <a:ea typeface="PingFang SC" panose="020B0400000000000000" pitchFamily="34" charset="-122"/>
                <a:cs typeface="Arial" panose="020B0604020202020204" pitchFamily="34" charset="0"/>
              </a:rPr>
              <a:t>   Current Authentication Methods: Limitations</a:t>
            </a:r>
            <a:endParaRPr kumimoji="1" lang="zh-CN" altLang="en-US" dirty="0">
              <a:solidFill>
                <a:srgbClr val="8B302D"/>
              </a:solidFill>
              <a:latin typeface="+mj-lt"/>
              <a:ea typeface="PingFang SC" panose="020B0400000000000000" pitchFamily="34" charset="-122"/>
              <a:cs typeface="Arial" panose="020B0604020202020204" pitchFamily="34" charset="0"/>
            </a:endParaRPr>
          </a:p>
        </p:txBody>
      </p:sp>
      <p:sp>
        <p:nvSpPr>
          <p:cNvPr id="3" name="文本框 2">
            <a:extLst>
              <a:ext uri="{FF2B5EF4-FFF2-40B4-BE49-F238E27FC236}">
                <a16:creationId xmlns:a16="http://schemas.microsoft.com/office/drawing/2014/main" id="{3EBBA874-78F0-5C4F-B0A3-E56ECCEC1B9D}"/>
              </a:ext>
            </a:extLst>
          </p:cNvPr>
          <p:cNvSpPr txBox="1"/>
          <p:nvPr/>
        </p:nvSpPr>
        <p:spPr>
          <a:xfrm>
            <a:off x="903672" y="2894366"/>
            <a:ext cx="1717906" cy="400110"/>
          </a:xfrm>
          <a:prstGeom prst="rect">
            <a:avLst/>
          </a:prstGeom>
          <a:noFill/>
        </p:spPr>
        <p:txBody>
          <a:bodyPr wrap="none" rtlCol="0">
            <a:spAutoFit/>
          </a:bodyPr>
          <a:lstStyle/>
          <a:p>
            <a:r>
              <a:rPr kumimoji="1" lang="en-US" altLang="zh-CN" sz="2000" dirty="0"/>
              <a:t>Activity-based</a:t>
            </a:r>
            <a:endParaRPr kumimoji="1" lang="zh-CN" altLang="en-US" sz="2000" dirty="0"/>
          </a:p>
        </p:txBody>
      </p:sp>
      <p:pic>
        <p:nvPicPr>
          <p:cNvPr id="4" name="图片 3">
            <a:extLst>
              <a:ext uri="{FF2B5EF4-FFF2-40B4-BE49-F238E27FC236}">
                <a16:creationId xmlns:a16="http://schemas.microsoft.com/office/drawing/2014/main" id="{8A040B4E-C5D1-7E41-BE9A-6FFD103D68A9}"/>
              </a:ext>
            </a:extLst>
          </p:cNvPr>
          <p:cNvPicPr>
            <a:picLocks noChangeAspect="1"/>
          </p:cNvPicPr>
          <p:nvPr/>
        </p:nvPicPr>
        <p:blipFill>
          <a:blip r:embed="rId3">
            <a:extLst>
              <a:ext uri="{BEBA8EAE-BF5A-486C-A8C5-ECC9F3942E4B}">
                <a14:imgProps xmlns:a14="http://schemas.microsoft.com/office/drawing/2010/main">
                  <a14:imgLayer r:embed="rId4">
                    <a14:imgEffect>
                      <a14:saturation sat="66000"/>
                    </a14:imgEffect>
                  </a14:imgLayer>
                </a14:imgProps>
              </a:ext>
            </a:extLst>
          </a:blip>
          <a:stretch>
            <a:fillRect/>
          </a:stretch>
        </p:blipFill>
        <p:spPr>
          <a:xfrm>
            <a:off x="679488" y="1171119"/>
            <a:ext cx="2166273" cy="1686928"/>
          </a:xfrm>
          <a:prstGeom prst="rect">
            <a:avLst/>
          </a:prstGeom>
        </p:spPr>
      </p:pic>
      <p:pic>
        <p:nvPicPr>
          <p:cNvPr id="5" name="图片 4">
            <a:extLst>
              <a:ext uri="{FF2B5EF4-FFF2-40B4-BE49-F238E27FC236}">
                <a16:creationId xmlns:a16="http://schemas.microsoft.com/office/drawing/2014/main" id="{8C12E977-285E-8B47-91B4-234377EA2297}"/>
              </a:ext>
            </a:extLst>
          </p:cNvPr>
          <p:cNvPicPr>
            <a:picLocks noChangeAspect="1"/>
          </p:cNvPicPr>
          <p:nvPr/>
        </p:nvPicPr>
        <p:blipFill>
          <a:blip r:embed="rId5"/>
          <a:stretch>
            <a:fillRect/>
          </a:stretch>
        </p:blipFill>
        <p:spPr>
          <a:xfrm>
            <a:off x="2666649" y="4293136"/>
            <a:ext cx="3786853" cy="1995611"/>
          </a:xfrm>
          <a:prstGeom prst="rect">
            <a:avLst/>
          </a:prstGeom>
        </p:spPr>
      </p:pic>
      <p:sp>
        <p:nvSpPr>
          <p:cNvPr id="6" name="文本框 5">
            <a:extLst>
              <a:ext uri="{FF2B5EF4-FFF2-40B4-BE49-F238E27FC236}">
                <a16:creationId xmlns:a16="http://schemas.microsoft.com/office/drawing/2014/main" id="{1F21EDDA-DB00-2C4F-A83C-2CD7F16F2D21}"/>
              </a:ext>
            </a:extLst>
          </p:cNvPr>
          <p:cNvSpPr txBox="1"/>
          <p:nvPr/>
        </p:nvSpPr>
        <p:spPr>
          <a:xfrm>
            <a:off x="588616" y="3362919"/>
            <a:ext cx="2348015" cy="861774"/>
          </a:xfrm>
          <a:prstGeom prst="rect">
            <a:avLst/>
          </a:prstGeom>
          <a:noFill/>
          <a:ln w="19050">
            <a:solidFill>
              <a:schemeClr val="bg1">
                <a:lumMod val="85000"/>
              </a:schemeClr>
            </a:solidFill>
          </a:ln>
        </p:spPr>
        <p:txBody>
          <a:bodyPr wrap="none" rtlCol="0">
            <a:spAutoFit/>
          </a:bodyPr>
          <a:lstStyle/>
          <a:p>
            <a:pPr marL="285750" indent="-285750">
              <a:buFont typeface="Arial" panose="020B0604020202020204" pitchFamily="34" charset="0"/>
              <a:buChar char="•"/>
            </a:pPr>
            <a:r>
              <a:rPr kumimoji="1" lang="en-US" altLang="zh-CN" sz="1600" dirty="0"/>
              <a:t>Voiceprint</a:t>
            </a:r>
          </a:p>
          <a:p>
            <a:pPr marL="285750" indent="-285750">
              <a:buFont typeface="Arial" panose="020B0604020202020204" pitchFamily="34" charset="0"/>
              <a:buChar char="•"/>
            </a:pPr>
            <a:r>
              <a:rPr kumimoji="1" lang="en-US" altLang="zh-CN" sz="1600" dirty="0"/>
              <a:t>Facial muscle motions </a:t>
            </a:r>
          </a:p>
          <a:p>
            <a:pPr marL="285750" indent="-285750">
              <a:buFont typeface="Arial" panose="020B0604020202020204" pitchFamily="34" charset="0"/>
              <a:buChar char="•"/>
            </a:pPr>
            <a:r>
              <a:rPr kumimoji="1" lang="en-US" altLang="zh-CN" sz="1600" dirty="0"/>
              <a:t>Acoustic resonance</a:t>
            </a:r>
            <a:endParaRPr kumimoji="1" lang="zh-CN" altLang="en-US" sz="1600" dirty="0"/>
          </a:p>
        </p:txBody>
      </p:sp>
      <p:sp>
        <p:nvSpPr>
          <p:cNvPr id="20" name="文本框 19">
            <a:extLst>
              <a:ext uri="{FF2B5EF4-FFF2-40B4-BE49-F238E27FC236}">
                <a16:creationId xmlns:a16="http://schemas.microsoft.com/office/drawing/2014/main" id="{F66C3B0F-5109-AC4D-928D-9F52D1547E58}"/>
              </a:ext>
            </a:extLst>
          </p:cNvPr>
          <p:cNvSpPr txBox="1"/>
          <p:nvPr/>
        </p:nvSpPr>
        <p:spPr>
          <a:xfrm>
            <a:off x="3550090" y="2906352"/>
            <a:ext cx="2025747" cy="400110"/>
          </a:xfrm>
          <a:prstGeom prst="rect">
            <a:avLst/>
          </a:prstGeom>
          <a:noFill/>
        </p:spPr>
        <p:txBody>
          <a:bodyPr wrap="none" rtlCol="0">
            <a:spAutoFit/>
          </a:bodyPr>
          <a:lstStyle/>
          <a:p>
            <a:r>
              <a:rPr kumimoji="1" lang="en-US" altLang="zh-CN" sz="2000" dirty="0"/>
              <a:t>Interaction-based</a:t>
            </a:r>
            <a:endParaRPr kumimoji="1" lang="zh-CN" altLang="en-US" sz="2000" dirty="0"/>
          </a:p>
        </p:txBody>
      </p:sp>
      <p:sp>
        <p:nvSpPr>
          <p:cNvPr id="22" name="文本框 21">
            <a:extLst>
              <a:ext uri="{FF2B5EF4-FFF2-40B4-BE49-F238E27FC236}">
                <a16:creationId xmlns:a16="http://schemas.microsoft.com/office/drawing/2014/main" id="{1D6B0852-EE46-0F43-B0C5-34B79A969C66}"/>
              </a:ext>
            </a:extLst>
          </p:cNvPr>
          <p:cNvSpPr txBox="1"/>
          <p:nvPr/>
        </p:nvSpPr>
        <p:spPr>
          <a:xfrm>
            <a:off x="3637997" y="3359115"/>
            <a:ext cx="1844159" cy="584775"/>
          </a:xfrm>
          <a:prstGeom prst="rect">
            <a:avLst/>
          </a:prstGeom>
          <a:noFill/>
          <a:ln w="19050">
            <a:solidFill>
              <a:schemeClr val="bg1">
                <a:lumMod val="85000"/>
              </a:schemeClr>
            </a:solidFill>
          </a:ln>
        </p:spPr>
        <p:txBody>
          <a:bodyPr wrap="none" rtlCol="0">
            <a:spAutoFit/>
          </a:bodyPr>
          <a:lstStyle/>
          <a:p>
            <a:pPr marL="285750" indent="-285750">
              <a:buFont typeface="Arial" panose="020B0604020202020204" pitchFamily="34" charset="0"/>
              <a:buChar char="•"/>
            </a:pPr>
            <a:r>
              <a:rPr kumimoji="1" lang="en-US" altLang="zh-CN" sz="1600" dirty="0"/>
              <a:t>Dental occlusion</a:t>
            </a:r>
          </a:p>
          <a:p>
            <a:pPr marL="285750" indent="-285750">
              <a:buFont typeface="Arial" panose="020B0604020202020204" pitchFamily="34" charset="0"/>
              <a:buChar char="•"/>
            </a:pPr>
            <a:r>
              <a:rPr kumimoji="1" lang="en-US" altLang="zh-CN" sz="1600" dirty="0"/>
              <a:t>Sliding fingers</a:t>
            </a:r>
          </a:p>
        </p:txBody>
      </p:sp>
      <p:sp>
        <p:nvSpPr>
          <p:cNvPr id="23" name="文本框 22">
            <a:extLst>
              <a:ext uri="{FF2B5EF4-FFF2-40B4-BE49-F238E27FC236}">
                <a16:creationId xmlns:a16="http://schemas.microsoft.com/office/drawing/2014/main" id="{BCA5413E-B345-054A-B015-900CEC926A26}"/>
              </a:ext>
            </a:extLst>
          </p:cNvPr>
          <p:cNvSpPr txBox="1"/>
          <p:nvPr/>
        </p:nvSpPr>
        <p:spPr>
          <a:xfrm>
            <a:off x="6683923" y="2903782"/>
            <a:ext cx="1895327" cy="400110"/>
          </a:xfrm>
          <a:prstGeom prst="rect">
            <a:avLst/>
          </a:prstGeom>
          <a:noFill/>
        </p:spPr>
        <p:txBody>
          <a:bodyPr wrap="none" rtlCol="0">
            <a:spAutoFit/>
          </a:bodyPr>
          <a:lstStyle/>
          <a:p>
            <a:r>
              <a:rPr kumimoji="1" lang="en-US" altLang="zh-CN" sz="2000" dirty="0"/>
              <a:t>Biometric-based</a:t>
            </a:r>
            <a:endParaRPr kumimoji="1" lang="zh-CN" altLang="en-US" sz="2000" dirty="0"/>
          </a:p>
        </p:txBody>
      </p:sp>
      <p:sp>
        <p:nvSpPr>
          <p:cNvPr id="25" name="文本框 24">
            <a:extLst>
              <a:ext uri="{FF2B5EF4-FFF2-40B4-BE49-F238E27FC236}">
                <a16:creationId xmlns:a16="http://schemas.microsoft.com/office/drawing/2014/main" id="{345E0F50-F04F-BB4C-B59C-D638CF684D07}"/>
              </a:ext>
            </a:extLst>
          </p:cNvPr>
          <p:cNvSpPr txBox="1"/>
          <p:nvPr/>
        </p:nvSpPr>
        <p:spPr>
          <a:xfrm>
            <a:off x="6397470" y="3355468"/>
            <a:ext cx="2306722" cy="830997"/>
          </a:xfrm>
          <a:prstGeom prst="rect">
            <a:avLst/>
          </a:prstGeom>
          <a:noFill/>
          <a:ln w="19050">
            <a:solidFill>
              <a:schemeClr val="bg1">
                <a:lumMod val="85000"/>
              </a:schemeClr>
            </a:solidFill>
          </a:ln>
        </p:spPr>
        <p:txBody>
          <a:bodyPr wrap="none" rtlCol="0">
            <a:spAutoFit/>
          </a:bodyPr>
          <a:lstStyle/>
          <a:p>
            <a:pPr marL="285750" indent="-285750">
              <a:buFont typeface="Arial" panose="020B0604020202020204" pitchFamily="34" charset="0"/>
              <a:buChar char="•"/>
            </a:pPr>
            <a:r>
              <a:rPr kumimoji="1" lang="en-US" altLang="zh-CN" sz="1600" dirty="0"/>
              <a:t>Breathing</a:t>
            </a:r>
          </a:p>
          <a:p>
            <a:pPr marL="285750" indent="-285750">
              <a:buFont typeface="Arial" panose="020B0604020202020204" pitchFamily="34" charset="0"/>
              <a:buChar char="•"/>
            </a:pPr>
            <a:r>
              <a:rPr kumimoji="1" lang="en-US" altLang="zh-CN" sz="1600" dirty="0"/>
              <a:t>Heartbeat</a:t>
            </a:r>
          </a:p>
          <a:p>
            <a:pPr marL="285750" indent="-285750">
              <a:buFont typeface="Arial" panose="020B0604020202020204" pitchFamily="34" charset="0"/>
              <a:buChar char="•"/>
            </a:pPr>
            <a:r>
              <a:rPr kumimoji="1" lang="en-US" altLang="zh-CN" sz="1600" dirty="0"/>
              <a:t>Ear canal deformation</a:t>
            </a:r>
            <a:endParaRPr kumimoji="1" lang="zh-CN" altLang="en-US" sz="1600" dirty="0"/>
          </a:p>
        </p:txBody>
      </p:sp>
      <p:pic>
        <p:nvPicPr>
          <p:cNvPr id="7" name="图片 6">
            <a:extLst>
              <a:ext uri="{FF2B5EF4-FFF2-40B4-BE49-F238E27FC236}">
                <a16:creationId xmlns:a16="http://schemas.microsoft.com/office/drawing/2014/main" id="{D7672777-7958-8B45-88FB-5DB4CC75BDED}"/>
              </a:ext>
            </a:extLst>
          </p:cNvPr>
          <p:cNvPicPr>
            <a:picLocks noChangeAspect="1"/>
          </p:cNvPicPr>
          <p:nvPr/>
        </p:nvPicPr>
        <p:blipFill>
          <a:blip r:embed="rId6"/>
          <a:stretch>
            <a:fillRect/>
          </a:stretch>
        </p:blipFill>
        <p:spPr>
          <a:xfrm flipH="1">
            <a:off x="3527321" y="944370"/>
            <a:ext cx="2089351" cy="2029656"/>
          </a:xfrm>
          <a:prstGeom prst="rect">
            <a:avLst/>
          </a:prstGeom>
        </p:spPr>
      </p:pic>
      <p:pic>
        <p:nvPicPr>
          <p:cNvPr id="10" name="图片 9">
            <a:extLst>
              <a:ext uri="{FF2B5EF4-FFF2-40B4-BE49-F238E27FC236}">
                <a16:creationId xmlns:a16="http://schemas.microsoft.com/office/drawing/2014/main" id="{BF33A9F6-0CDB-6647-880F-F0D8BEAFFC69}"/>
              </a:ext>
            </a:extLst>
          </p:cNvPr>
          <p:cNvPicPr>
            <a:picLocks noChangeAspect="1"/>
          </p:cNvPicPr>
          <p:nvPr/>
        </p:nvPicPr>
        <p:blipFill>
          <a:blip r:embed="rId7">
            <a:extLst>
              <a:ext uri="{BEBA8EAE-BF5A-486C-A8C5-ECC9F3942E4B}">
                <a14:imgProps xmlns:a14="http://schemas.microsoft.com/office/drawing/2010/main">
                  <a14:imgLayer r:embed="rId8">
                    <a14:imgEffect>
                      <a14:saturation sat="33000"/>
                    </a14:imgEffect>
                  </a14:imgLayer>
                </a14:imgProps>
              </a:ext>
            </a:extLst>
          </a:blip>
          <a:stretch>
            <a:fillRect/>
          </a:stretch>
        </p:blipFill>
        <p:spPr>
          <a:xfrm>
            <a:off x="6522414" y="946379"/>
            <a:ext cx="2056835" cy="2007628"/>
          </a:xfrm>
          <a:prstGeom prst="rect">
            <a:avLst/>
          </a:prstGeom>
        </p:spPr>
      </p:pic>
      <p:sp>
        <p:nvSpPr>
          <p:cNvPr id="27" name="矩形 26">
            <a:extLst>
              <a:ext uri="{FF2B5EF4-FFF2-40B4-BE49-F238E27FC236}">
                <a16:creationId xmlns:a16="http://schemas.microsoft.com/office/drawing/2014/main" id="{DCD05D37-431D-1745-AE73-4840BB6924FA}"/>
              </a:ext>
            </a:extLst>
          </p:cNvPr>
          <p:cNvSpPr/>
          <p:nvPr/>
        </p:nvSpPr>
        <p:spPr>
          <a:xfrm>
            <a:off x="-1" y="0"/>
            <a:ext cx="9143995" cy="246920"/>
          </a:xfrm>
          <a:prstGeom prst="rect">
            <a:avLst/>
          </a:prstGeom>
          <a:solidFill>
            <a:srgbClr val="8B30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t>Background</a:t>
            </a:r>
            <a:endParaRPr kumimoji="1" lang="zh-CN" altLang="en-US" sz="1200" dirty="0"/>
          </a:p>
        </p:txBody>
      </p:sp>
    </p:spTree>
    <p:extLst>
      <p:ext uri="{BB962C8B-B14F-4D97-AF65-F5344CB8AC3E}">
        <p14:creationId xmlns:p14="http://schemas.microsoft.com/office/powerpoint/2010/main" val="2847442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a:extLst>
              <a:ext uri="{FF2B5EF4-FFF2-40B4-BE49-F238E27FC236}">
                <a16:creationId xmlns:a16="http://schemas.microsoft.com/office/drawing/2014/main" id="{7298F338-BF45-D446-A7EB-9738B9AF0B49}"/>
              </a:ext>
            </a:extLst>
          </p:cNvPr>
          <p:cNvSpPr/>
          <p:nvPr/>
        </p:nvSpPr>
        <p:spPr>
          <a:xfrm>
            <a:off x="0" y="6671732"/>
            <a:ext cx="3069166" cy="186267"/>
          </a:xfrm>
          <a:prstGeom prst="rect">
            <a:avLst/>
          </a:prstGeom>
          <a:solidFill>
            <a:srgbClr val="8B30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t>Luo Zhou et al.</a:t>
            </a:r>
            <a:endParaRPr kumimoji="1" lang="zh-CN" altLang="en-US" sz="1200" dirty="0"/>
          </a:p>
        </p:txBody>
      </p:sp>
      <p:sp>
        <p:nvSpPr>
          <p:cNvPr id="13" name="矩形 12">
            <a:extLst>
              <a:ext uri="{FF2B5EF4-FFF2-40B4-BE49-F238E27FC236}">
                <a16:creationId xmlns:a16="http://schemas.microsoft.com/office/drawing/2014/main" id="{F34D8F6A-E87C-8145-BE0C-C609627D4B7C}"/>
              </a:ext>
            </a:extLst>
          </p:cNvPr>
          <p:cNvSpPr/>
          <p:nvPr/>
        </p:nvSpPr>
        <p:spPr>
          <a:xfrm>
            <a:off x="3069166" y="6671732"/>
            <a:ext cx="3005666" cy="186268"/>
          </a:xfrm>
          <a:prstGeom prst="rect">
            <a:avLst/>
          </a:prstGeom>
          <a:solidFill>
            <a:srgbClr val="9141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t>Donghua University</a:t>
            </a:r>
            <a:endParaRPr kumimoji="1" lang="zh-CN" altLang="en-US" sz="1200" dirty="0"/>
          </a:p>
        </p:txBody>
      </p:sp>
      <p:sp>
        <p:nvSpPr>
          <p:cNvPr id="15" name="矩形 14">
            <a:extLst>
              <a:ext uri="{FF2B5EF4-FFF2-40B4-BE49-F238E27FC236}">
                <a16:creationId xmlns:a16="http://schemas.microsoft.com/office/drawing/2014/main" id="{56D33D00-85D6-064B-A329-4FA724561018}"/>
              </a:ext>
            </a:extLst>
          </p:cNvPr>
          <p:cNvSpPr/>
          <p:nvPr/>
        </p:nvSpPr>
        <p:spPr>
          <a:xfrm>
            <a:off x="6074832" y="6671731"/>
            <a:ext cx="2374901" cy="186268"/>
          </a:xfrm>
          <a:prstGeom prst="rect">
            <a:avLst/>
          </a:prstGeom>
          <a:solidFill>
            <a:srgbClr val="9C53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t>2025.07.21</a:t>
            </a:r>
            <a:endParaRPr kumimoji="1" lang="zh-CN" altLang="en-US" sz="1200" dirty="0"/>
          </a:p>
        </p:txBody>
      </p:sp>
      <p:sp>
        <p:nvSpPr>
          <p:cNvPr id="16" name="矩形 15">
            <a:extLst>
              <a:ext uri="{FF2B5EF4-FFF2-40B4-BE49-F238E27FC236}">
                <a16:creationId xmlns:a16="http://schemas.microsoft.com/office/drawing/2014/main" id="{86551296-CD29-084E-9713-D38000C31A77}"/>
              </a:ext>
            </a:extLst>
          </p:cNvPr>
          <p:cNvSpPr/>
          <p:nvPr/>
        </p:nvSpPr>
        <p:spPr>
          <a:xfrm>
            <a:off x="8106833" y="6671730"/>
            <a:ext cx="1037167" cy="186270"/>
          </a:xfrm>
          <a:prstGeom prst="rect">
            <a:avLst/>
          </a:prstGeom>
          <a:solidFill>
            <a:srgbClr val="9D53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t>6/35</a:t>
            </a:r>
            <a:endParaRPr kumimoji="1" lang="zh-CN" altLang="en-US" sz="1200" dirty="0"/>
          </a:p>
        </p:txBody>
      </p:sp>
      <p:sp>
        <p:nvSpPr>
          <p:cNvPr id="2" name="矩形 1">
            <a:extLst>
              <a:ext uri="{FF2B5EF4-FFF2-40B4-BE49-F238E27FC236}">
                <a16:creationId xmlns:a16="http://schemas.microsoft.com/office/drawing/2014/main" id="{D29C7C69-602C-7844-B74B-2FCBDCA056A0}"/>
              </a:ext>
            </a:extLst>
          </p:cNvPr>
          <p:cNvSpPr/>
          <p:nvPr/>
        </p:nvSpPr>
        <p:spPr>
          <a:xfrm>
            <a:off x="0" y="246919"/>
            <a:ext cx="9143996" cy="48121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zh-CN" sz="2400" dirty="0">
                <a:solidFill>
                  <a:srgbClr val="8B302D"/>
                </a:solidFill>
                <a:latin typeface="+mj-lt"/>
                <a:ea typeface="PingFang SC" panose="020B0400000000000000" pitchFamily="34" charset="-122"/>
                <a:cs typeface="Arial" panose="020B0604020202020204" pitchFamily="34" charset="0"/>
              </a:rPr>
              <a:t>   Current Authentication Methods: Limitations</a:t>
            </a:r>
            <a:endParaRPr kumimoji="1" lang="zh-CN" altLang="en-US" dirty="0">
              <a:solidFill>
                <a:srgbClr val="8B302D"/>
              </a:solidFill>
              <a:latin typeface="+mj-lt"/>
              <a:ea typeface="PingFang SC" panose="020B0400000000000000" pitchFamily="34" charset="-122"/>
              <a:cs typeface="Arial" panose="020B0604020202020204" pitchFamily="34" charset="0"/>
            </a:endParaRPr>
          </a:p>
        </p:txBody>
      </p:sp>
      <p:sp>
        <p:nvSpPr>
          <p:cNvPr id="3" name="文本框 2">
            <a:extLst>
              <a:ext uri="{FF2B5EF4-FFF2-40B4-BE49-F238E27FC236}">
                <a16:creationId xmlns:a16="http://schemas.microsoft.com/office/drawing/2014/main" id="{3EBBA874-78F0-5C4F-B0A3-E56ECCEC1B9D}"/>
              </a:ext>
            </a:extLst>
          </p:cNvPr>
          <p:cNvSpPr txBox="1"/>
          <p:nvPr/>
        </p:nvSpPr>
        <p:spPr>
          <a:xfrm>
            <a:off x="903672" y="2894366"/>
            <a:ext cx="1717906" cy="400110"/>
          </a:xfrm>
          <a:prstGeom prst="rect">
            <a:avLst/>
          </a:prstGeom>
          <a:noFill/>
        </p:spPr>
        <p:txBody>
          <a:bodyPr wrap="none" rtlCol="0">
            <a:spAutoFit/>
          </a:bodyPr>
          <a:lstStyle/>
          <a:p>
            <a:r>
              <a:rPr kumimoji="1" lang="en-US" altLang="zh-CN" sz="2000" dirty="0"/>
              <a:t>Activity-based</a:t>
            </a:r>
            <a:endParaRPr kumimoji="1" lang="zh-CN" altLang="en-US" sz="2000" dirty="0"/>
          </a:p>
        </p:txBody>
      </p:sp>
      <p:pic>
        <p:nvPicPr>
          <p:cNvPr id="4" name="图片 3">
            <a:extLst>
              <a:ext uri="{FF2B5EF4-FFF2-40B4-BE49-F238E27FC236}">
                <a16:creationId xmlns:a16="http://schemas.microsoft.com/office/drawing/2014/main" id="{8A040B4E-C5D1-7E41-BE9A-6FFD103D68A9}"/>
              </a:ext>
            </a:extLst>
          </p:cNvPr>
          <p:cNvPicPr>
            <a:picLocks noChangeAspect="1"/>
          </p:cNvPicPr>
          <p:nvPr/>
        </p:nvPicPr>
        <p:blipFill>
          <a:blip r:embed="rId3">
            <a:extLst>
              <a:ext uri="{BEBA8EAE-BF5A-486C-A8C5-ECC9F3942E4B}">
                <a14:imgProps xmlns:a14="http://schemas.microsoft.com/office/drawing/2010/main">
                  <a14:imgLayer r:embed="rId4">
                    <a14:imgEffect>
                      <a14:saturation sat="66000"/>
                    </a14:imgEffect>
                  </a14:imgLayer>
                </a14:imgProps>
              </a:ext>
            </a:extLst>
          </a:blip>
          <a:stretch>
            <a:fillRect/>
          </a:stretch>
        </p:blipFill>
        <p:spPr>
          <a:xfrm>
            <a:off x="679488" y="1171119"/>
            <a:ext cx="2166273" cy="1686928"/>
          </a:xfrm>
          <a:prstGeom prst="rect">
            <a:avLst/>
          </a:prstGeom>
        </p:spPr>
      </p:pic>
      <p:pic>
        <p:nvPicPr>
          <p:cNvPr id="5" name="图片 4">
            <a:extLst>
              <a:ext uri="{FF2B5EF4-FFF2-40B4-BE49-F238E27FC236}">
                <a16:creationId xmlns:a16="http://schemas.microsoft.com/office/drawing/2014/main" id="{8C12E977-285E-8B47-91B4-234377EA2297}"/>
              </a:ext>
            </a:extLst>
          </p:cNvPr>
          <p:cNvPicPr>
            <a:picLocks noChangeAspect="1"/>
          </p:cNvPicPr>
          <p:nvPr/>
        </p:nvPicPr>
        <p:blipFill>
          <a:blip r:embed="rId5"/>
          <a:stretch>
            <a:fillRect/>
          </a:stretch>
        </p:blipFill>
        <p:spPr>
          <a:xfrm>
            <a:off x="2666649" y="4293136"/>
            <a:ext cx="3786853" cy="1995611"/>
          </a:xfrm>
          <a:prstGeom prst="rect">
            <a:avLst/>
          </a:prstGeom>
        </p:spPr>
      </p:pic>
      <p:sp>
        <p:nvSpPr>
          <p:cNvPr id="6" name="文本框 5">
            <a:extLst>
              <a:ext uri="{FF2B5EF4-FFF2-40B4-BE49-F238E27FC236}">
                <a16:creationId xmlns:a16="http://schemas.microsoft.com/office/drawing/2014/main" id="{1F21EDDA-DB00-2C4F-A83C-2CD7F16F2D21}"/>
              </a:ext>
            </a:extLst>
          </p:cNvPr>
          <p:cNvSpPr txBox="1"/>
          <p:nvPr/>
        </p:nvSpPr>
        <p:spPr>
          <a:xfrm>
            <a:off x="588616" y="3362919"/>
            <a:ext cx="2348015" cy="861774"/>
          </a:xfrm>
          <a:prstGeom prst="rect">
            <a:avLst/>
          </a:prstGeom>
          <a:noFill/>
          <a:ln w="19050">
            <a:solidFill>
              <a:schemeClr val="bg1">
                <a:lumMod val="85000"/>
              </a:schemeClr>
            </a:solidFill>
          </a:ln>
        </p:spPr>
        <p:txBody>
          <a:bodyPr wrap="none" rtlCol="0">
            <a:spAutoFit/>
          </a:bodyPr>
          <a:lstStyle/>
          <a:p>
            <a:pPr marL="285750" indent="-285750">
              <a:buFont typeface="Arial" panose="020B0604020202020204" pitchFamily="34" charset="0"/>
              <a:buChar char="•"/>
            </a:pPr>
            <a:r>
              <a:rPr kumimoji="1" lang="en-US" altLang="zh-CN" sz="1600" dirty="0"/>
              <a:t>Voiceprint</a:t>
            </a:r>
          </a:p>
          <a:p>
            <a:pPr marL="285750" indent="-285750">
              <a:buFont typeface="Arial" panose="020B0604020202020204" pitchFamily="34" charset="0"/>
              <a:buChar char="•"/>
            </a:pPr>
            <a:r>
              <a:rPr kumimoji="1" lang="en-US" altLang="zh-CN" sz="1600" dirty="0"/>
              <a:t>Facial muscle motions </a:t>
            </a:r>
          </a:p>
          <a:p>
            <a:pPr marL="285750" indent="-285750">
              <a:buFont typeface="Arial" panose="020B0604020202020204" pitchFamily="34" charset="0"/>
              <a:buChar char="•"/>
            </a:pPr>
            <a:r>
              <a:rPr kumimoji="1" lang="en-US" altLang="zh-CN" sz="1600" dirty="0"/>
              <a:t>Acoustic resonance</a:t>
            </a:r>
            <a:endParaRPr kumimoji="1" lang="zh-CN" altLang="en-US" sz="1600" dirty="0"/>
          </a:p>
        </p:txBody>
      </p:sp>
      <p:sp>
        <p:nvSpPr>
          <p:cNvPr id="20" name="文本框 19">
            <a:extLst>
              <a:ext uri="{FF2B5EF4-FFF2-40B4-BE49-F238E27FC236}">
                <a16:creationId xmlns:a16="http://schemas.microsoft.com/office/drawing/2014/main" id="{F66C3B0F-5109-AC4D-928D-9F52D1547E58}"/>
              </a:ext>
            </a:extLst>
          </p:cNvPr>
          <p:cNvSpPr txBox="1"/>
          <p:nvPr/>
        </p:nvSpPr>
        <p:spPr>
          <a:xfrm>
            <a:off x="3550090" y="2906352"/>
            <a:ext cx="2025747" cy="400110"/>
          </a:xfrm>
          <a:prstGeom prst="rect">
            <a:avLst/>
          </a:prstGeom>
          <a:noFill/>
        </p:spPr>
        <p:txBody>
          <a:bodyPr wrap="none" rtlCol="0">
            <a:spAutoFit/>
          </a:bodyPr>
          <a:lstStyle/>
          <a:p>
            <a:r>
              <a:rPr kumimoji="1" lang="en-US" altLang="zh-CN" sz="2000" dirty="0"/>
              <a:t>Interaction-based</a:t>
            </a:r>
            <a:endParaRPr kumimoji="1" lang="zh-CN" altLang="en-US" sz="2000" dirty="0"/>
          </a:p>
        </p:txBody>
      </p:sp>
      <p:sp>
        <p:nvSpPr>
          <p:cNvPr id="22" name="文本框 21">
            <a:extLst>
              <a:ext uri="{FF2B5EF4-FFF2-40B4-BE49-F238E27FC236}">
                <a16:creationId xmlns:a16="http://schemas.microsoft.com/office/drawing/2014/main" id="{1D6B0852-EE46-0F43-B0C5-34B79A969C66}"/>
              </a:ext>
            </a:extLst>
          </p:cNvPr>
          <p:cNvSpPr txBox="1"/>
          <p:nvPr/>
        </p:nvSpPr>
        <p:spPr>
          <a:xfrm>
            <a:off x="3637997" y="3359115"/>
            <a:ext cx="1844159" cy="584775"/>
          </a:xfrm>
          <a:prstGeom prst="rect">
            <a:avLst/>
          </a:prstGeom>
          <a:noFill/>
          <a:ln w="19050">
            <a:solidFill>
              <a:schemeClr val="bg1">
                <a:lumMod val="85000"/>
              </a:schemeClr>
            </a:solidFill>
          </a:ln>
        </p:spPr>
        <p:txBody>
          <a:bodyPr wrap="none" rtlCol="0">
            <a:spAutoFit/>
          </a:bodyPr>
          <a:lstStyle/>
          <a:p>
            <a:pPr marL="285750" indent="-285750">
              <a:buFont typeface="Arial" panose="020B0604020202020204" pitchFamily="34" charset="0"/>
              <a:buChar char="•"/>
            </a:pPr>
            <a:r>
              <a:rPr kumimoji="1" lang="en-US" altLang="zh-CN" sz="1600" dirty="0"/>
              <a:t>Dental occlusion</a:t>
            </a:r>
          </a:p>
          <a:p>
            <a:pPr marL="285750" indent="-285750">
              <a:buFont typeface="Arial" panose="020B0604020202020204" pitchFamily="34" charset="0"/>
              <a:buChar char="•"/>
            </a:pPr>
            <a:r>
              <a:rPr kumimoji="1" lang="en-US" altLang="zh-CN" sz="1600" dirty="0"/>
              <a:t>Sliding fingers</a:t>
            </a:r>
          </a:p>
        </p:txBody>
      </p:sp>
      <p:sp>
        <p:nvSpPr>
          <p:cNvPr id="23" name="文本框 22">
            <a:extLst>
              <a:ext uri="{FF2B5EF4-FFF2-40B4-BE49-F238E27FC236}">
                <a16:creationId xmlns:a16="http://schemas.microsoft.com/office/drawing/2014/main" id="{BCA5413E-B345-054A-B015-900CEC926A26}"/>
              </a:ext>
            </a:extLst>
          </p:cNvPr>
          <p:cNvSpPr txBox="1"/>
          <p:nvPr/>
        </p:nvSpPr>
        <p:spPr>
          <a:xfrm>
            <a:off x="6683923" y="2903782"/>
            <a:ext cx="1895327" cy="400110"/>
          </a:xfrm>
          <a:prstGeom prst="rect">
            <a:avLst/>
          </a:prstGeom>
          <a:noFill/>
        </p:spPr>
        <p:txBody>
          <a:bodyPr wrap="none" rtlCol="0">
            <a:spAutoFit/>
          </a:bodyPr>
          <a:lstStyle/>
          <a:p>
            <a:r>
              <a:rPr kumimoji="1" lang="en-US" altLang="zh-CN" sz="2000" dirty="0"/>
              <a:t>Biometric-based</a:t>
            </a:r>
            <a:endParaRPr kumimoji="1" lang="zh-CN" altLang="en-US" sz="2000" dirty="0"/>
          </a:p>
        </p:txBody>
      </p:sp>
      <p:sp>
        <p:nvSpPr>
          <p:cNvPr id="25" name="文本框 24">
            <a:extLst>
              <a:ext uri="{FF2B5EF4-FFF2-40B4-BE49-F238E27FC236}">
                <a16:creationId xmlns:a16="http://schemas.microsoft.com/office/drawing/2014/main" id="{345E0F50-F04F-BB4C-B59C-D638CF684D07}"/>
              </a:ext>
            </a:extLst>
          </p:cNvPr>
          <p:cNvSpPr txBox="1"/>
          <p:nvPr/>
        </p:nvSpPr>
        <p:spPr>
          <a:xfrm>
            <a:off x="6397470" y="3355468"/>
            <a:ext cx="2306722" cy="830997"/>
          </a:xfrm>
          <a:prstGeom prst="rect">
            <a:avLst/>
          </a:prstGeom>
          <a:noFill/>
          <a:ln w="19050">
            <a:solidFill>
              <a:schemeClr val="bg1">
                <a:lumMod val="85000"/>
              </a:schemeClr>
            </a:solidFill>
          </a:ln>
        </p:spPr>
        <p:txBody>
          <a:bodyPr wrap="none" rtlCol="0">
            <a:spAutoFit/>
          </a:bodyPr>
          <a:lstStyle/>
          <a:p>
            <a:pPr marL="285750" indent="-285750">
              <a:buFont typeface="Arial" panose="020B0604020202020204" pitchFamily="34" charset="0"/>
              <a:buChar char="•"/>
            </a:pPr>
            <a:r>
              <a:rPr kumimoji="1" lang="en-US" altLang="zh-CN" sz="1600" dirty="0"/>
              <a:t>Breathing</a:t>
            </a:r>
          </a:p>
          <a:p>
            <a:pPr marL="285750" indent="-285750">
              <a:buFont typeface="Arial" panose="020B0604020202020204" pitchFamily="34" charset="0"/>
              <a:buChar char="•"/>
            </a:pPr>
            <a:r>
              <a:rPr kumimoji="1" lang="en-US" altLang="zh-CN" sz="1600" dirty="0"/>
              <a:t>Heartbeat</a:t>
            </a:r>
          </a:p>
          <a:p>
            <a:pPr marL="285750" indent="-285750">
              <a:buFont typeface="Arial" panose="020B0604020202020204" pitchFamily="34" charset="0"/>
              <a:buChar char="•"/>
            </a:pPr>
            <a:r>
              <a:rPr kumimoji="1" lang="en-US" altLang="zh-CN" sz="1600" dirty="0"/>
              <a:t>Ear canal deformation</a:t>
            </a:r>
            <a:endParaRPr kumimoji="1" lang="zh-CN" altLang="en-US" sz="1600" dirty="0"/>
          </a:p>
        </p:txBody>
      </p:sp>
      <p:pic>
        <p:nvPicPr>
          <p:cNvPr id="7" name="图片 6">
            <a:extLst>
              <a:ext uri="{FF2B5EF4-FFF2-40B4-BE49-F238E27FC236}">
                <a16:creationId xmlns:a16="http://schemas.microsoft.com/office/drawing/2014/main" id="{D7672777-7958-8B45-88FB-5DB4CC75BDED}"/>
              </a:ext>
            </a:extLst>
          </p:cNvPr>
          <p:cNvPicPr>
            <a:picLocks noChangeAspect="1"/>
          </p:cNvPicPr>
          <p:nvPr/>
        </p:nvPicPr>
        <p:blipFill>
          <a:blip r:embed="rId6"/>
          <a:stretch>
            <a:fillRect/>
          </a:stretch>
        </p:blipFill>
        <p:spPr>
          <a:xfrm flipH="1">
            <a:off x="3527321" y="944370"/>
            <a:ext cx="2089351" cy="2029656"/>
          </a:xfrm>
          <a:prstGeom prst="rect">
            <a:avLst/>
          </a:prstGeom>
        </p:spPr>
      </p:pic>
      <p:pic>
        <p:nvPicPr>
          <p:cNvPr id="10" name="图片 9">
            <a:extLst>
              <a:ext uri="{FF2B5EF4-FFF2-40B4-BE49-F238E27FC236}">
                <a16:creationId xmlns:a16="http://schemas.microsoft.com/office/drawing/2014/main" id="{BF33A9F6-0CDB-6647-880F-F0D8BEAFFC69}"/>
              </a:ext>
            </a:extLst>
          </p:cNvPr>
          <p:cNvPicPr>
            <a:picLocks noChangeAspect="1"/>
          </p:cNvPicPr>
          <p:nvPr/>
        </p:nvPicPr>
        <p:blipFill>
          <a:blip r:embed="rId7">
            <a:extLst>
              <a:ext uri="{BEBA8EAE-BF5A-486C-A8C5-ECC9F3942E4B}">
                <a14:imgProps xmlns:a14="http://schemas.microsoft.com/office/drawing/2010/main">
                  <a14:imgLayer r:embed="rId8">
                    <a14:imgEffect>
                      <a14:saturation sat="33000"/>
                    </a14:imgEffect>
                  </a14:imgLayer>
                </a14:imgProps>
              </a:ext>
            </a:extLst>
          </a:blip>
          <a:stretch>
            <a:fillRect/>
          </a:stretch>
        </p:blipFill>
        <p:spPr>
          <a:xfrm>
            <a:off x="6522414" y="946379"/>
            <a:ext cx="2056835" cy="2007628"/>
          </a:xfrm>
          <a:prstGeom prst="rect">
            <a:avLst/>
          </a:prstGeom>
        </p:spPr>
      </p:pic>
      <p:sp>
        <p:nvSpPr>
          <p:cNvPr id="27" name="矩形 26">
            <a:extLst>
              <a:ext uri="{FF2B5EF4-FFF2-40B4-BE49-F238E27FC236}">
                <a16:creationId xmlns:a16="http://schemas.microsoft.com/office/drawing/2014/main" id="{DCD05D37-431D-1745-AE73-4840BB6924FA}"/>
              </a:ext>
            </a:extLst>
          </p:cNvPr>
          <p:cNvSpPr/>
          <p:nvPr/>
        </p:nvSpPr>
        <p:spPr>
          <a:xfrm>
            <a:off x="-1" y="0"/>
            <a:ext cx="9143995" cy="246920"/>
          </a:xfrm>
          <a:prstGeom prst="rect">
            <a:avLst/>
          </a:prstGeom>
          <a:solidFill>
            <a:srgbClr val="8B30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t>Background</a:t>
            </a:r>
            <a:endParaRPr kumimoji="1" lang="zh-CN" altLang="en-US" sz="1200" dirty="0"/>
          </a:p>
        </p:txBody>
      </p:sp>
      <p:sp>
        <p:nvSpPr>
          <p:cNvPr id="8" name="矩形 7">
            <a:extLst>
              <a:ext uri="{FF2B5EF4-FFF2-40B4-BE49-F238E27FC236}">
                <a16:creationId xmlns:a16="http://schemas.microsoft.com/office/drawing/2014/main" id="{4BBB1258-BABA-F14C-8E58-962410290EC1}"/>
              </a:ext>
            </a:extLst>
          </p:cNvPr>
          <p:cNvSpPr/>
          <p:nvPr/>
        </p:nvSpPr>
        <p:spPr>
          <a:xfrm>
            <a:off x="-1" y="728133"/>
            <a:ext cx="9143995" cy="5943597"/>
          </a:xfrm>
          <a:prstGeom prst="rect">
            <a:avLst/>
          </a:prstGeom>
          <a:solidFill>
            <a:schemeClr val="bg1">
              <a:lumMod val="95000"/>
              <a:alpha val="9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9" name="圆角矩形 8">
            <a:extLst>
              <a:ext uri="{FF2B5EF4-FFF2-40B4-BE49-F238E27FC236}">
                <a16:creationId xmlns:a16="http://schemas.microsoft.com/office/drawing/2014/main" id="{5D6F4CD3-0820-BE48-8B85-351C09E9910D}"/>
              </a:ext>
            </a:extLst>
          </p:cNvPr>
          <p:cNvSpPr/>
          <p:nvPr/>
        </p:nvSpPr>
        <p:spPr>
          <a:xfrm>
            <a:off x="2783087" y="2636319"/>
            <a:ext cx="3614377" cy="2995167"/>
          </a:xfrm>
          <a:prstGeom prst="roundRect">
            <a:avLst>
              <a:gd name="adj" fmla="val 2525"/>
            </a:avLst>
          </a:prstGeom>
          <a:solidFill>
            <a:srgbClr val="8B2E2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 name="文本框 10">
            <a:extLst>
              <a:ext uri="{FF2B5EF4-FFF2-40B4-BE49-F238E27FC236}">
                <a16:creationId xmlns:a16="http://schemas.microsoft.com/office/drawing/2014/main" id="{3FA734B5-812E-754A-B9FF-9742635D5430}"/>
              </a:ext>
            </a:extLst>
          </p:cNvPr>
          <p:cNvSpPr txBox="1"/>
          <p:nvPr/>
        </p:nvSpPr>
        <p:spPr>
          <a:xfrm>
            <a:off x="3209525" y="1999954"/>
            <a:ext cx="2724941" cy="523220"/>
          </a:xfrm>
          <a:prstGeom prst="rect">
            <a:avLst/>
          </a:prstGeom>
          <a:noFill/>
        </p:spPr>
        <p:txBody>
          <a:bodyPr wrap="square" rtlCol="0">
            <a:spAutoFit/>
          </a:bodyPr>
          <a:lstStyle/>
          <a:p>
            <a:pPr algn="ctr"/>
            <a:r>
              <a:rPr kumimoji="1" lang="en-US" altLang="zh-CN" sz="2800" b="1" dirty="0"/>
              <a:t>Our</a:t>
            </a:r>
            <a:r>
              <a:rPr kumimoji="1" lang="zh-CN" altLang="en-US" sz="2800" b="1" dirty="0"/>
              <a:t> </a:t>
            </a:r>
            <a:r>
              <a:rPr kumimoji="1" lang="en-US" altLang="zh-CN" sz="2800" b="1" dirty="0"/>
              <a:t>Goal</a:t>
            </a:r>
            <a:endParaRPr kumimoji="1" lang="zh-CN" altLang="en-US" sz="2800" b="1" dirty="0"/>
          </a:p>
        </p:txBody>
      </p:sp>
      <p:sp>
        <p:nvSpPr>
          <p:cNvPr id="21" name="文本框 20">
            <a:extLst>
              <a:ext uri="{FF2B5EF4-FFF2-40B4-BE49-F238E27FC236}">
                <a16:creationId xmlns:a16="http://schemas.microsoft.com/office/drawing/2014/main" id="{54F838F6-DCE8-0747-A725-BC76D4394A1D}"/>
              </a:ext>
            </a:extLst>
          </p:cNvPr>
          <p:cNvSpPr txBox="1"/>
          <p:nvPr/>
        </p:nvSpPr>
        <p:spPr>
          <a:xfrm>
            <a:off x="3304579" y="2998413"/>
            <a:ext cx="2724941" cy="523220"/>
          </a:xfrm>
          <a:prstGeom prst="rect">
            <a:avLst/>
          </a:prstGeom>
          <a:noFill/>
        </p:spPr>
        <p:txBody>
          <a:bodyPr wrap="square" rtlCol="0">
            <a:spAutoFit/>
          </a:bodyPr>
          <a:lstStyle/>
          <a:p>
            <a:pPr algn="ctr"/>
            <a:r>
              <a:rPr kumimoji="1" lang="en-US" altLang="zh-CN" sz="2800" b="1" dirty="0">
                <a:solidFill>
                  <a:schemeClr val="bg1"/>
                </a:solidFill>
              </a:rPr>
              <a:t>Secure</a:t>
            </a:r>
            <a:endParaRPr kumimoji="1" lang="zh-CN" altLang="en-US" sz="2800" b="1" dirty="0">
              <a:solidFill>
                <a:schemeClr val="bg1"/>
              </a:solidFill>
            </a:endParaRPr>
          </a:p>
        </p:txBody>
      </p:sp>
      <p:sp>
        <p:nvSpPr>
          <p:cNvPr id="24" name="文本框 23">
            <a:extLst>
              <a:ext uri="{FF2B5EF4-FFF2-40B4-BE49-F238E27FC236}">
                <a16:creationId xmlns:a16="http://schemas.microsoft.com/office/drawing/2014/main" id="{7692025A-A644-2440-8FD9-D0F5E5F8057B}"/>
              </a:ext>
            </a:extLst>
          </p:cNvPr>
          <p:cNvSpPr txBox="1"/>
          <p:nvPr/>
        </p:nvSpPr>
        <p:spPr>
          <a:xfrm>
            <a:off x="3304578" y="3883727"/>
            <a:ext cx="2724941" cy="523220"/>
          </a:xfrm>
          <a:prstGeom prst="rect">
            <a:avLst/>
          </a:prstGeom>
          <a:noFill/>
        </p:spPr>
        <p:txBody>
          <a:bodyPr wrap="square" rtlCol="0">
            <a:spAutoFit/>
          </a:bodyPr>
          <a:lstStyle/>
          <a:p>
            <a:pPr algn="ctr"/>
            <a:r>
              <a:rPr kumimoji="1" lang="en-US" altLang="zh-CN" sz="2800" b="1" dirty="0">
                <a:solidFill>
                  <a:schemeClr val="bg1"/>
                </a:solidFill>
              </a:rPr>
              <a:t>Seamless</a:t>
            </a:r>
            <a:endParaRPr kumimoji="1" lang="zh-CN" altLang="en-US" sz="2800" b="1" dirty="0">
              <a:solidFill>
                <a:schemeClr val="bg1"/>
              </a:solidFill>
            </a:endParaRPr>
          </a:p>
        </p:txBody>
      </p:sp>
      <p:sp>
        <p:nvSpPr>
          <p:cNvPr id="26" name="文本框 25">
            <a:extLst>
              <a:ext uri="{FF2B5EF4-FFF2-40B4-BE49-F238E27FC236}">
                <a16:creationId xmlns:a16="http://schemas.microsoft.com/office/drawing/2014/main" id="{29851011-989F-124E-867E-EFE7EBCE9176}"/>
              </a:ext>
            </a:extLst>
          </p:cNvPr>
          <p:cNvSpPr txBox="1"/>
          <p:nvPr/>
        </p:nvSpPr>
        <p:spPr>
          <a:xfrm>
            <a:off x="3304578" y="4767721"/>
            <a:ext cx="2724941" cy="523220"/>
          </a:xfrm>
          <a:prstGeom prst="rect">
            <a:avLst/>
          </a:prstGeom>
          <a:noFill/>
        </p:spPr>
        <p:txBody>
          <a:bodyPr wrap="square" rtlCol="0">
            <a:spAutoFit/>
          </a:bodyPr>
          <a:lstStyle/>
          <a:p>
            <a:pPr algn="ctr"/>
            <a:r>
              <a:rPr kumimoji="1" lang="en-US" altLang="zh-CN" sz="2800" b="1" dirty="0">
                <a:solidFill>
                  <a:schemeClr val="bg1"/>
                </a:solidFill>
              </a:rPr>
              <a:t>Intuitive</a:t>
            </a:r>
            <a:endParaRPr kumimoji="1" lang="zh-CN" altLang="en-US" sz="2800" b="1" dirty="0">
              <a:solidFill>
                <a:schemeClr val="bg1"/>
              </a:solidFill>
            </a:endParaRPr>
          </a:p>
        </p:txBody>
      </p:sp>
      <p:sp>
        <p:nvSpPr>
          <p:cNvPr id="17" name="文本框 16">
            <a:extLst>
              <a:ext uri="{FF2B5EF4-FFF2-40B4-BE49-F238E27FC236}">
                <a16:creationId xmlns:a16="http://schemas.microsoft.com/office/drawing/2014/main" id="{2E728A53-7270-7944-A36C-F98401F8FDB0}"/>
              </a:ext>
            </a:extLst>
          </p:cNvPr>
          <p:cNvSpPr txBox="1"/>
          <p:nvPr/>
        </p:nvSpPr>
        <p:spPr>
          <a:xfrm>
            <a:off x="4445375" y="3329262"/>
            <a:ext cx="443346" cy="769441"/>
          </a:xfrm>
          <a:prstGeom prst="rect">
            <a:avLst/>
          </a:prstGeom>
          <a:noFill/>
        </p:spPr>
        <p:txBody>
          <a:bodyPr wrap="square" rtlCol="0">
            <a:spAutoFit/>
          </a:bodyPr>
          <a:lstStyle/>
          <a:p>
            <a:pPr algn="ctr"/>
            <a:r>
              <a:rPr kumimoji="1" lang="en-US" altLang="zh-CN" sz="4400" dirty="0">
                <a:solidFill>
                  <a:schemeClr val="bg1"/>
                </a:solidFill>
                <a:latin typeface="+mj-lt"/>
              </a:rPr>
              <a:t>+</a:t>
            </a:r>
            <a:endParaRPr kumimoji="1" lang="zh-CN" altLang="en-US" sz="4400" dirty="0">
              <a:solidFill>
                <a:schemeClr val="bg1"/>
              </a:solidFill>
              <a:latin typeface="+mj-lt"/>
            </a:endParaRPr>
          </a:p>
        </p:txBody>
      </p:sp>
      <p:sp>
        <p:nvSpPr>
          <p:cNvPr id="28" name="文本框 27">
            <a:extLst>
              <a:ext uri="{FF2B5EF4-FFF2-40B4-BE49-F238E27FC236}">
                <a16:creationId xmlns:a16="http://schemas.microsoft.com/office/drawing/2014/main" id="{15327979-3B79-FF4C-804F-71B45479DE20}"/>
              </a:ext>
            </a:extLst>
          </p:cNvPr>
          <p:cNvSpPr txBox="1"/>
          <p:nvPr/>
        </p:nvSpPr>
        <p:spPr>
          <a:xfrm>
            <a:off x="4445375" y="4186465"/>
            <a:ext cx="443346" cy="769441"/>
          </a:xfrm>
          <a:prstGeom prst="rect">
            <a:avLst/>
          </a:prstGeom>
          <a:noFill/>
        </p:spPr>
        <p:txBody>
          <a:bodyPr wrap="square" rtlCol="0">
            <a:spAutoFit/>
          </a:bodyPr>
          <a:lstStyle/>
          <a:p>
            <a:pPr algn="ctr"/>
            <a:r>
              <a:rPr kumimoji="1" lang="en-US" altLang="zh-CN" sz="4400" dirty="0">
                <a:solidFill>
                  <a:schemeClr val="bg1"/>
                </a:solidFill>
                <a:latin typeface="+mj-lt"/>
              </a:rPr>
              <a:t>+</a:t>
            </a:r>
            <a:endParaRPr kumimoji="1" lang="zh-CN" altLang="en-US" sz="4400" dirty="0">
              <a:solidFill>
                <a:schemeClr val="bg1"/>
              </a:solidFill>
              <a:latin typeface="+mj-lt"/>
            </a:endParaRPr>
          </a:p>
        </p:txBody>
      </p:sp>
    </p:spTree>
    <p:extLst>
      <p:ext uri="{BB962C8B-B14F-4D97-AF65-F5344CB8AC3E}">
        <p14:creationId xmlns:p14="http://schemas.microsoft.com/office/powerpoint/2010/main" val="41229842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a:extLst>
              <a:ext uri="{FF2B5EF4-FFF2-40B4-BE49-F238E27FC236}">
                <a16:creationId xmlns:a16="http://schemas.microsoft.com/office/drawing/2014/main" id="{7298F338-BF45-D446-A7EB-9738B9AF0B49}"/>
              </a:ext>
            </a:extLst>
          </p:cNvPr>
          <p:cNvSpPr/>
          <p:nvPr/>
        </p:nvSpPr>
        <p:spPr>
          <a:xfrm>
            <a:off x="0" y="6671732"/>
            <a:ext cx="3069166" cy="186267"/>
          </a:xfrm>
          <a:prstGeom prst="rect">
            <a:avLst/>
          </a:prstGeom>
          <a:solidFill>
            <a:srgbClr val="8B30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t>Luo Zhou et al.</a:t>
            </a:r>
            <a:endParaRPr kumimoji="1" lang="zh-CN" altLang="en-US" sz="1200" dirty="0"/>
          </a:p>
        </p:txBody>
      </p:sp>
      <p:sp>
        <p:nvSpPr>
          <p:cNvPr id="13" name="矩形 12">
            <a:extLst>
              <a:ext uri="{FF2B5EF4-FFF2-40B4-BE49-F238E27FC236}">
                <a16:creationId xmlns:a16="http://schemas.microsoft.com/office/drawing/2014/main" id="{F34D8F6A-E87C-8145-BE0C-C609627D4B7C}"/>
              </a:ext>
            </a:extLst>
          </p:cNvPr>
          <p:cNvSpPr/>
          <p:nvPr/>
        </p:nvSpPr>
        <p:spPr>
          <a:xfrm>
            <a:off x="3069166" y="6671732"/>
            <a:ext cx="3005666" cy="186268"/>
          </a:xfrm>
          <a:prstGeom prst="rect">
            <a:avLst/>
          </a:prstGeom>
          <a:solidFill>
            <a:srgbClr val="9141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t>Donghua University</a:t>
            </a:r>
            <a:endParaRPr kumimoji="1" lang="zh-CN" altLang="en-US" sz="1200" dirty="0"/>
          </a:p>
        </p:txBody>
      </p:sp>
      <p:sp>
        <p:nvSpPr>
          <p:cNvPr id="15" name="矩形 14">
            <a:extLst>
              <a:ext uri="{FF2B5EF4-FFF2-40B4-BE49-F238E27FC236}">
                <a16:creationId xmlns:a16="http://schemas.microsoft.com/office/drawing/2014/main" id="{56D33D00-85D6-064B-A329-4FA724561018}"/>
              </a:ext>
            </a:extLst>
          </p:cNvPr>
          <p:cNvSpPr/>
          <p:nvPr/>
        </p:nvSpPr>
        <p:spPr>
          <a:xfrm>
            <a:off x="6074832" y="6671731"/>
            <a:ext cx="2374901" cy="186268"/>
          </a:xfrm>
          <a:prstGeom prst="rect">
            <a:avLst/>
          </a:prstGeom>
          <a:solidFill>
            <a:srgbClr val="9C53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t>2025.07.21</a:t>
            </a:r>
            <a:endParaRPr kumimoji="1" lang="zh-CN" altLang="en-US" sz="1200" dirty="0"/>
          </a:p>
        </p:txBody>
      </p:sp>
      <p:sp>
        <p:nvSpPr>
          <p:cNvPr id="16" name="矩形 15">
            <a:extLst>
              <a:ext uri="{FF2B5EF4-FFF2-40B4-BE49-F238E27FC236}">
                <a16:creationId xmlns:a16="http://schemas.microsoft.com/office/drawing/2014/main" id="{86551296-CD29-084E-9713-D38000C31A77}"/>
              </a:ext>
            </a:extLst>
          </p:cNvPr>
          <p:cNvSpPr/>
          <p:nvPr/>
        </p:nvSpPr>
        <p:spPr>
          <a:xfrm>
            <a:off x="8106833" y="6671730"/>
            <a:ext cx="1037167" cy="186270"/>
          </a:xfrm>
          <a:prstGeom prst="rect">
            <a:avLst/>
          </a:prstGeom>
          <a:solidFill>
            <a:srgbClr val="9D53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t>7/35</a:t>
            </a:r>
            <a:endParaRPr kumimoji="1" lang="zh-CN" altLang="en-US" sz="1200" dirty="0"/>
          </a:p>
        </p:txBody>
      </p:sp>
      <p:sp>
        <p:nvSpPr>
          <p:cNvPr id="2" name="矩形 1">
            <a:extLst>
              <a:ext uri="{FF2B5EF4-FFF2-40B4-BE49-F238E27FC236}">
                <a16:creationId xmlns:a16="http://schemas.microsoft.com/office/drawing/2014/main" id="{D29C7C69-602C-7844-B74B-2FCBDCA056A0}"/>
              </a:ext>
            </a:extLst>
          </p:cNvPr>
          <p:cNvSpPr/>
          <p:nvPr/>
        </p:nvSpPr>
        <p:spPr>
          <a:xfrm>
            <a:off x="0" y="246919"/>
            <a:ext cx="9143996" cy="48121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zh-CN" sz="2400" dirty="0">
                <a:solidFill>
                  <a:srgbClr val="8B302D"/>
                </a:solidFill>
                <a:latin typeface="+mj-lt"/>
                <a:ea typeface="PingFang SC" panose="020B0400000000000000" pitchFamily="34" charset="-122"/>
                <a:cs typeface="Arial" panose="020B0604020202020204" pitchFamily="34" charset="0"/>
              </a:rPr>
              <a:t>   Our Solution: BaroAuth</a:t>
            </a:r>
            <a:endParaRPr kumimoji="1" lang="zh-CN" altLang="en-US" dirty="0">
              <a:solidFill>
                <a:srgbClr val="8B302D"/>
              </a:solidFill>
              <a:latin typeface="+mj-lt"/>
              <a:ea typeface="PingFang SC" panose="020B0400000000000000" pitchFamily="34" charset="-122"/>
              <a:cs typeface="Arial" panose="020B0604020202020204" pitchFamily="34" charset="0"/>
            </a:endParaRPr>
          </a:p>
        </p:txBody>
      </p:sp>
      <p:pic>
        <p:nvPicPr>
          <p:cNvPr id="10" name="图片 9">
            <a:extLst>
              <a:ext uri="{FF2B5EF4-FFF2-40B4-BE49-F238E27FC236}">
                <a16:creationId xmlns:a16="http://schemas.microsoft.com/office/drawing/2014/main" id="{41C409AC-41FE-DF4D-BF07-B0664C06DE25}"/>
              </a:ext>
            </a:extLst>
          </p:cNvPr>
          <p:cNvPicPr>
            <a:picLocks noChangeAspect="1"/>
          </p:cNvPicPr>
          <p:nvPr/>
        </p:nvPicPr>
        <p:blipFill>
          <a:blip r:embed="rId3"/>
          <a:stretch>
            <a:fillRect/>
          </a:stretch>
        </p:blipFill>
        <p:spPr>
          <a:xfrm>
            <a:off x="1418362" y="1584574"/>
            <a:ext cx="6426510" cy="2933177"/>
          </a:xfrm>
          <a:prstGeom prst="rect">
            <a:avLst/>
          </a:prstGeom>
        </p:spPr>
      </p:pic>
      <p:pic>
        <p:nvPicPr>
          <p:cNvPr id="3" name="图片 2">
            <a:extLst>
              <a:ext uri="{FF2B5EF4-FFF2-40B4-BE49-F238E27FC236}">
                <a16:creationId xmlns:a16="http://schemas.microsoft.com/office/drawing/2014/main" id="{43F9474C-722F-7647-B37F-1D918910D7E2}"/>
              </a:ext>
            </a:extLst>
          </p:cNvPr>
          <p:cNvPicPr>
            <a:picLocks noChangeAspect="1"/>
          </p:cNvPicPr>
          <p:nvPr/>
        </p:nvPicPr>
        <p:blipFill>
          <a:blip r:embed="rId4"/>
          <a:stretch>
            <a:fillRect/>
          </a:stretch>
        </p:blipFill>
        <p:spPr>
          <a:xfrm>
            <a:off x="478637" y="4880526"/>
            <a:ext cx="8186719" cy="1194136"/>
          </a:xfrm>
          <a:prstGeom prst="rect">
            <a:avLst/>
          </a:prstGeom>
        </p:spPr>
      </p:pic>
      <p:sp>
        <p:nvSpPr>
          <p:cNvPr id="17" name="矩形 16">
            <a:extLst>
              <a:ext uri="{FF2B5EF4-FFF2-40B4-BE49-F238E27FC236}">
                <a16:creationId xmlns:a16="http://schemas.microsoft.com/office/drawing/2014/main" id="{AC4A7F49-158F-0C4C-954B-D8C2F78D1F73}"/>
              </a:ext>
            </a:extLst>
          </p:cNvPr>
          <p:cNvSpPr/>
          <p:nvPr/>
        </p:nvSpPr>
        <p:spPr>
          <a:xfrm>
            <a:off x="-1" y="0"/>
            <a:ext cx="9143995" cy="246920"/>
          </a:xfrm>
          <a:prstGeom prst="rect">
            <a:avLst/>
          </a:prstGeom>
          <a:solidFill>
            <a:srgbClr val="8B30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t>Background</a:t>
            </a:r>
            <a:endParaRPr kumimoji="1" lang="zh-CN" altLang="en-US" sz="1200" dirty="0"/>
          </a:p>
        </p:txBody>
      </p:sp>
    </p:spTree>
    <p:extLst>
      <p:ext uri="{BB962C8B-B14F-4D97-AF65-F5344CB8AC3E}">
        <p14:creationId xmlns:p14="http://schemas.microsoft.com/office/powerpoint/2010/main" val="36327366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圆角矩形 9">
            <a:extLst>
              <a:ext uri="{FF2B5EF4-FFF2-40B4-BE49-F238E27FC236}">
                <a16:creationId xmlns:a16="http://schemas.microsoft.com/office/drawing/2014/main" id="{2DA8A703-3A5D-954E-97F2-8118418F5066}"/>
              </a:ext>
            </a:extLst>
          </p:cNvPr>
          <p:cNvSpPr/>
          <p:nvPr/>
        </p:nvSpPr>
        <p:spPr>
          <a:xfrm>
            <a:off x="1037165" y="2582333"/>
            <a:ext cx="7069667" cy="846667"/>
          </a:xfrm>
          <a:prstGeom prst="roundRect">
            <a:avLst/>
          </a:prstGeom>
          <a:solidFill>
            <a:srgbClr val="8B30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3200" dirty="0">
                <a:latin typeface="+mj-lt"/>
              </a:rPr>
              <a:t>Feasibility</a:t>
            </a:r>
            <a:r>
              <a:rPr kumimoji="1" lang="zh-CN" altLang="en-US" sz="3200" dirty="0">
                <a:latin typeface="+mj-lt"/>
              </a:rPr>
              <a:t> </a:t>
            </a:r>
            <a:r>
              <a:rPr kumimoji="1" lang="en-US" altLang="zh-CN" sz="3200" dirty="0">
                <a:latin typeface="+mj-lt"/>
              </a:rPr>
              <a:t>Study</a:t>
            </a:r>
            <a:endParaRPr kumimoji="1" lang="zh-CN" altLang="en-US" sz="3200" dirty="0">
              <a:latin typeface="+mj-lt"/>
            </a:endParaRPr>
          </a:p>
        </p:txBody>
      </p:sp>
      <p:sp>
        <p:nvSpPr>
          <p:cNvPr id="12" name="矩形 11">
            <a:extLst>
              <a:ext uri="{FF2B5EF4-FFF2-40B4-BE49-F238E27FC236}">
                <a16:creationId xmlns:a16="http://schemas.microsoft.com/office/drawing/2014/main" id="{7298F338-BF45-D446-A7EB-9738B9AF0B49}"/>
              </a:ext>
            </a:extLst>
          </p:cNvPr>
          <p:cNvSpPr/>
          <p:nvPr/>
        </p:nvSpPr>
        <p:spPr>
          <a:xfrm>
            <a:off x="0" y="6671732"/>
            <a:ext cx="3069166" cy="186267"/>
          </a:xfrm>
          <a:prstGeom prst="rect">
            <a:avLst/>
          </a:prstGeom>
          <a:solidFill>
            <a:srgbClr val="8B30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t>Luo Zhou et al.</a:t>
            </a:r>
            <a:endParaRPr kumimoji="1" lang="zh-CN" altLang="en-US" sz="1200" dirty="0"/>
          </a:p>
        </p:txBody>
      </p:sp>
      <p:sp>
        <p:nvSpPr>
          <p:cNvPr id="13" name="矩形 12">
            <a:extLst>
              <a:ext uri="{FF2B5EF4-FFF2-40B4-BE49-F238E27FC236}">
                <a16:creationId xmlns:a16="http://schemas.microsoft.com/office/drawing/2014/main" id="{F34D8F6A-E87C-8145-BE0C-C609627D4B7C}"/>
              </a:ext>
            </a:extLst>
          </p:cNvPr>
          <p:cNvSpPr/>
          <p:nvPr/>
        </p:nvSpPr>
        <p:spPr>
          <a:xfrm>
            <a:off x="3069166" y="6671732"/>
            <a:ext cx="3005666" cy="186268"/>
          </a:xfrm>
          <a:prstGeom prst="rect">
            <a:avLst/>
          </a:prstGeom>
          <a:solidFill>
            <a:srgbClr val="9141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t>Donghua University</a:t>
            </a:r>
            <a:endParaRPr kumimoji="1" lang="zh-CN" altLang="en-US" sz="1200" dirty="0"/>
          </a:p>
        </p:txBody>
      </p:sp>
      <p:sp>
        <p:nvSpPr>
          <p:cNvPr id="15" name="矩形 14">
            <a:extLst>
              <a:ext uri="{FF2B5EF4-FFF2-40B4-BE49-F238E27FC236}">
                <a16:creationId xmlns:a16="http://schemas.microsoft.com/office/drawing/2014/main" id="{56D33D00-85D6-064B-A329-4FA724561018}"/>
              </a:ext>
            </a:extLst>
          </p:cNvPr>
          <p:cNvSpPr/>
          <p:nvPr/>
        </p:nvSpPr>
        <p:spPr>
          <a:xfrm>
            <a:off x="6074832" y="6671731"/>
            <a:ext cx="2374901" cy="186268"/>
          </a:xfrm>
          <a:prstGeom prst="rect">
            <a:avLst/>
          </a:prstGeom>
          <a:solidFill>
            <a:srgbClr val="9C53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t>2025.07.21</a:t>
            </a:r>
            <a:endParaRPr kumimoji="1" lang="zh-CN" altLang="en-US" sz="1200" dirty="0"/>
          </a:p>
        </p:txBody>
      </p:sp>
      <p:sp>
        <p:nvSpPr>
          <p:cNvPr id="16" name="矩形 15">
            <a:extLst>
              <a:ext uri="{FF2B5EF4-FFF2-40B4-BE49-F238E27FC236}">
                <a16:creationId xmlns:a16="http://schemas.microsoft.com/office/drawing/2014/main" id="{86551296-CD29-084E-9713-D38000C31A77}"/>
              </a:ext>
            </a:extLst>
          </p:cNvPr>
          <p:cNvSpPr/>
          <p:nvPr/>
        </p:nvSpPr>
        <p:spPr>
          <a:xfrm>
            <a:off x="8106833" y="6671730"/>
            <a:ext cx="1037167" cy="186270"/>
          </a:xfrm>
          <a:prstGeom prst="rect">
            <a:avLst/>
          </a:prstGeom>
          <a:solidFill>
            <a:srgbClr val="9D53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t>8/35</a:t>
            </a:r>
            <a:endParaRPr kumimoji="1" lang="zh-CN" altLang="en-US" sz="1200" dirty="0"/>
          </a:p>
        </p:txBody>
      </p:sp>
      <p:sp>
        <p:nvSpPr>
          <p:cNvPr id="11" name="椭圆 10">
            <a:extLst>
              <a:ext uri="{FF2B5EF4-FFF2-40B4-BE49-F238E27FC236}">
                <a16:creationId xmlns:a16="http://schemas.microsoft.com/office/drawing/2014/main" id="{6227488F-F7BC-4B4C-B261-9C068A4C1D61}"/>
              </a:ext>
            </a:extLst>
          </p:cNvPr>
          <p:cNvSpPr/>
          <p:nvPr/>
        </p:nvSpPr>
        <p:spPr>
          <a:xfrm>
            <a:off x="2768599" y="2849031"/>
            <a:ext cx="351367" cy="351367"/>
          </a:xfrm>
          <a:prstGeom prst="ellipse">
            <a:avLst/>
          </a:prstGeom>
          <a:solidFill>
            <a:srgbClr val="0030F0"/>
          </a:solidFill>
          <a:ln>
            <a:no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t>2</a:t>
            </a:r>
            <a:endParaRPr kumimoji="1" lang="zh-CN" altLang="en-US" dirty="0"/>
          </a:p>
        </p:txBody>
      </p:sp>
      <p:sp>
        <p:nvSpPr>
          <p:cNvPr id="17" name="矩形 16">
            <a:extLst>
              <a:ext uri="{FF2B5EF4-FFF2-40B4-BE49-F238E27FC236}">
                <a16:creationId xmlns:a16="http://schemas.microsoft.com/office/drawing/2014/main" id="{ED429AA7-F64E-9445-AA12-536A703CF945}"/>
              </a:ext>
            </a:extLst>
          </p:cNvPr>
          <p:cNvSpPr/>
          <p:nvPr/>
        </p:nvSpPr>
        <p:spPr>
          <a:xfrm>
            <a:off x="-1" y="0"/>
            <a:ext cx="9143995" cy="246920"/>
          </a:xfrm>
          <a:prstGeom prst="rect">
            <a:avLst/>
          </a:prstGeom>
          <a:solidFill>
            <a:srgbClr val="8B30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200" dirty="0"/>
          </a:p>
        </p:txBody>
      </p:sp>
    </p:spTree>
    <p:extLst>
      <p:ext uri="{BB962C8B-B14F-4D97-AF65-F5344CB8AC3E}">
        <p14:creationId xmlns:p14="http://schemas.microsoft.com/office/powerpoint/2010/main" val="3669323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a:extLst>
              <a:ext uri="{FF2B5EF4-FFF2-40B4-BE49-F238E27FC236}">
                <a16:creationId xmlns:a16="http://schemas.microsoft.com/office/drawing/2014/main" id="{7298F338-BF45-D446-A7EB-9738B9AF0B49}"/>
              </a:ext>
            </a:extLst>
          </p:cNvPr>
          <p:cNvSpPr/>
          <p:nvPr/>
        </p:nvSpPr>
        <p:spPr>
          <a:xfrm>
            <a:off x="0" y="6671732"/>
            <a:ext cx="3069166" cy="186267"/>
          </a:xfrm>
          <a:prstGeom prst="rect">
            <a:avLst/>
          </a:prstGeom>
          <a:solidFill>
            <a:srgbClr val="8B30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t>Luo Zhou et al.</a:t>
            </a:r>
            <a:endParaRPr kumimoji="1" lang="zh-CN" altLang="en-US" sz="1200" dirty="0"/>
          </a:p>
        </p:txBody>
      </p:sp>
      <p:sp>
        <p:nvSpPr>
          <p:cNvPr id="13" name="矩形 12">
            <a:extLst>
              <a:ext uri="{FF2B5EF4-FFF2-40B4-BE49-F238E27FC236}">
                <a16:creationId xmlns:a16="http://schemas.microsoft.com/office/drawing/2014/main" id="{F34D8F6A-E87C-8145-BE0C-C609627D4B7C}"/>
              </a:ext>
            </a:extLst>
          </p:cNvPr>
          <p:cNvSpPr/>
          <p:nvPr/>
        </p:nvSpPr>
        <p:spPr>
          <a:xfrm>
            <a:off x="3069166" y="6671732"/>
            <a:ext cx="3005666" cy="186268"/>
          </a:xfrm>
          <a:prstGeom prst="rect">
            <a:avLst/>
          </a:prstGeom>
          <a:solidFill>
            <a:srgbClr val="9141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t>Donghua University</a:t>
            </a:r>
            <a:endParaRPr kumimoji="1" lang="zh-CN" altLang="en-US" sz="1200" dirty="0"/>
          </a:p>
        </p:txBody>
      </p:sp>
      <p:sp>
        <p:nvSpPr>
          <p:cNvPr id="15" name="矩形 14">
            <a:extLst>
              <a:ext uri="{FF2B5EF4-FFF2-40B4-BE49-F238E27FC236}">
                <a16:creationId xmlns:a16="http://schemas.microsoft.com/office/drawing/2014/main" id="{56D33D00-85D6-064B-A329-4FA724561018}"/>
              </a:ext>
            </a:extLst>
          </p:cNvPr>
          <p:cNvSpPr/>
          <p:nvPr/>
        </p:nvSpPr>
        <p:spPr>
          <a:xfrm>
            <a:off x="6074832" y="6671731"/>
            <a:ext cx="2374901" cy="186268"/>
          </a:xfrm>
          <a:prstGeom prst="rect">
            <a:avLst/>
          </a:prstGeom>
          <a:solidFill>
            <a:srgbClr val="9C53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t>2025.07.21</a:t>
            </a:r>
            <a:endParaRPr kumimoji="1" lang="zh-CN" altLang="en-US" sz="1200" dirty="0"/>
          </a:p>
        </p:txBody>
      </p:sp>
      <p:sp>
        <p:nvSpPr>
          <p:cNvPr id="16" name="矩形 15">
            <a:extLst>
              <a:ext uri="{FF2B5EF4-FFF2-40B4-BE49-F238E27FC236}">
                <a16:creationId xmlns:a16="http://schemas.microsoft.com/office/drawing/2014/main" id="{86551296-CD29-084E-9713-D38000C31A77}"/>
              </a:ext>
            </a:extLst>
          </p:cNvPr>
          <p:cNvSpPr/>
          <p:nvPr/>
        </p:nvSpPr>
        <p:spPr>
          <a:xfrm>
            <a:off x="8106833" y="6671730"/>
            <a:ext cx="1037167" cy="186270"/>
          </a:xfrm>
          <a:prstGeom prst="rect">
            <a:avLst/>
          </a:prstGeom>
          <a:solidFill>
            <a:srgbClr val="9D53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t>9/35</a:t>
            </a:r>
            <a:endParaRPr kumimoji="1" lang="zh-CN" altLang="en-US" sz="1200" dirty="0"/>
          </a:p>
        </p:txBody>
      </p:sp>
      <p:sp>
        <p:nvSpPr>
          <p:cNvPr id="18" name="矩形 17">
            <a:extLst>
              <a:ext uri="{FF2B5EF4-FFF2-40B4-BE49-F238E27FC236}">
                <a16:creationId xmlns:a16="http://schemas.microsoft.com/office/drawing/2014/main" id="{0C7C7718-50BC-064C-A6C9-83D2313EAFC4}"/>
              </a:ext>
            </a:extLst>
          </p:cNvPr>
          <p:cNvSpPr/>
          <p:nvPr/>
        </p:nvSpPr>
        <p:spPr>
          <a:xfrm>
            <a:off x="0" y="0"/>
            <a:ext cx="9144000" cy="246920"/>
          </a:xfrm>
          <a:prstGeom prst="rect">
            <a:avLst/>
          </a:prstGeom>
          <a:solidFill>
            <a:srgbClr val="8B30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t>Feasibility</a:t>
            </a:r>
            <a:r>
              <a:rPr kumimoji="1" lang="zh-CN" altLang="en-US" sz="1200" dirty="0"/>
              <a:t> </a:t>
            </a:r>
            <a:r>
              <a:rPr kumimoji="1" lang="en-US" altLang="zh-CN" sz="1200" dirty="0"/>
              <a:t>Study</a:t>
            </a:r>
            <a:endParaRPr kumimoji="1" lang="zh-CN" altLang="en-US" sz="1200" dirty="0"/>
          </a:p>
        </p:txBody>
      </p:sp>
      <p:sp>
        <p:nvSpPr>
          <p:cNvPr id="2" name="矩形 1">
            <a:extLst>
              <a:ext uri="{FF2B5EF4-FFF2-40B4-BE49-F238E27FC236}">
                <a16:creationId xmlns:a16="http://schemas.microsoft.com/office/drawing/2014/main" id="{D29C7C69-602C-7844-B74B-2FCBDCA056A0}"/>
              </a:ext>
            </a:extLst>
          </p:cNvPr>
          <p:cNvSpPr/>
          <p:nvPr/>
        </p:nvSpPr>
        <p:spPr>
          <a:xfrm>
            <a:off x="0" y="246919"/>
            <a:ext cx="9143996" cy="48121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zh-CN" sz="2400" dirty="0">
                <a:solidFill>
                  <a:srgbClr val="8B302D"/>
                </a:solidFill>
                <a:latin typeface="+mj-lt"/>
                <a:ea typeface="PingFang SC" panose="020B0400000000000000" pitchFamily="34" charset="-122"/>
                <a:cs typeface="Arial" panose="020B0604020202020204" pitchFamily="34" charset="0"/>
              </a:rPr>
              <a:t>   Physiological Foundation</a:t>
            </a:r>
            <a:endParaRPr kumimoji="1" lang="zh-CN" altLang="en-US" dirty="0">
              <a:solidFill>
                <a:srgbClr val="8B302D"/>
              </a:solidFill>
              <a:latin typeface="+mj-lt"/>
              <a:ea typeface="PingFang SC" panose="020B0400000000000000" pitchFamily="34" charset="-122"/>
              <a:cs typeface="Arial" panose="020B0604020202020204" pitchFamily="34" charset="0"/>
            </a:endParaRPr>
          </a:p>
        </p:txBody>
      </p:sp>
      <p:sp>
        <p:nvSpPr>
          <p:cNvPr id="24" name="矩形 23">
            <a:extLst>
              <a:ext uri="{FF2B5EF4-FFF2-40B4-BE49-F238E27FC236}">
                <a16:creationId xmlns:a16="http://schemas.microsoft.com/office/drawing/2014/main" id="{100EDBAF-96B3-A541-87CB-CEC443D65FDB}"/>
              </a:ext>
            </a:extLst>
          </p:cNvPr>
          <p:cNvSpPr/>
          <p:nvPr/>
        </p:nvSpPr>
        <p:spPr>
          <a:xfrm>
            <a:off x="1727200" y="3747911"/>
            <a:ext cx="1422400" cy="3834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27" name="图片 26">
            <a:extLst>
              <a:ext uri="{FF2B5EF4-FFF2-40B4-BE49-F238E27FC236}">
                <a16:creationId xmlns:a16="http://schemas.microsoft.com/office/drawing/2014/main" id="{F1C2777E-59F3-AB42-AB53-2D75CAA77E85}"/>
              </a:ext>
            </a:extLst>
          </p:cNvPr>
          <p:cNvPicPr>
            <a:picLocks noChangeAspect="1"/>
          </p:cNvPicPr>
          <p:nvPr/>
        </p:nvPicPr>
        <p:blipFill>
          <a:blip r:embed="rId3"/>
          <a:stretch>
            <a:fillRect/>
          </a:stretch>
        </p:blipFill>
        <p:spPr>
          <a:xfrm>
            <a:off x="133350" y="774700"/>
            <a:ext cx="8877300" cy="5308600"/>
          </a:xfrm>
          <a:prstGeom prst="rect">
            <a:avLst/>
          </a:prstGeom>
        </p:spPr>
      </p:pic>
    </p:spTree>
    <p:extLst>
      <p:ext uri="{BB962C8B-B14F-4D97-AF65-F5344CB8AC3E}">
        <p14:creationId xmlns:p14="http://schemas.microsoft.com/office/powerpoint/2010/main" val="17901581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a:extLst>
              <a:ext uri="{FF2B5EF4-FFF2-40B4-BE49-F238E27FC236}">
                <a16:creationId xmlns:a16="http://schemas.microsoft.com/office/drawing/2014/main" id="{7298F338-BF45-D446-A7EB-9738B9AF0B49}"/>
              </a:ext>
            </a:extLst>
          </p:cNvPr>
          <p:cNvSpPr/>
          <p:nvPr/>
        </p:nvSpPr>
        <p:spPr>
          <a:xfrm>
            <a:off x="0" y="6671732"/>
            <a:ext cx="3069166" cy="186267"/>
          </a:xfrm>
          <a:prstGeom prst="rect">
            <a:avLst/>
          </a:prstGeom>
          <a:solidFill>
            <a:srgbClr val="8B30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t>Luo Zhou et al.</a:t>
            </a:r>
            <a:endParaRPr kumimoji="1" lang="zh-CN" altLang="en-US" sz="1200" dirty="0"/>
          </a:p>
        </p:txBody>
      </p:sp>
      <p:sp>
        <p:nvSpPr>
          <p:cNvPr id="13" name="矩形 12">
            <a:extLst>
              <a:ext uri="{FF2B5EF4-FFF2-40B4-BE49-F238E27FC236}">
                <a16:creationId xmlns:a16="http://schemas.microsoft.com/office/drawing/2014/main" id="{F34D8F6A-E87C-8145-BE0C-C609627D4B7C}"/>
              </a:ext>
            </a:extLst>
          </p:cNvPr>
          <p:cNvSpPr/>
          <p:nvPr/>
        </p:nvSpPr>
        <p:spPr>
          <a:xfrm>
            <a:off x="3069166" y="6671732"/>
            <a:ext cx="3005666" cy="186268"/>
          </a:xfrm>
          <a:prstGeom prst="rect">
            <a:avLst/>
          </a:prstGeom>
          <a:solidFill>
            <a:srgbClr val="9141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t>Donghua University</a:t>
            </a:r>
            <a:endParaRPr kumimoji="1" lang="zh-CN" altLang="en-US" sz="1200" dirty="0"/>
          </a:p>
        </p:txBody>
      </p:sp>
      <p:sp>
        <p:nvSpPr>
          <p:cNvPr id="15" name="矩形 14">
            <a:extLst>
              <a:ext uri="{FF2B5EF4-FFF2-40B4-BE49-F238E27FC236}">
                <a16:creationId xmlns:a16="http://schemas.microsoft.com/office/drawing/2014/main" id="{56D33D00-85D6-064B-A329-4FA724561018}"/>
              </a:ext>
            </a:extLst>
          </p:cNvPr>
          <p:cNvSpPr/>
          <p:nvPr/>
        </p:nvSpPr>
        <p:spPr>
          <a:xfrm>
            <a:off x="6074832" y="6671731"/>
            <a:ext cx="2374901" cy="186268"/>
          </a:xfrm>
          <a:prstGeom prst="rect">
            <a:avLst/>
          </a:prstGeom>
          <a:solidFill>
            <a:srgbClr val="9C53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t>2025.07.21</a:t>
            </a:r>
            <a:endParaRPr kumimoji="1" lang="zh-CN" altLang="en-US" sz="1200" dirty="0"/>
          </a:p>
        </p:txBody>
      </p:sp>
      <p:sp>
        <p:nvSpPr>
          <p:cNvPr id="16" name="矩形 15">
            <a:extLst>
              <a:ext uri="{FF2B5EF4-FFF2-40B4-BE49-F238E27FC236}">
                <a16:creationId xmlns:a16="http://schemas.microsoft.com/office/drawing/2014/main" id="{86551296-CD29-084E-9713-D38000C31A77}"/>
              </a:ext>
            </a:extLst>
          </p:cNvPr>
          <p:cNvSpPr/>
          <p:nvPr/>
        </p:nvSpPr>
        <p:spPr>
          <a:xfrm>
            <a:off x="8106833" y="6671730"/>
            <a:ext cx="1037167" cy="186270"/>
          </a:xfrm>
          <a:prstGeom prst="rect">
            <a:avLst/>
          </a:prstGeom>
          <a:solidFill>
            <a:srgbClr val="9D53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t>10/35</a:t>
            </a:r>
            <a:endParaRPr kumimoji="1" lang="zh-CN" altLang="en-US" sz="1200" dirty="0"/>
          </a:p>
        </p:txBody>
      </p:sp>
      <p:sp>
        <p:nvSpPr>
          <p:cNvPr id="2" name="矩形 1">
            <a:extLst>
              <a:ext uri="{FF2B5EF4-FFF2-40B4-BE49-F238E27FC236}">
                <a16:creationId xmlns:a16="http://schemas.microsoft.com/office/drawing/2014/main" id="{D29C7C69-602C-7844-B74B-2FCBDCA056A0}"/>
              </a:ext>
            </a:extLst>
          </p:cNvPr>
          <p:cNvSpPr/>
          <p:nvPr/>
        </p:nvSpPr>
        <p:spPr>
          <a:xfrm>
            <a:off x="0" y="246919"/>
            <a:ext cx="9143996" cy="48121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zh-CN" sz="2400" dirty="0">
                <a:solidFill>
                  <a:srgbClr val="8B302D"/>
                </a:solidFill>
                <a:latin typeface="+mj-lt"/>
                <a:ea typeface="PingFang SC" panose="020B0400000000000000" pitchFamily="34" charset="-122"/>
                <a:cs typeface="Arial" panose="020B0604020202020204" pitchFamily="34" charset="0"/>
              </a:rPr>
              <a:t>   Speech-aware Pressure Sequences (SPSs)</a:t>
            </a:r>
            <a:endParaRPr kumimoji="1" lang="zh-CN" altLang="en-US" dirty="0">
              <a:solidFill>
                <a:srgbClr val="8B302D"/>
              </a:solidFill>
              <a:latin typeface="+mj-lt"/>
              <a:ea typeface="PingFang SC" panose="020B0400000000000000" pitchFamily="34" charset="-122"/>
              <a:cs typeface="Arial" panose="020B0604020202020204" pitchFamily="34" charset="0"/>
            </a:endParaRPr>
          </a:p>
        </p:txBody>
      </p:sp>
      <p:sp>
        <p:nvSpPr>
          <p:cNvPr id="20" name="文本框 19">
            <a:extLst>
              <a:ext uri="{FF2B5EF4-FFF2-40B4-BE49-F238E27FC236}">
                <a16:creationId xmlns:a16="http://schemas.microsoft.com/office/drawing/2014/main" id="{850E54E4-EB54-944B-87EE-05C338CDAE92}"/>
              </a:ext>
            </a:extLst>
          </p:cNvPr>
          <p:cNvSpPr txBox="1"/>
          <p:nvPr/>
        </p:nvSpPr>
        <p:spPr>
          <a:xfrm>
            <a:off x="1682855" y="1190068"/>
            <a:ext cx="1944956" cy="338554"/>
          </a:xfrm>
          <a:prstGeom prst="rect">
            <a:avLst/>
          </a:prstGeom>
          <a:solidFill>
            <a:schemeClr val="accent2">
              <a:lumMod val="20000"/>
              <a:lumOff val="80000"/>
            </a:schemeClr>
          </a:solidFill>
        </p:spPr>
        <p:txBody>
          <a:bodyPr wrap="none" rtlCol="0">
            <a:spAutoFit/>
          </a:bodyPr>
          <a:lstStyle/>
          <a:p>
            <a:r>
              <a:rPr kumimoji="1" lang="en-US" altLang="zh-CN" sz="1600" dirty="0"/>
              <a:t>Navigate to my office</a:t>
            </a:r>
            <a:endParaRPr kumimoji="1" lang="zh-CN" altLang="en-US" sz="1600" dirty="0"/>
          </a:p>
        </p:txBody>
      </p:sp>
      <p:pic>
        <p:nvPicPr>
          <p:cNvPr id="22" name="图片 21">
            <a:extLst>
              <a:ext uri="{FF2B5EF4-FFF2-40B4-BE49-F238E27FC236}">
                <a16:creationId xmlns:a16="http://schemas.microsoft.com/office/drawing/2014/main" id="{800FE892-D020-EF49-8F4A-FAAA122AA9F4}"/>
              </a:ext>
            </a:extLst>
          </p:cNvPr>
          <p:cNvPicPr>
            <a:picLocks noChangeAspect="1"/>
          </p:cNvPicPr>
          <p:nvPr/>
        </p:nvPicPr>
        <p:blipFill>
          <a:blip r:embed="rId3"/>
          <a:stretch>
            <a:fillRect/>
          </a:stretch>
        </p:blipFill>
        <p:spPr>
          <a:xfrm>
            <a:off x="1133989" y="3599989"/>
            <a:ext cx="381000" cy="381000"/>
          </a:xfrm>
          <a:prstGeom prst="rect">
            <a:avLst/>
          </a:prstGeom>
        </p:spPr>
      </p:pic>
      <p:pic>
        <p:nvPicPr>
          <p:cNvPr id="23" name="图片 22">
            <a:extLst>
              <a:ext uri="{FF2B5EF4-FFF2-40B4-BE49-F238E27FC236}">
                <a16:creationId xmlns:a16="http://schemas.microsoft.com/office/drawing/2014/main" id="{DC108893-4124-D14A-9767-E25030627E8D}"/>
              </a:ext>
            </a:extLst>
          </p:cNvPr>
          <p:cNvPicPr>
            <a:picLocks noChangeAspect="1"/>
          </p:cNvPicPr>
          <p:nvPr/>
        </p:nvPicPr>
        <p:blipFill>
          <a:blip r:embed="rId4"/>
          <a:stretch>
            <a:fillRect/>
          </a:stretch>
        </p:blipFill>
        <p:spPr>
          <a:xfrm>
            <a:off x="1596777" y="1598896"/>
            <a:ext cx="2031034" cy="3031393"/>
          </a:xfrm>
          <a:prstGeom prst="rect">
            <a:avLst/>
          </a:prstGeom>
        </p:spPr>
      </p:pic>
      <p:sp>
        <p:nvSpPr>
          <p:cNvPr id="27" name="文本框 26">
            <a:extLst>
              <a:ext uri="{FF2B5EF4-FFF2-40B4-BE49-F238E27FC236}">
                <a16:creationId xmlns:a16="http://schemas.microsoft.com/office/drawing/2014/main" id="{364AEBAE-63F9-3540-9E81-C516119D0D4D}"/>
              </a:ext>
            </a:extLst>
          </p:cNvPr>
          <p:cNvSpPr txBox="1"/>
          <p:nvPr/>
        </p:nvSpPr>
        <p:spPr>
          <a:xfrm>
            <a:off x="5878872" y="1185764"/>
            <a:ext cx="1448858" cy="338554"/>
          </a:xfrm>
          <a:prstGeom prst="rect">
            <a:avLst/>
          </a:prstGeom>
          <a:solidFill>
            <a:schemeClr val="accent5">
              <a:lumMod val="40000"/>
              <a:lumOff val="60000"/>
            </a:schemeClr>
          </a:solidFill>
        </p:spPr>
        <p:txBody>
          <a:bodyPr wrap="none" rtlCol="0">
            <a:spAutoFit/>
          </a:bodyPr>
          <a:lstStyle/>
          <a:p>
            <a:r>
              <a:rPr kumimoji="1" lang="en-US" altLang="zh-CN" sz="1600" dirty="0"/>
              <a:t>Video</a:t>
            </a:r>
            <a:r>
              <a:rPr kumimoji="1" lang="zh-CN" altLang="en-US" sz="1600" dirty="0"/>
              <a:t> </a:t>
            </a:r>
            <a:r>
              <a:rPr kumimoji="1" lang="en-US" altLang="zh-CN" sz="1600" dirty="0"/>
              <a:t>my mom</a:t>
            </a:r>
            <a:endParaRPr kumimoji="1" lang="zh-CN" altLang="en-US" sz="1600" dirty="0"/>
          </a:p>
        </p:txBody>
      </p:sp>
      <p:pic>
        <p:nvPicPr>
          <p:cNvPr id="28" name="图片 27">
            <a:extLst>
              <a:ext uri="{FF2B5EF4-FFF2-40B4-BE49-F238E27FC236}">
                <a16:creationId xmlns:a16="http://schemas.microsoft.com/office/drawing/2014/main" id="{DD36034B-DAFF-1B4C-9956-A6CCB46F98FB}"/>
              </a:ext>
            </a:extLst>
          </p:cNvPr>
          <p:cNvPicPr>
            <a:picLocks noChangeAspect="1"/>
          </p:cNvPicPr>
          <p:nvPr/>
        </p:nvPicPr>
        <p:blipFill>
          <a:blip r:embed="rId5"/>
          <a:stretch>
            <a:fillRect/>
          </a:stretch>
        </p:blipFill>
        <p:spPr>
          <a:xfrm>
            <a:off x="5543233" y="1599868"/>
            <a:ext cx="1920000" cy="1440000"/>
          </a:xfrm>
          <a:prstGeom prst="rect">
            <a:avLst/>
          </a:prstGeom>
        </p:spPr>
      </p:pic>
      <p:pic>
        <p:nvPicPr>
          <p:cNvPr id="29" name="图片 28">
            <a:extLst>
              <a:ext uri="{FF2B5EF4-FFF2-40B4-BE49-F238E27FC236}">
                <a16:creationId xmlns:a16="http://schemas.microsoft.com/office/drawing/2014/main" id="{AB6C479B-BE53-6242-AAF1-1A0069009EC3}"/>
              </a:ext>
            </a:extLst>
          </p:cNvPr>
          <p:cNvPicPr>
            <a:picLocks noChangeAspect="1"/>
          </p:cNvPicPr>
          <p:nvPr/>
        </p:nvPicPr>
        <p:blipFill>
          <a:blip r:embed="rId6"/>
          <a:stretch>
            <a:fillRect/>
          </a:stretch>
        </p:blipFill>
        <p:spPr>
          <a:xfrm>
            <a:off x="4886676" y="2054729"/>
            <a:ext cx="385200" cy="385200"/>
          </a:xfrm>
          <a:prstGeom prst="rect">
            <a:avLst/>
          </a:prstGeom>
        </p:spPr>
      </p:pic>
      <p:pic>
        <p:nvPicPr>
          <p:cNvPr id="31" name="图片 30">
            <a:extLst>
              <a:ext uri="{FF2B5EF4-FFF2-40B4-BE49-F238E27FC236}">
                <a16:creationId xmlns:a16="http://schemas.microsoft.com/office/drawing/2014/main" id="{0F9A4530-53B0-E844-A347-665B69A8FFC5}"/>
              </a:ext>
            </a:extLst>
          </p:cNvPr>
          <p:cNvPicPr>
            <a:picLocks noChangeAspect="1"/>
          </p:cNvPicPr>
          <p:nvPr/>
        </p:nvPicPr>
        <p:blipFill>
          <a:blip r:embed="rId7"/>
          <a:stretch>
            <a:fillRect/>
          </a:stretch>
        </p:blipFill>
        <p:spPr>
          <a:xfrm>
            <a:off x="5518277" y="3146793"/>
            <a:ext cx="1944956" cy="1438335"/>
          </a:xfrm>
          <a:prstGeom prst="rect">
            <a:avLst/>
          </a:prstGeom>
        </p:spPr>
      </p:pic>
      <p:pic>
        <p:nvPicPr>
          <p:cNvPr id="33" name="图片 32">
            <a:extLst>
              <a:ext uri="{FF2B5EF4-FFF2-40B4-BE49-F238E27FC236}">
                <a16:creationId xmlns:a16="http://schemas.microsoft.com/office/drawing/2014/main" id="{4587CC5D-9D87-0F43-B6F6-B19F1A3B16DE}"/>
              </a:ext>
            </a:extLst>
          </p:cNvPr>
          <p:cNvPicPr>
            <a:picLocks noChangeAspect="1"/>
          </p:cNvPicPr>
          <p:nvPr/>
        </p:nvPicPr>
        <p:blipFill>
          <a:blip r:embed="rId8"/>
          <a:stretch>
            <a:fillRect/>
          </a:stretch>
        </p:blipFill>
        <p:spPr>
          <a:xfrm>
            <a:off x="4969501" y="3599989"/>
            <a:ext cx="385200" cy="385200"/>
          </a:xfrm>
          <a:prstGeom prst="rect">
            <a:avLst/>
          </a:prstGeom>
        </p:spPr>
      </p:pic>
      <p:sp>
        <p:nvSpPr>
          <p:cNvPr id="34" name="燕尾形箭头 33">
            <a:extLst>
              <a:ext uri="{FF2B5EF4-FFF2-40B4-BE49-F238E27FC236}">
                <a16:creationId xmlns:a16="http://schemas.microsoft.com/office/drawing/2014/main" id="{D7F5F21C-87D6-5A47-8A09-45E0C9F114E9}"/>
              </a:ext>
            </a:extLst>
          </p:cNvPr>
          <p:cNvSpPr/>
          <p:nvPr/>
        </p:nvSpPr>
        <p:spPr>
          <a:xfrm rot="5400000">
            <a:off x="2199039" y="4936054"/>
            <a:ext cx="790868" cy="508000"/>
          </a:xfrm>
          <a:prstGeom prst="notchedRightArrow">
            <a:avLst/>
          </a:prstGeom>
          <a:solidFill>
            <a:srgbClr val="003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5" name="文本框 34">
            <a:extLst>
              <a:ext uri="{FF2B5EF4-FFF2-40B4-BE49-F238E27FC236}">
                <a16:creationId xmlns:a16="http://schemas.microsoft.com/office/drawing/2014/main" id="{0DF81C17-BD1E-3B4A-9D2D-39421ADA02AA}"/>
              </a:ext>
            </a:extLst>
          </p:cNvPr>
          <p:cNvSpPr txBox="1"/>
          <p:nvPr/>
        </p:nvSpPr>
        <p:spPr>
          <a:xfrm>
            <a:off x="1992449" y="5749819"/>
            <a:ext cx="1204048" cy="369332"/>
          </a:xfrm>
          <a:prstGeom prst="rect">
            <a:avLst/>
          </a:prstGeom>
          <a:noFill/>
        </p:spPr>
        <p:txBody>
          <a:bodyPr wrap="none" rtlCol="0">
            <a:spAutoFit/>
          </a:bodyPr>
          <a:lstStyle/>
          <a:p>
            <a:r>
              <a:rPr kumimoji="1" lang="en-US" altLang="zh-CN" dirty="0"/>
              <a:t>Detectable</a:t>
            </a:r>
            <a:endParaRPr kumimoji="1" lang="zh-CN" altLang="en-US" dirty="0"/>
          </a:p>
        </p:txBody>
      </p:sp>
      <p:cxnSp>
        <p:nvCxnSpPr>
          <p:cNvPr id="37" name="直线连接符 36">
            <a:extLst>
              <a:ext uri="{FF2B5EF4-FFF2-40B4-BE49-F238E27FC236}">
                <a16:creationId xmlns:a16="http://schemas.microsoft.com/office/drawing/2014/main" id="{AD133B69-3D18-8D48-BE73-AF4AD25BE007}"/>
              </a:ext>
            </a:extLst>
          </p:cNvPr>
          <p:cNvCxnSpPr/>
          <p:nvPr/>
        </p:nvCxnSpPr>
        <p:spPr>
          <a:xfrm>
            <a:off x="4560984" y="1055738"/>
            <a:ext cx="0" cy="3738882"/>
          </a:xfrm>
          <a:prstGeom prst="line">
            <a:avLst/>
          </a:prstGeom>
          <a:ln w="12700">
            <a:solidFill>
              <a:schemeClr val="tx1"/>
            </a:solidFill>
          </a:ln>
        </p:spPr>
        <p:style>
          <a:lnRef idx="1">
            <a:schemeClr val="dk1"/>
          </a:lnRef>
          <a:fillRef idx="0">
            <a:schemeClr val="dk1"/>
          </a:fillRef>
          <a:effectRef idx="0">
            <a:schemeClr val="dk1"/>
          </a:effectRef>
          <a:fontRef idx="minor">
            <a:schemeClr val="tx1"/>
          </a:fontRef>
        </p:style>
      </p:cxnSp>
      <p:sp>
        <p:nvSpPr>
          <p:cNvPr id="38" name="燕尾形箭头 37">
            <a:extLst>
              <a:ext uri="{FF2B5EF4-FFF2-40B4-BE49-F238E27FC236}">
                <a16:creationId xmlns:a16="http://schemas.microsoft.com/office/drawing/2014/main" id="{A570AE20-8630-A348-86BD-4137FC9905F3}"/>
              </a:ext>
            </a:extLst>
          </p:cNvPr>
          <p:cNvSpPr/>
          <p:nvPr/>
        </p:nvSpPr>
        <p:spPr>
          <a:xfrm rot="5400000">
            <a:off x="6165020" y="4936054"/>
            <a:ext cx="790868" cy="508000"/>
          </a:xfrm>
          <a:prstGeom prst="notchedRightArrow">
            <a:avLst/>
          </a:prstGeom>
          <a:solidFill>
            <a:srgbClr val="003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9" name="文本框 38">
            <a:extLst>
              <a:ext uri="{FF2B5EF4-FFF2-40B4-BE49-F238E27FC236}">
                <a16:creationId xmlns:a16="http://schemas.microsoft.com/office/drawing/2014/main" id="{C3661D14-11A6-144F-BA36-295EC16BEE22}"/>
              </a:ext>
            </a:extLst>
          </p:cNvPr>
          <p:cNvSpPr txBox="1"/>
          <p:nvPr/>
        </p:nvSpPr>
        <p:spPr>
          <a:xfrm>
            <a:off x="6051500" y="5749819"/>
            <a:ext cx="1017907" cy="369332"/>
          </a:xfrm>
          <a:prstGeom prst="rect">
            <a:avLst/>
          </a:prstGeom>
          <a:noFill/>
        </p:spPr>
        <p:txBody>
          <a:bodyPr wrap="none" rtlCol="0">
            <a:spAutoFit/>
          </a:bodyPr>
          <a:lstStyle/>
          <a:p>
            <a:r>
              <a:rPr kumimoji="1" lang="en-US" altLang="zh-CN" dirty="0"/>
              <a:t>Different</a:t>
            </a:r>
            <a:endParaRPr kumimoji="1" lang="zh-CN" altLang="en-US" dirty="0"/>
          </a:p>
        </p:txBody>
      </p:sp>
      <p:sp>
        <p:nvSpPr>
          <p:cNvPr id="40" name="矩形 39">
            <a:extLst>
              <a:ext uri="{FF2B5EF4-FFF2-40B4-BE49-F238E27FC236}">
                <a16:creationId xmlns:a16="http://schemas.microsoft.com/office/drawing/2014/main" id="{6BBEE985-D4AB-4843-8FDA-E9F0233D7E2B}"/>
              </a:ext>
            </a:extLst>
          </p:cNvPr>
          <p:cNvSpPr/>
          <p:nvPr/>
        </p:nvSpPr>
        <p:spPr>
          <a:xfrm>
            <a:off x="0" y="0"/>
            <a:ext cx="9144000" cy="246920"/>
          </a:xfrm>
          <a:prstGeom prst="rect">
            <a:avLst/>
          </a:prstGeom>
          <a:solidFill>
            <a:srgbClr val="8B30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t>Feasibility</a:t>
            </a:r>
            <a:r>
              <a:rPr kumimoji="1" lang="zh-CN" altLang="en-US" sz="1200" dirty="0"/>
              <a:t> </a:t>
            </a:r>
            <a:r>
              <a:rPr kumimoji="1" lang="en-US" altLang="zh-CN" sz="1200" dirty="0"/>
              <a:t>Study</a:t>
            </a:r>
            <a:endParaRPr kumimoji="1" lang="zh-CN" altLang="en-US" sz="1200" dirty="0"/>
          </a:p>
        </p:txBody>
      </p:sp>
    </p:spTree>
    <p:extLst>
      <p:ext uri="{BB962C8B-B14F-4D97-AF65-F5344CB8AC3E}">
        <p14:creationId xmlns:p14="http://schemas.microsoft.com/office/powerpoint/2010/main" val="12487597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圆角矩形 9">
            <a:extLst>
              <a:ext uri="{FF2B5EF4-FFF2-40B4-BE49-F238E27FC236}">
                <a16:creationId xmlns:a16="http://schemas.microsoft.com/office/drawing/2014/main" id="{2DA8A703-3A5D-954E-97F2-8118418F5066}"/>
              </a:ext>
            </a:extLst>
          </p:cNvPr>
          <p:cNvSpPr/>
          <p:nvPr/>
        </p:nvSpPr>
        <p:spPr>
          <a:xfrm>
            <a:off x="1037165" y="2582333"/>
            <a:ext cx="7069667" cy="846667"/>
          </a:xfrm>
          <a:prstGeom prst="roundRect">
            <a:avLst/>
          </a:prstGeom>
          <a:solidFill>
            <a:srgbClr val="8B30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3200" dirty="0">
                <a:latin typeface="+mj-lt"/>
              </a:rPr>
              <a:t>Threat Model</a:t>
            </a:r>
            <a:endParaRPr kumimoji="1" lang="zh-CN" altLang="en-US" sz="3200" dirty="0">
              <a:latin typeface="+mj-lt"/>
            </a:endParaRPr>
          </a:p>
        </p:txBody>
      </p:sp>
      <p:sp>
        <p:nvSpPr>
          <p:cNvPr id="12" name="矩形 11">
            <a:extLst>
              <a:ext uri="{FF2B5EF4-FFF2-40B4-BE49-F238E27FC236}">
                <a16:creationId xmlns:a16="http://schemas.microsoft.com/office/drawing/2014/main" id="{7298F338-BF45-D446-A7EB-9738B9AF0B49}"/>
              </a:ext>
            </a:extLst>
          </p:cNvPr>
          <p:cNvSpPr/>
          <p:nvPr/>
        </p:nvSpPr>
        <p:spPr>
          <a:xfrm>
            <a:off x="0" y="6671732"/>
            <a:ext cx="3069166" cy="186267"/>
          </a:xfrm>
          <a:prstGeom prst="rect">
            <a:avLst/>
          </a:prstGeom>
          <a:solidFill>
            <a:srgbClr val="8B30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t>Luo Zhou et al.</a:t>
            </a:r>
            <a:endParaRPr kumimoji="1" lang="zh-CN" altLang="en-US" sz="1200" dirty="0"/>
          </a:p>
        </p:txBody>
      </p:sp>
      <p:sp>
        <p:nvSpPr>
          <p:cNvPr id="13" name="矩形 12">
            <a:extLst>
              <a:ext uri="{FF2B5EF4-FFF2-40B4-BE49-F238E27FC236}">
                <a16:creationId xmlns:a16="http://schemas.microsoft.com/office/drawing/2014/main" id="{F34D8F6A-E87C-8145-BE0C-C609627D4B7C}"/>
              </a:ext>
            </a:extLst>
          </p:cNvPr>
          <p:cNvSpPr/>
          <p:nvPr/>
        </p:nvSpPr>
        <p:spPr>
          <a:xfrm>
            <a:off x="3069166" y="6671732"/>
            <a:ext cx="3005666" cy="186268"/>
          </a:xfrm>
          <a:prstGeom prst="rect">
            <a:avLst/>
          </a:prstGeom>
          <a:solidFill>
            <a:srgbClr val="9141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t>Donghua University</a:t>
            </a:r>
            <a:endParaRPr kumimoji="1" lang="zh-CN" altLang="en-US" sz="1200" dirty="0"/>
          </a:p>
        </p:txBody>
      </p:sp>
      <p:sp>
        <p:nvSpPr>
          <p:cNvPr id="15" name="矩形 14">
            <a:extLst>
              <a:ext uri="{FF2B5EF4-FFF2-40B4-BE49-F238E27FC236}">
                <a16:creationId xmlns:a16="http://schemas.microsoft.com/office/drawing/2014/main" id="{56D33D00-85D6-064B-A329-4FA724561018}"/>
              </a:ext>
            </a:extLst>
          </p:cNvPr>
          <p:cNvSpPr/>
          <p:nvPr/>
        </p:nvSpPr>
        <p:spPr>
          <a:xfrm>
            <a:off x="6074832" y="6671731"/>
            <a:ext cx="2374901" cy="186268"/>
          </a:xfrm>
          <a:prstGeom prst="rect">
            <a:avLst/>
          </a:prstGeom>
          <a:solidFill>
            <a:srgbClr val="9C53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t>2025.07.21</a:t>
            </a:r>
            <a:endParaRPr kumimoji="1" lang="zh-CN" altLang="en-US" sz="1200" dirty="0"/>
          </a:p>
        </p:txBody>
      </p:sp>
      <p:sp>
        <p:nvSpPr>
          <p:cNvPr id="16" name="矩形 15">
            <a:extLst>
              <a:ext uri="{FF2B5EF4-FFF2-40B4-BE49-F238E27FC236}">
                <a16:creationId xmlns:a16="http://schemas.microsoft.com/office/drawing/2014/main" id="{86551296-CD29-084E-9713-D38000C31A77}"/>
              </a:ext>
            </a:extLst>
          </p:cNvPr>
          <p:cNvSpPr/>
          <p:nvPr/>
        </p:nvSpPr>
        <p:spPr>
          <a:xfrm>
            <a:off x="8106833" y="6671730"/>
            <a:ext cx="1037167" cy="186270"/>
          </a:xfrm>
          <a:prstGeom prst="rect">
            <a:avLst/>
          </a:prstGeom>
          <a:solidFill>
            <a:srgbClr val="9D53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t>11/35</a:t>
            </a:r>
            <a:endParaRPr kumimoji="1" lang="zh-CN" altLang="en-US" sz="1200" dirty="0"/>
          </a:p>
        </p:txBody>
      </p:sp>
      <p:sp>
        <p:nvSpPr>
          <p:cNvPr id="11" name="椭圆 10">
            <a:extLst>
              <a:ext uri="{FF2B5EF4-FFF2-40B4-BE49-F238E27FC236}">
                <a16:creationId xmlns:a16="http://schemas.microsoft.com/office/drawing/2014/main" id="{82DF6293-69C1-5247-95C6-CEF299043A2F}"/>
              </a:ext>
            </a:extLst>
          </p:cNvPr>
          <p:cNvSpPr/>
          <p:nvPr/>
        </p:nvSpPr>
        <p:spPr>
          <a:xfrm>
            <a:off x="2904066" y="2849031"/>
            <a:ext cx="351367" cy="351367"/>
          </a:xfrm>
          <a:prstGeom prst="ellipse">
            <a:avLst/>
          </a:prstGeom>
          <a:solidFill>
            <a:srgbClr val="0030F0"/>
          </a:solidFill>
          <a:ln>
            <a:no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t>3</a:t>
            </a:r>
            <a:endParaRPr kumimoji="1" lang="zh-CN" altLang="en-US" dirty="0"/>
          </a:p>
        </p:txBody>
      </p:sp>
      <p:sp>
        <p:nvSpPr>
          <p:cNvPr id="17" name="矩形 16">
            <a:extLst>
              <a:ext uri="{FF2B5EF4-FFF2-40B4-BE49-F238E27FC236}">
                <a16:creationId xmlns:a16="http://schemas.microsoft.com/office/drawing/2014/main" id="{09DB8AB3-EC5D-7D45-B4F8-665E0A9434E2}"/>
              </a:ext>
            </a:extLst>
          </p:cNvPr>
          <p:cNvSpPr/>
          <p:nvPr/>
        </p:nvSpPr>
        <p:spPr>
          <a:xfrm>
            <a:off x="0" y="0"/>
            <a:ext cx="9144000" cy="246920"/>
          </a:xfrm>
          <a:prstGeom prst="rect">
            <a:avLst/>
          </a:prstGeom>
          <a:solidFill>
            <a:srgbClr val="8B30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200" dirty="0"/>
          </a:p>
        </p:txBody>
      </p:sp>
    </p:spTree>
    <p:extLst>
      <p:ext uri="{BB962C8B-B14F-4D97-AF65-F5344CB8AC3E}">
        <p14:creationId xmlns:p14="http://schemas.microsoft.com/office/powerpoint/2010/main" val="20972815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a:extLst>
              <a:ext uri="{FF2B5EF4-FFF2-40B4-BE49-F238E27FC236}">
                <a16:creationId xmlns:a16="http://schemas.microsoft.com/office/drawing/2014/main" id="{7298F338-BF45-D446-A7EB-9738B9AF0B49}"/>
              </a:ext>
            </a:extLst>
          </p:cNvPr>
          <p:cNvSpPr/>
          <p:nvPr/>
        </p:nvSpPr>
        <p:spPr>
          <a:xfrm>
            <a:off x="0" y="6671732"/>
            <a:ext cx="3069166" cy="186267"/>
          </a:xfrm>
          <a:prstGeom prst="rect">
            <a:avLst/>
          </a:prstGeom>
          <a:solidFill>
            <a:srgbClr val="8B30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t>Luo Zhou et al.</a:t>
            </a:r>
            <a:endParaRPr kumimoji="1" lang="zh-CN" altLang="en-US" sz="1200" dirty="0"/>
          </a:p>
        </p:txBody>
      </p:sp>
      <p:sp>
        <p:nvSpPr>
          <p:cNvPr id="13" name="矩形 12">
            <a:extLst>
              <a:ext uri="{FF2B5EF4-FFF2-40B4-BE49-F238E27FC236}">
                <a16:creationId xmlns:a16="http://schemas.microsoft.com/office/drawing/2014/main" id="{F34D8F6A-E87C-8145-BE0C-C609627D4B7C}"/>
              </a:ext>
            </a:extLst>
          </p:cNvPr>
          <p:cNvSpPr/>
          <p:nvPr/>
        </p:nvSpPr>
        <p:spPr>
          <a:xfrm>
            <a:off x="3069166" y="6671732"/>
            <a:ext cx="3005666" cy="186268"/>
          </a:xfrm>
          <a:prstGeom prst="rect">
            <a:avLst/>
          </a:prstGeom>
          <a:solidFill>
            <a:srgbClr val="9141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t>Donghua University</a:t>
            </a:r>
            <a:endParaRPr kumimoji="1" lang="zh-CN" altLang="en-US" sz="1200" dirty="0"/>
          </a:p>
        </p:txBody>
      </p:sp>
      <p:sp>
        <p:nvSpPr>
          <p:cNvPr id="15" name="矩形 14">
            <a:extLst>
              <a:ext uri="{FF2B5EF4-FFF2-40B4-BE49-F238E27FC236}">
                <a16:creationId xmlns:a16="http://schemas.microsoft.com/office/drawing/2014/main" id="{56D33D00-85D6-064B-A329-4FA724561018}"/>
              </a:ext>
            </a:extLst>
          </p:cNvPr>
          <p:cNvSpPr/>
          <p:nvPr/>
        </p:nvSpPr>
        <p:spPr>
          <a:xfrm>
            <a:off x="6074832" y="6671731"/>
            <a:ext cx="2374901" cy="186268"/>
          </a:xfrm>
          <a:prstGeom prst="rect">
            <a:avLst/>
          </a:prstGeom>
          <a:solidFill>
            <a:srgbClr val="9C53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t>2025.07.21</a:t>
            </a:r>
            <a:endParaRPr kumimoji="1" lang="zh-CN" altLang="en-US" sz="1200" dirty="0"/>
          </a:p>
        </p:txBody>
      </p:sp>
      <p:sp>
        <p:nvSpPr>
          <p:cNvPr id="16" name="矩形 15">
            <a:extLst>
              <a:ext uri="{FF2B5EF4-FFF2-40B4-BE49-F238E27FC236}">
                <a16:creationId xmlns:a16="http://schemas.microsoft.com/office/drawing/2014/main" id="{86551296-CD29-084E-9713-D38000C31A77}"/>
              </a:ext>
            </a:extLst>
          </p:cNvPr>
          <p:cNvSpPr/>
          <p:nvPr/>
        </p:nvSpPr>
        <p:spPr>
          <a:xfrm>
            <a:off x="8106833" y="6671730"/>
            <a:ext cx="1037167" cy="186270"/>
          </a:xfrm>
          <a:prstGeom prst="rect">
            <a:avLst/>
          </a:prstGeom>
          <a:solidFill>
            <a:srgbClr val="9D53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t>12/35</a:t>
            </a:r>
            <a:endParaRPr kumimoji="1" lang="zh-CN" altLang="en-US" sz="1200" dirty="0"/>
          </a:p>
        </p:txBody>
      </p:sp>
      <p:sp>
        <p:nvSpPr>
          <p:cNvPr id="18" name="矩形 17">
            <a:extLst>
              <a:ext uri="{FF2B5EF4-FFF2-40B4-BE49-F238E27FC236}">
                <a16:creationId xmlns:a16="http://schemas.microsoft.com/office/drawing/2014/main" id="{0C7C7718-50BC-064C-A6C9-83D2313EAFC4}"/>
              </a:ext>
            </a:extLst>
          </p:cNvPr>
          <p:cNvSpPr/>
          <p:nvPr/>
        </p:nvSpPr>
        <p:spPr>
          <a:xfrm>
            <a:off x="-1" y="0"/>
            <a:ext cx="9144001" cy="246920"/>
          </a:xfrm>
          <a:prstGeom prst="rect">
            <a:avLst/>
          </a:prstGeom>
          <a:solidFill>
            <a:srgbClr val="8B30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t>Threat Model</a:t>
            </a:r>
            <a:endParaRPr kumimoji="1" lang="zh-CN" altLang="en-US" sz="1200" dirty="0"/>
          </a:p>
        </p:txBody>
      </p:sp>
      <p:sp>
        <p:nvSpPr>
          <p:cNvPr id="14" name="矩形 13">
            <a:extLst>
              <a:ext uri="{FF2B5EF4-FFF2-40B4-BE49-F238E27FC236}">
                <a16:creationId xmlns:a16="http://schemas.microsoft.com/office/drawing/2014/main" id="{7CC379A1-1A21-2C45-BC8F-43213190C793}"/>
              </a:ext>
            </a:extLst>
          </p:cNvPr>
          <p:cNvSpPr/>
          <p:nvPr/>
        </p:nvSpPr>
        <p:spPr>
          <a:xfrm>
            <a:off x="0" y="246919"/>
            <a:ext cx="9143996" cy="48121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zh-CN" sz="2400" dirty="0">
                <a:solidFill>
                  <a:srgbClr val="8B302D"/>
                </a:solidFill>
                <a:latin typeface="+mj-lt"/>
                <a:ea typeface="PingFang SC" panose="020B0400000000000000" pitchFamily="34" charset="-122"/>
                <a:cs typeface="Arial" panose="020B0604020202020204" pitchFamily="34" charset="0"/>
              </a:rPr>
              <a:t>   Threat Model</a:t>
            </a:r>
            <a:endParaRPr kumimoji="1" lang="zh-CN" altLang="en-US" dirty="0">
              <a:solidFill>
                <a:srgbClr val="8B302D"/>
              </a:solidFill>
              <a:latin typeface="+mj-lt"/>
              <a:ea typeface="PingFang SC" panose="020B0400000000000000" pitchFamily="34" charset="-122"/>
              <a:cs typeface="Arial" panose="020B0604020202020204" pitchFamily="34" charset="0"/>
            </a:endParaRPr>
          </a:p>
        </p:txBody>
      </p:sp>
      <p:pic>
        <p:nvPicPr>
          <p:cNvPr id="6" name="图片 5">
            <a:extLst>
              <a:ext uri="{FF2B5EF4-FFF2-40B4-BE49-F238E27FC236}">
                <a16:creationId xmlns:a16="http://schemas.microsoft.com/office/drawing/2014/main" id="{BE49F1B2-104F-124F-A087-EBBB2B5A7027}"/>
              </a:ext>
            </a:extLst>
          </p:cNvPr>
          <p:cNvPicPr>
            <a:picLocks noChangeAspect="1"/>
          </p:cNvPicPr>
          <p:nvPr/>
        </p:nvPicPr>
        <p:blipFill>
          <a:blip r:embed="rId3"/>
          <a:stretch>
            <a:fillRect/>
          </a:stretch>
        </p:blipFill>
        <p:spPr>
          <a:xfrm>
            <a:off x="283218" y="1504968"/>
            <a:ext cx="8860778" cy="3149729"/>
          </a:xfrm>
          <a:prstGeom prst="rect">
            <a:avLst/>
          </a:prstGeom>
          <a:ln>
            <a:noFill/>
          </a:ln>
        </p:spPr>
      </p:pic>
    </p:spTree>
    <p:extLst>
      <p:ext uri="{BB962C8B-B14F-4D97-AF65-F5344CB8AC3E}">
        <p14:creationId xmlns:p14="http://schemas.microsoft.com/office/powerpoint/2010/main" val="15968577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圆角矩形 9">
            <a:extLst>
              <a:ext uri="{FF2B5EF4-FFF2-40B4-BE49-F238E27FC236}">
                <a16:creationId xmlns:a16="http://schemas.microsoft.com/office/drawing/2014/main" id="{2DA8A703-3A5D-954E-97F2-8118418F5066}"/>
              </a:ext>
            </a:extLst>
          </p:cNvPr>
          <p:cNvSpPr/>
          <p:nvPr/>
        </p:nvSpPr>
        <p:spPr>
          <a:xfrm>
            <a:off x="1037165" y="2582333"/>
            <a:ext cx="7069667" cy="846667"/>
          </a:xfrm>
          <a:prstGeom prst="roundRect">
            <a:avLst/>
          </a:prstGeom>
          <a:solidFill>
            <a:srgbClr val="8B30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3200" dirty="0">
                <a:latin typeface="+mj-lt"/>
              </a:rPr>
              <a:t>Challenges</a:t>
            </a:r>
            <a:endParaRPr kumimoji="1" lang="zh-CN" altLang="en-US" sz="3200" dirty="0">
              <a:latin typeface="+mj-lt"/>
            </a:endParaRPr>
          </a:p>
        </p:txBody>
      </p:sp>
      <p:sp>
        <p:nvSpPr>
          <p:cNvPr id="12" name="矩形 11">
            <a:extLst>
              <a:ext uri="{FF2B5EF4-FFF2-40B4-BE49-F238E27FC236}">
                <a16:creationId xmlns:a16="http://schemas.microsoft.com/office/drawing/2014/main" id="{7298F338-BF45-D446-A7EB-9738B9AF0B49}"/>
              </a:ext>
            </a:extLst>
          </p:cNvPr>
          <p:cNvSpPr/>
          <p:nvPr/>
        </p:nvSpPr>
        <p:spPr>
          <a:xfrm>
            <a:off x="0" y="6671732"/>
            <a:ext cx="3069166" cy="186267"/>
          </a:xfrm>
          <a:prstGeom prst="rect">
            <a:avLst/>
          </a:prstGeom>
          <a:solidFill>
            <a:srgbClr val="8B30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t>Luo Zhou et al.</a:t>
            </a:r>
            <a:endParaRPr kumimoji="1" lang="zh-CN" altLang="en-US" sz="1200" dirty="0"/>
          </a:p>
        </p:txBody>
      </p:sp>
      <p:sp>
        <p:nvSpPr>
          <p:cNvPr id="13" name="矩形 12">
            <a:extLst>
              <a:ext uri="{FF2B5EF4-FFF2-40B4-BE49-F238E27FC236}">
                <a16:creationId xmlns:a16="http://schemas.microsoft.com/office/drawing/2014/main" id="{F34D8F6A-E87C-8145-BE0C-C609627D4B7C}"/>
              </a:ext>
            </a:extLst>
          </p:cNvPr>
          <p:cNvSpPr/>
          <p:nvPr/>
        </p:nvSpPr>
        <p:spPr>
          <a:xfrm>
            <a:off x="3069166" y="6671732"/>
            <a:ext cx="3005666" cy="186268"/>
          </a:xfrm>
          <a:prstGeom prst="rect">
            <a:avLst/>
          </a:prstGeom>
          <a:solidFill>
            <a:srgbClr val="9141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t>Donghua University</a:t>
            </a:r>
            <a:endParaRPr kumimoji="1" lang="zh-CN" altLang="en-US" sz="1200" dirty="0"/>
          </a:p>
        </p:txBody>
      </p:sp>
      <p:sp>
        <p:nvSpPr>
          <p:cNvPr id="15" name="矩形 14">
            <a:extLst>
              <a:ext uri="{FF2B5EF4-FFF2-40B4-BE49-F238E27FC236}">
                <a16:creationId xmlns:a16="http://schemas.microsoft.com/office/drawing/2014/main" id="{56D33D00-85D6-064B-A329-4FA724561018}"/>
              </a:ext>
            </a:extLst>
          </p:cNvPr>
          <p:cNvSpPr/>
          <p:nvPr/>
        </p:nvSpPr>
        <p:spPr>
          <a:xfrm>
            <a:off x="6074832" y="6671731"/>
            <a:ext cx="2374901" cy="186268"/>
          </a:xfrm>
          <a:prstGeom prst="rect">
            <a:avLst/>
          </a:prstGeom>
          <a:solidFill>
            <a:srgbClr val="9C53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t>2025.07.21</a:t>
            </a:r>
            <a:endParaRPr kumimoji="1" lang="zh-CN" altLang="en-US" sz="1200" dirty="0"/>
          </a:p>
        </p:txBody>
      </p:sp>
      <p:sp>
        <p:nvSpPr>
          <p:cNvPr id="16" name="矩形 15">
            <a:extLst>
              <a:ext uri="{FF2B5EF4-FFF2-40B4-BE49-F238E27FC236}">
                <a16:creationId xmlns:a16="http://schemas.microsoft.com/office/drawing/2014/main" id="{86551296-CD29-084E-9713-D38000C31A77}"/>
              </a:ext>
            </a:extLst>
          </p:cNvPr>
          <p:cNvSpPr/>
          <p:nvPr/>
        </p:nvSpPr>
        <p:spPr>
          <a:xfrm>
            <a:off x="8106833" y="6671730"/>
            <a:ext cx="1037167" cy="186270"/>
          </a:xfrm>
          <a:prstGeom prst="rect">
            <a:avLst/>
          </a:prstGeom>
          <a:solidFill>
            <a:srgbClr val="9D53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t>13/35</a:t>
            </a:r>
            <a:endParaRPr kumimoji="1" lang="zh-CN" altLang="en-US" sz="1200" dirty="0"/>
          </a:p>
        </p:txBody>
      </p:sp>
      <p:sp>
        <p:nvSpPr>
          <p:cNvPr id="11" name="椭圆 10">
            <a:extLst>
              <a:ext uri="{FF2B5EF4-FFF2-40B4-BE49-F238E27FC236}">
                <a16:creationId xmlns:a16="http://schemas.microsoft.com/office/drawing/2014/main" id="{82DF6293-69C1-5247-95C6-CEF299043A2F}"/>
              </a:ext>
            </a:extLst>
          </p:cNvPr>
          <p:cNvSpPr/>
          <p:nvPr/>
        </p:nvSpPr>
        <p:spPr>
          <a:xfrm>
            <a:off x="3124200" y="2849031"/>
            <a:ext cx="351367" cy="351367"/>
          </a:xfrm>
          <a:prstGeom prst="ellipse">
            <a:avLst/>
          </a:prstGeom>
          <a:solidFill>
            <a:srgbClr val="0030F0"/>
          </a:solidFill>
          <a:ln>
            <a:no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t>4</a:t>
            </a:r>
            <a:endParaRPr kumimoji="1" lang="zh-CN" altLang="en-US" dirty="0"/>
          </a:p>
        </p:txBody>
      </p:sp>
      <p:sp>
        <p:nvSpPr>
          <p:cNvPr id="14" name="矩形 13">
            <a:extLst>
              <a:ext uri="{FF2B5EF4-FFF2-40B4-BE49-F238E27FC236}">
                <a16:creationId xmlns:a16="http://schemas.microsoft.com/office/drawing/2014/main" id="{5BBAF7BA-55AD-A848-A0A6-CC5414EFFEA2}"/>
              </a:ext>
            </a:extLst>
          </p:cNvPr>
          <p:cNvSpPr/>
          <p:nvPr/>
        </p:nvSpPr>
        <p:spPr>
          <a:xfrm>
            <a:off x="-1" y="0"/>
            <a:ext cx="9144001" cy="246920"/>
          </a:xfrm>
          <a:prstGeom prst="rect">
            <a:avLst/>
          </a:prstGeom>
          <a:solidFill>
            <a:srgbClr val="8B30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200" dirty="0"/>
          </a:p>
        </p:txBody>
      </p:sp>
    </p:spTree>
    <p:extLst>
      <p:ext uri="{BB962C8B-B14F-4D97-AF65-F5344CB8AC3E}">
        <p14:creationId xmlns:p14="http://schemas.microsoft.com/office/powerpoint/2010/main" val="930397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a:extLst>
              <a:ext uri="{FF2B5EF4-FFF2-40B4-BE49-F238E27FC236}">
                <a16:creationId xmlns:a16="http://schemas.microsoft.com/office/drawing/2014/main" id="{7298F338-BF45-D446-A7EB-9738B9AF0B49}"/>
              </a:ext>
            </a:extLst>
          </p:cNvPr>
          <p:cNvSpPr/>
          <p:nvPr/>
        </p:nvSpPr>
        <p:spPr>
          <a:xfrm>
            <a:off x="0" y="6671732"/>
            <a:ext cx="3069166" cy="186267"/>
          </a:xfrm>
          <a:prstGeom prst="rect">
            <a:avLst/>
          </a:prstGeom>
          <a:solidFill>
            <a:srgbClr val="8B30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t>Luo Zhou et al.</a:t>
            </a:r>
            <a:endParaRPr kumimoji="1" lang="zh-CN" altLang="en-US" sz="1200" dirty="0"/>
          </a:p>
        </p:txBody>
      </p:sp>
      <p:sp>
        <p:nvSpPr>
          <p:cNvPr id="13" name="矩形 12">
            <a:extLst>
              <a:ext uri="{FF2B5EF4-FFF2-40B4-BE49-F238E27FC236}">
                <a16:creationId xmlns:a16="http://schemas.microsoft.com/office/drawing/2014/main" id="{F34D8F6A-E87C-8145-BE0C-C609627D4B7C}"/>
              </a:ext>
            </a:extLst>
          </p:cNvPr>
          <p:cNvSpPr/>
          <p:nvPr/>
        </p:nvSpPr>
        <p:spPr>
          <a:xfrm>
            <a:off x="3069166" y="6671732"/>
            <a:ext cx="3005666" cy="186268"/>
          </a:xfrm>
          <a:prstGeom prst="rect">
            <a:avLst/>
          </a:prstGeom>
          <a:solidFill>
            <a:srgbClr val="9141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t>Donghua University</a:t>
            </a:r>
            <a:endParaRPr kumimoji="1" lang="zh-CN" altLang="en-US" sz="1200" dirty="0"/>
          </a:p>
        </p:txBody>
      </p:sp>
      <p:sp>
        <p:nvSpPr>
          <p:cNvPr id="15" name="矩形 14">
            <a:extLst>
              <a:ext uri="{FF2B5EF4-FFF2-40B4-BE49-F238E27FC236}">
                <a16:creationId xmlns:a16="http://schemas.microsoft.com/office/drawing/2014/main" id="{56D33D00-85D6-064B-A329-4FA724561018}"/>
              </a:ext>
            </a:extLst>
          </p:cNvPr>
          <p:cNvSpPr/>
          <p:nvPr/>
        </p:nvSpPr>
        <p:spPr>
          <a:xfrm>
            <a:off x="6074832" y="6671731"/>
            <a:ext cx="2374901" cy="186268"/>
          </a:xfrm>
          <a:prstGeom prst="rect">
            <a:avLst/>
          </a:prstGeom>
          <a:solidFill>
            <a:srgbClr val="9C53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t>2025.07.21</a:t>
            </a:r>
            <a:endParaRPr kumimoji="1" lang="zh-CN" altLang="en-US" sz="1200" dirty="0"/>
          </a:p>
        </p:txBody>
      </p:sp>
      <p:sp>
        <p:nvSpPr>
          <p:cNvPr id="16" name="矩形 15">
            <a:extLst>
              <a:ext uri="{FF2B5EF4-FFF2-40B4-BE49-F238E27FC236}">
                <a16:creationId xmlns:a16="http://schemas.microsoft.com/office/drawing/2014/main" id="{86551296-CD29-084E-9713-D38000C31A77}"/>
              </a:ext>
            </a:extLst>
          </p:cNvPr>
          <p:cNvSpPr/>
          <p:nvPr/>
        </p:nvSpPr>
        <p:spPr>
          <a:xfrm>
            <a:off x="8106833" y="6671730"/>
            <a:ext cx="1037167" cy="186270"/>
          </a:xfrm>
          <a:prstGeom prst="rect">
            <a:avLst/>
          </a:prstGeom>
          <a:solidFill>
            <a:srgbClr val="9D53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t>14/35</a:t>
            </a:r>
            <a:endParaRPr kumimoji="1" lang="zh-CN" altLang="en-US" sz="1200" dirty="0"/>
          </a:p>
        </p:txBody>
      </p:sp>
      <p:sp>
        <p:nvSpPr>
          <p:cNvPr id="18" name="矩形 17">
            <a:extLst>
              <a:ext uri="{FF2B5EF4-FFF2-40B4-BE49-F238E27FC236}">
                <a16:creationId xmlns:a16="http://schemas.microsoft.com/office/drawing/2014/main" id="{0C7C7718-50BC-064C-A6C9-83D2313EAFC4}"/>
              </a:ext>
            </a:extLst>
          </p:cNvPr>
          <p:cNvSpPr/>
          <p:nvPr/>
        </p:nvSpPr>
        <p:spPr>
          <a:xfrm>
            <a:off x="0" y="0"/>
            <a:ext cx="9144000" cy="246920"/>
          </a:xfrm>
          <a:prstGeom prst="rect">
            <a:avLst/>
          </a:prstGeom>
          <a:solidFill>
            <a:srgbClr val="8B30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t>Challenges</a:t>
            </a:r>
            <a:endParaRPr kumimoji="1" lang="zh-CN" altLang="en-US" sz="1200" dirty="0"/>
          </a:p>
        </p:txBody>
      </p:sp>
      <p:sp>
        <p:nvSpPr>
          <p:cNvPr id="2" name="文本框 1">
            <a:extLst>
              <a:ext uri="{FF2B5EF4-FFF2-40B4-BE49-F238E27FC236}">
                <a16:creationId xmlns:a16="http://schemas.microsoft.com/office/drawing/2014/main" id="{0F9AB802-1384-B64D-AB40-322BB44BA753}"/>
              </a:ext>
            </a:extLst>
          </p:cNvPr>
          <p:cNvSpPr txBox="1"/>
          <p:nvPr/>
        </p:nvSpPr>
        <p:spPr>
          <a:xfrm>
            <a:off x="599878" y="1031392"/>
            <a:ext cx="2004716" cy="461665"/>
          </a:xfrm>
          <a:prstGeom prst="rect">
            <a:avLst/>
          </a:prstGeom>
          <a:noFill/>
        </p:spPr>
        <p:txBody>
          <a:bodyPr wrap="none" rtlCol="0">
            <a:spAutoFit/>
          </a:bodyPr>
          <a:lstStyle/>
          <a:p>
            <a:pPr marL="285750" indent="-285750">
              <a:buFont typeface="Wingdings" pitchFamily="2" charset="2"/>
              <a:buChar char="l"/>
            </a:pPr>
            <a:r>
              <a:rPr kumimoji="1" lang="en-US" altLang="zh-CN" sz="2400" dirty="0">
                <a:solidFill>
                  <a:srgbClr val="8B302D"/>
                </a:solidFill>
                <a:latin typeface="+mj-lt"/>
              </a:rPr>
              <a:t>Challenge</a:t>
            </a:r>
            <a:r>
              <a:rPr kumimoji="1" lang="zh-CN" altLang="en-US" sz="2400" dirty="0">
                <a:solidFill>
                  <a:srgbClr val="8B302D"/>
                </a:solidFill>
                <a:latin typeface="+mj-lt"/>
              </a:rPr>
              <a:t> </a:t>
            </a:r>
            <a:r>
              <a:rPr kumimoji="1" lang="en-US" altLang="zh-CN" sz="2400" dirty="0">
                <a:solidFill>
                  <a:srgbClr val="8B302D"/>
                </a:solidFill>
                <a:latin typeface="+mj-lt"/>
              </a:rPr>
              <a:t>1:</a:t>
            </a:r>
            <a:endParaRPr kumimoji="1" lang="zh-CN" altLang="en-US" sz="2400" dirty="0">
              <a:solidFill>
                <a:srgbClr val="8B302D"/>
              </a:solidFill>
              <a:latin typeface="+mj-lt"/>
            </a:endParaRPr>
          </a:p>
        </p:txBody>
      </p:sp>
      <p:sp>
        <p:nvSpPr>
          <p:cNvPr id="3" name="文本框 2">
            <a:extLst>
              <a:ext uri="{FF2B5EF4-FFF2-40B4-BE49-F238E27FC236}">
                <a16:creationId xmlns:a16="http://schemas.microsoft.com/office/drawing/2014/main" id="{C4409DE9-BDCE-0847-AF0F-7E4081C10E36}"/>
              </a:ext>
            </a:extLst>
          </p:cNvPr>
          <p:cNvSpPr txBox="1"/>
          <p:nvPr/>
        </p:nvSpPr>
        <p:spPr>
          <a:xfrm>
            <a:off x="889000" y="1747518"/>
            <a:ext cx="5576335" cy="461665"/>
          </a:xfrm>
          <a:prstGeom prst="rect">
            <a:avLst/>
          </a:prstGeom>
          <a:noFill/>
        </p:spPr>
        <p:txBody>
          <a:bodyPr wrap="none" rtlCol="0">
            <a:spAutoFit/>
          </a:bodyPr>
          <a:lstStyle/>
          <a:p>
            <a:r>
              <a:rPr kumimoji="1" lang="en-US" altLang="zh-CN" sz="2400" dirty="0"/>
              <a:t>How to eliminate the </a:t>
            </a:r>
            <a:r>
              <a:rPr kumimoji="1" lang="en-US" altLang="zh-CN" sz="2400" dirty="0">
                <a:solidFill>
                  <a:srgbClr val="FF0000"/>
                </a:solidFill>
              </a:rPr>
              <a:t>baseline drift</a:t>
            </a:r>
            <a:r>
              <a:rPr kumimoji="1" lang="en-US" altLang="zh-CN" sz="2400" dirty="0"/>
              <a:t> of SPS</a:t>
            </a:r>
            <a:r>
              <a:rPr kumimoji="1" lang="zh-CN" altLang="en-US" sz="2400" dirty="0"/>
              <a:t> </a:t>
            </a:r>
            <a:r>
              <a:rPr kumimoji="1" lang="en-US" altLang="zh-CN" sz="2400" dirty="0"/>
              <a:t>?</a:t>
            </a:r>
            <a:endParaRPr kumimoji="1" lang="zh-CN" altLang="en-US" sz="2400" dirty="0"/>
          </a:p>
        </p:txBody>
      </p:sp>
      <p:pic>
        <p:nvPicPr>
          <p:cNvPr id="4" name="图片 3">
            <a:extLst>
              <a:ext uri="{FF2B5EF4-FFF2-40B4-BE49-F238E27FC236}">
                <a16:creationId xmlns:a16="http://schemas.microsoft.com/office/drawing/2014/main" id="{7FD5D487-F75A-064E-8C93-D8A2BA52FD46}"/>
              </a:ext>
            </a:extLst>
          </p:cNvPr>
          <p:cNvPicPr>
            <a:picLocks noChangeAspect="1"/>
          </p:cNvPicPr>
          <p:nvPr/>
        </p:nvPicPr>
        <p:blipFill>
          <a:blip r:embed="rId3"/>
          <a:stretch>
            <a:fillRect/>
          </a:stretch>
        </p:blipFill>
        <p:spPr>
          <a:xfrm>
            <a:off x="3428933" y="2615264"/>
            <a:ext cx="3069167" cy="2934259"/>
          </a:xfrm>
          <a:prstGeom prst="rect">
            <a:avLst/>
          </a:prstGeom>
        </p:spPr>
      </p:pic>
      <p:sp>
        <p:nvSpPr>
          <p:cNvPr id="5" name="文本框 4">
            <a:extLst>
              <a:ext uri="{FF2B5EF4-FFF2-40B4-BE49-F238E27FC236}">
                <a16:creationId xmlns:a16="http://schemas.microsoft.com/office/drawing/2014/main" id="{F1148ECF-950C-0047-8FB9-6F37F06AA038}"/>
              </a:ext>
            </a:extLst>
          </p:cNvPr>
          <p:cNvSpPr txBox="1"/>
          <p:nvPr/>
        </p:nvSpPr>
        <p:spPr>
          <a:xfrm>
            <a:off x="2624667" y="5723467"/>
            <a:ext cx="3873433" cy="369332"/>
          </a:xfrm>
          <a:prstGeom prst="rect">
            <a:avLst/>
          </a:prstGeom>
          <a:noFill/>
        </p:spPr>
        <p:txBody>
          <a:bodyPr wrap="none" rtlCol="0">
            <a:spAutoFit/>
          </a:bodyPr>
          <a:lstStyle/>
          <a:p>
            <a:r>
              <a:rPr kumimoji="1" lang="en-US" altLang="zh-CN" dirty="0">
                <a:solidFill>
                  <a:srgbClr val="0030F0"/>
                </a:solidFill>
              </a:rPr>
              <a:t>SPSs</a:t>
            </a:r>
            <a:r>
              <a:rPr kumimoji="1" lang="zh-CN" altLang="en-US" dirty="0">
                <a:solidFill>
                  <a:srgbClr val="0030F0"/>
                </a:solidFill>
              </a:rPr>
              <a:t> </a:t>
            </a:r>
            <a:r>
              <a:rPr kumimoji="1" lang="en-US" altLang="zh-CN" dirty="0">
                <a:solidFill>
                  <a:srgbClr val="0030F0"/>
                </a:solidFill>
              </a:rPr>
              <a:t>under 3 classical moving scenarios</a:t>
            </a:r>
            <a:endParaRPr kumimoji="1" lang="zh-CN" altLang="en-US" dirty="0">
              <a:solidFill>
                <a:srgbClr val="0030F0"/>
              </a:solidFill>
            </a:endParaRPr>
          </a:p>
        </p:txBody>
      </p:sp>
      <p:pic>
        <p:nvPicPr>
          <p:cNvPr id="7" name="图片 6">
            <a:extLst>
              <a:ext uri="{FF2B5EF4-FFF2-40B4-BE49-F238E27FC236}">
                <a16:creationId xmlns:a16="http://schemas.microsoft.com/office/drawing/2014/main" id="{151BF7AD-86D2-F347-A894-8EE64C260D41}"/>
              </a:ext>
            </a:extLst>
          </p:cNvPr>
          <p:cNvPicPr>
            <a:picLocks noChangeAspect="1"/>
          </p:cNvPicPr>
          <p:nvPr/>
        </p:nvPicPr>
        <p:blipFill>
          <a:blip r:embed="rId4"/>
          <a:stretch>
            <a:fillRect/>
          </a:stretch>
        </p:blipFill>
        <p:spPr>
          <a:xfrm flipH="1">
            <a:off x="2288053" y="2673594"/>
            <a:ext cx="778933" cy="778933"/>
          </a:xfrm>
          <a:prstGeom prst="rect">
            <a:avLst/>
          </a:prstGeom>
        </p:spPr>
      </p:pic>
      <p:pic>
        <p:nvPicPr>
          <p:cNvPr id="9" name="图片 8">
            <a:extLst>
              <a:ext uri="{FF2B5EF4-FFF2-40B4-BE49-F238E27FC236}">
                <a16:creationId xmlns:a16="http://schemas.microsoft.com/office/drawing/2014/main" id="{B16DB742-4B20-1E4C-8F6F-878CDF35F04B}"/>
              </a:ext>
            </a:extLst>
          </p:cNvPr>
          <p:cNvPicPr>
            <a:picLocks noChangeAspect="1"/>
          </p:cNvPicPr>
          <p:nvPr/>
        </p:nvPicPr>
        <p:blipFill>
          <a:blip r:embed="rId5"/>
          <a:stretch>
            <a:fillRect/>
          </a:stretch>
        </p:blipFill>
        <p:spPr>
          <a:xfrm>
            <a:off x="2373193" y="4653310"/>
            <a:ext cx="708061" cy="708061"/>
          </a:xfrm>
          <a:prstGeom prst="rect">
            <a:avLst/>
          </a:prstGeom>
        </p:spPr>
      </p:pic>
      <p:pic>
        <p:nvPicPr>
          <p:cNvPr id="23" name="图片 22">
            <a:extLst>
              <a:ext uri="{FF2B5EF4-FFF2-40B4-BE49-F238E27FC236}">
                <a16:creationId xmlns:a16="http://schemas.microsoft.com/office/drawing/2014/main" id="{C6A820F0-5667-FD43-A727-A5790CF135FF}"/>
              </a:ext>
            </a:extLst>
          </p:cNvPr>
          <p:cNvPicPr>
            <a:picLocks noChangeAspect="1"/>
          </p:cNvPicPr>
          <p:nvPr/>
        </p:nvPicPr>
        <p:blipFill>
          <a:blip r:embed="rId6"/>
          <a:stretch>
            <a:fillRect/>
          </a:stretch>
        </p:blipFill>
        <p:spPr>
          <a:xfrm>
            <a:off x="2316589" y="3626471"/>
            <a:ext cx="764665" cy="764665"/>
          </a:xfrm>
          <a:prstGeom prst="rect">
            <a:avLst/>
          </a:prstGeom>
        </p:spPr>
      </p:pic>
    </p:spTree>
    <p:extLst>
      <p:ext uri="{BB962C8B-B14F-4D97-AF65-F5344CB8AC3E}">
        <p14:creationId xmlns:p14="http://schemas.microsoft.com/office/powerpoint/2010/main" val="21933557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a:extLst>
              <a:ext uri="{FF2B5EF4-FFF2-40B4-BE49-F238E27FC236}">
                <a16:creationId xmlns:a16="http://schemas.microsoft.com/office/drawing/2014/main" id="{4C16FEC0-B44E-F247-A0BA-A79B81A98ADC}"/>
              </a:ext>
            </a:extLst>
          </p:cNvPr>
          <p:cNvSpPr txBox="1"/>
          <p:nvPr/>
        </p:nvSpPr>
        <p:spPr>
          <a:xfrm>
            <a:off x="599877" y="2521527"/>
            <a:ext cx="1922962" cy="461665"/>
          </a:xfrm>
          <a:prstGeom prst="rect">
            <a:avLst/>
          </a:prstGeom>
          <a:noFill/>
        </p:spPr>
        <p:txBody>
          <a:bodyPr wrap="none" rtlCol="0">
            <a:spAutoFit/>
          </a:bodyPr>
          <a:lstStyle/>
          <a:p>
            <a:pPr marL="285750" indent="-285750">
              <a:buFont typeface="Wingdings" pitchFamily="2" charset="2"/>
              <a:buChar char="l"/>
            </a:pPr>
            <a:r>
              <a:rPr kumimoji="1" lang="en-US" altLang="zh-CN" sz="2400" dirty="0">
                <a:solidFill>
                  <a:srgbClr val="8B302D"/>
                </a:solidFill>
                <a:latin typeface="+mj-lt"/>
              </a:rPr>
              <a:t>Challenge</a:t>
            </a:r>
            <a:r>
              <a:rPr kumimoji="1" lang="zh-CN" altLang="en-US" sz="2400" dirty="0">
                <a:solidFill>
                  <a:srgbClr val="8B302D"/>
                </a:solidFill>
                <a:latin typeface="+mj-lt"/>
              </a:rPr>
              <a:t> </a:t>
            </a:r>
            <a:r>
              <a:rPr kumimoji="1" lang="en-US" altLang="zh-CN" sz="2400" dirty="0">
                <a:solidFill>
                  <a:srgbClr val="8B302D"/>
                </a:solidFill>
                <a:latin typeface="+mj-lt"/>
              </a:rPr>
              <a:t>2</a:t>
            </a:r>
            <a:endParaRPr kumimoji="1" lang="zh-CN" altLang="en-US" sz="2400" dirty="0">
              <a:solidFill>
                <a:srgbClr val="8B302D"/>
              </a:solidFill>
              <a:latin typeface="+mj-lt"/>
            </a:endParaRPr>
          </a:p>
        </p:txBody>
      </p:sp>
      <p:sp>
        <p:nvSpPr>
          <p:cNvPr id="20" name="文本框 19">
            <a:extLst>
              <a:ext uri="{FF2B5EF4-FFF2-40B4-BE49-F238E27FC236}">
                <a16:creationId xmlns:a16="http://schemas.microsoft.com/office/drawing/2014/main" id="{077DB47A-5562-7D42-A1C9-4617823D2960}"/>
              </a:ext>
            </a:extLst>
          </p:cNvPr>
          <p:cNvSpPr txBox="1"/>
          <p:nvPr/>
        </p:nvSpPr>
        <p:spPr>
          <a:xfrm>
            <a:off x="888999" y="3253894"/>
            <a:ext cx="5664051" cy="461665"/>
          </a:xfrm>
          <a:prstGeom prst="rect">
            <a:avLst/>
          </a:prstGeom>
          <a:noFill/>
        </p:spPr>
        <p:txBody>
          <a:bodyPr wrap="none" rtlCol="0">
            <a:spAutoFit/>
          </a:bodyPr>
          <a:lstStyle/>
          <a:p>
            <a:r>
              <a:rPr kumimoji="1" lang="en-US" altLang="zh-CN" sz="2400" dirty="0"/>
              <a:t>How to adapt</a:t>
            </a:r>
            <a:r>
              <a:rPr kumimoji="1" lang="zh-CN" altLang="en-US" sz="2400" dirty="0"/>
              <a:t> </a:t>
            </a:r>
            <a:r>
              <a:rPr kumimoji="1" lang="en-US" altLang="zh-CN" sz="2400" dirty="0"/>
              <a:t>to </a:t>
            </a:r>
            <a:r>
              <a:rPr kumimoji="1" lang="en-US" altLang="zh-CN" sz="2400" dirty="0">
                <a:solidFill>
                  <a:srgbClr val="FF0000"/>
                </a:solidFill>
              </a:rPr>
              <a:t>various speaking rhythms</a:t>
            </a:r>
            <a:r>
              <a:rPr kumimoji="1" lang="zh-CN" altLang="en-US" sz="2400" dirty="0">
                <a:solidFill>
                  <a:srgbClr val="FF0000"/>
                </a:solidFill>
              </a:rPr>
              <a:t> </a:t>
            </a:r>
            <a:r>
              <a:rPr kumimoji="1" lang="en-US" altLang="zh-CN" sz="2400" dirty="0"/>
              <a:t>?</a:t>
            </a:r>
            <a:endParaRPr kumimoji="1" lang="zh-CN" altLang="en-US" sz="2400" dirty="0"/>
          </a:p>
        </p:txBody>
      </p:sp>
      <p:sp>
        <p:nvSpPr>
          <p:cNvPr id="12" name="矩形 11">
            <a:extLst>
              <a:ext uri="{FF2B5EF4-FFF2-40B4-BE49-F238E27FC236}">
                <a16:creationId xmlns:a16="http://schemas.microsoft.com/office/drawing/2014/main" id="{7298F338-BF45-D446-A7EB-9738B9AF0B49}"/>
              </a:ext>
            </a:extLst>
          </p:cNvPr>
          <p:cNvSpPr/>
          <p:nvPr/>
        </p:nvSpPr>
        <p:spPr>
          <a:xfrm>
            <a:off x="0" y="6671732"/>
            <a:ext cx="3069166" cy="186267"/>
          </a:xfrm>
          <a:prstGeom prst="rect">
            <a:avLst/>
          </a:prstGeom>
          <a:solidFill>
            <a:srgbClr val="8B30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t>Luo Zhou et al.</a:t>
            </a:r>
            <a:endParaRPr kumimoji="1" lang="zh-CN" altLang="en-US" sz="1200" dirty="0"/>
          </a:p>
        </p:txBody>
      </p:sp>
      <p:sp>
        <p:nvSpPr>
          <p:cNvPr id="13" name="矩形 12">
            <a:extLst>
              <a:ext uri="{FF2B5EF4-FFF2-40B4-BE49-F238E27FC236}">
                <a16:creationId xmlns:a16="http://schemas.microsoft.com/office/drawing/2014/main" id="{F34D8F6A-E87C-8145-BE0C-C609627D4B7C}"/>
              </a:ext>
            </a:extLst>
          </p:cNvPr>
          <p:cNvSpPr/>
          <p:nvPr/>
        </p:nvSpPr>
        <p:spPr>
          <a:xfrm>
            <a:off x="3069166" y="6671732"/>
            <a:ext cx="3005666" cy="186268"/>
          </a:xfrm>
          <a:prstGeom prst="rect">
            <a:avLst/>
          </a:prstGeom>
          <a:solidFill>
            <a:srgbClr val="9141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t>Donghua University</a:t>
            </a:r>
            <a:endParaRPr kumimoji="1" lang="zh-CN" altLang="en-US" sz="1200" dirty="0"/>
          </a:p>
        </p:txBody>
      </p:sp>
      <p:sp>
        <p:nvSpPr>
          <p:cNvPr id="15" name="矩形 14">
            <a:extLst>
              <a:ext uri="{FF2B5EF4-FFF2-40B4-BE49-F238E27FC236}">
                <a16:creationId xmlns:a16="http://schemas.microsoft.com/office/drawing/2014/main" id="{56D33D00-85D6-064B-A329-4FA724561018}"/>
              </a:ext>
            </a:extLst>
          </p:cNvPr>
          <p:cNvSpPr/>
          <p:nvPr/>
        </p:nvSpPr>
        <p:spPr>
          <a:xfrm>
            <a:off x="6074832" y="6671731"/>
            <a:ext cx="2374901" cy="186268"/>
          </a:xfrm>
          <a:prstGeom prst="rect">
            <a:avLst/>
          </a:prstGeom>
          <a:solidFill>
            <a:srgbClr val="9C53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t>2025.07.21</a:t>
            </a:r>
            <a:endParaRPr kumimoji="1" lang="zh-CN" altLang="en-US" sz="1200" dirty="0"/>
          </a:p>
        </p:txBody>
      </p:sp>
      <p:sp>
        <p:nvSpPr>
          <p:cNvPr id="16" name="矩形 15">
            <a:extLst>
              <a:ext uri="{FF2B5EF4-FFF2-40B4-BE49-F238E27FC236}">
                <a16:creationId xmlns:a16="http://schemas.microsoft.com/office/drawing/2014/main" id="{86551296-CD29-084E-9713-D38000C31A77}"/>
              </a:ext>
            </a:extLst>
          </p:cNvPr>
          <p:cNvSpPr/>
          <p:nvPr/>
        </p:nvSpPr>
        <p:spPr>
          <a:xfrm>
            <a:off x="8106833" y="6671730"/>
            <a:ext cx="1037167" cy="186270"/>
          </a:xfrm>
          <a:prstGeom prst="rect">
            <a:avLst/>
          </a:prstGeom>
          <a:solidFill>
            <a:srgbClr val="9D53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t>15/35</a:t>
            </a:r>
            <a:endParaRPr kumimoji="1" lang="zh-CN" altLang="en-US" sz="1200" dirty="0"/>
          </a:p>
        </p:txBody>
      </p:sp>
      <p:sp>
        <p:nvSpPr>
          <p:cNvPr id="22" name="文本框 21">
            <a:extLst>
              <a:ext uri="{FF2B5EF4-FFF2-40B4-BE49-F238E27FC236}">
                <a16:creationId xmlns:a16="http://schemas.microsoft.com/office/drawing/2014/main" id="{A661DE5F-EC63-2E49-8914-4E8F93F4636F}"/>
              </a:ext>
            </a:extLst>
          </p:cNvPr>
          <p:cNvSpPr txBox="1"/>
          <p:nvPr/>
        </p:nvSpPr>
        <p:spPr>
          <a:xfrm>
            <a:off x="599878" y="4147131"/>
            <a:ext cx="1922962" cy="461665"/>
          </a:xfrm>
          <a:prstGeom prst="rect">
            <a:avLst/>
          </a:prstGeom>
          <a:noFill/>
        </p:spPr>
        <p:txBody>
          <a:bodyPr wrap="none" rtlCol="0">
            <a:spAutoFit/>
          </a:bodyPr>
          <a:lstStyle/>
          <a:p>
            <a:pPr marL="285750" indent="-285750">
              <a:buFont typeface="Wingdings" pitchFamily="2" charset="2"/>
              <a:buChar char="l"/>
            </a:pPr>
            <a:r>
              <a:rPr kumimoji="1" lang="en-US" altLang="zh-CN" sz="2400" dirty="0">
                <a:solidFill>
                  <a:schemeClr val="bg1">
                    <a:lumMod val="75000"/>
                  </a:schemeClr>
                </a:solidFill>
                <a:latin typeface="+mj-lt"/>
              </a:rPr>
              <a:t>Challenge</a:t>
            </a:r>
            <a:r>
              <a:rPr kumimoji="1" lang="zh-CN" altLang="en-US" sz="2400" dirty="0">
                <a:solidFill>
                  <a:schemeClr val="bg1">
                    <a:lumMod val="75000"/>
                  </a:schemeClr>
                </a:solidFill>
                <a:latin typeface="+mj-lt"/>
              </a:rPr>
              <a:t> </a:t>
            </a:r>
            <a:r>
              <a:rPr kumimoji="1" lang="en-US" altLang="zh-CN" sz="2400" dirty="0">
                <a:solidFill>
                  <a:schemeClr val="bg1">
                    <a:lumMod val="75000"/>
                  </a:schemeClr>
                </a:solidFill>
                <a:latin typeface="+mj-lt"/>
              </a:rPr>
              <a:t>3</a:t>
            </a:r>
            <a:endParaRPr kumimoji="1" lang="zh-CN" altLang="en-US" sz="2400" dirty="0">
              <a:solidFill>
                <a:schemeClr val="bg1">
                  <a:lumMod val="75000"/>
                </a:schemeClr>
              </a:solidFill>
              <a:latin typeface="+mj-lt"/>
            </a:endParaRPr>
          </a:p>
        </p:txBody>
      </p:sp>
      <p:sp>
        <p:nvSpPr>
          <p:cNvPr id="23" name="文本框 22">
            <a:extLst>
              <a:ext uri="{FF2B5EF4-FFF2-40B4-BE49-F238E27FC236}">
                <a16:creationId xmlns:a16="http://schemas.microsoft.com/office/drawing/2014/main" id="{90E6F8FC-2BED-F848-A7DC-6CE1775A825C}"/>
              </a:ext>
            </a:extLst>
          </p:cNvPr>
          <p:cNvSpPr txBox="1"/>
          <p:nvPr/>
        </p:nvSpPr>
        <p:spPr>
          <a:xfrm>
            <a:off x="888999" y="4895739"/>
            <a:ext cx="6361934" cy="461665"/>
          </a:xfrm>
          <a:prstGeom prst="rect">
            <a:avLst/>
          </a:prstGeom>
          <a:noFill/>
        </p:spPr>
        <p:txBody>
          <a:bodyPr wrap="none" rtlCol="0">
            <a:spAutoFit/>
          </a:bodyPr>
          <a:lstStyle/>
          <a:p>
            <a:r>
              <a:rPr kumimoji="1" lang="en-US" altLang="zh-CN" sz="2400" dirty="0">
                <a:solidFill>
                  <a:schemeClr val="bg1">
                    <a:lumMod val="75000"/>
                  </a:schemeClr>
                </a:solidFill>
              </a:rPr>
              <a:t>How to extract stable identity features from SPS</a:t>
            </a:r>
            <a:r>
              <a:rPr kumimoji="1" lang="zh-CN" altLang="en-US" sz="2400" dirty="0">
                <a:solidFill>
                  <a:schemeClr val="bg1">
                    <a:lumMod val="75000"/>
                  </a:schemeClr>
                </a:solidFill>
              </a:rPr>
              <a:t> </a:t>
            </a:r>
            <a:r>
              <a:rPr kumimoji="1" lang="en-US" altLang="zh-CN" sz="2400" dirty="0">
                <a:solidFill>
                  <a:schemeClr val="bg1">
                    <a:lumMod val="75000"/>
                  </a:schemeClr>
                </a:solidFill>
              </a:rPr>
              <a:t>?</a:t>
            </a:r>
            <a:endParaRPr kumimoji="1" lang="zh-CN" altLang="en-US" sz="2400" dirty="0">
              <a:solidFill>
                <a:schemeClr val="bg1">
                  <a:lumMod val="75000"/>
                </a:schemeClr>
              </a:solidFill>
            </a:endParaRPr>
          </a:p>
        </p:txBody>
      </p:sp>
      <p:sp>
        <p:nvSpPr>
          <p:cNvPr id="24" name="文本框 23">
            <a:extLst>
              <a:ext uri="{FF2B5EF4-FFF2-40B4-BE49-F238E27FC236}">
                <a16:creationId xmlns:a16="http://schemas.microsoft.com/office/drawing/2014/main" id="{5BD3DB9C-B80B-CB41-9943-D3F24B10CC83}"/>
              </a:ext>
            </a:extLst>
          </p:cNvPr>
          <p:cNvSpPr txBox="1"/>
          <p:nvPr/>
        </p:nvSpPr>
        <p:spPr>
          <a:xfrm>
            <a:off x="599878" y="1031392"/>
            <a:ext cx="2004716" cy="461665"/>
          </a:xfrm>
          <a:prstGeom prst="rect">
            <a:avLst/>
          </a:prstGeom>
          <a:noFill/>
        </p:spPr>
        <p:txBody>
          <a:bodyPr wrap="none" rtlCol="0">
            <a:spAutoFit/>
          </a:bodyPr>
          <a:lstStyle/>
          <a:p>
            <a:pPr marL="285750" indent="-285750">
              <a:buFont typeface="Wingdings" pitchFamily="2" charset="2"/>
              <a:buChar char="l"/>
            </a:pPr>
            <a:r>
              <a:rPr kumimoji="1" lang="en-US" altLang="zh-CN" sz="2400" dirty="0">
                <a:solidFill>
                  <a:schemeClr val="bg1">
                    <a:lumMod val="75000"/>
                  </a:schemeClr>
                </a:solidFill>
                <a:latin typeface="+mj-lt"/>
              </a:rPr>
              <a:t>Challenge</a:t>
            </a:r>
            <a:r>
              <a:rPr kumimoji="1" lang="zh-CN" altLang="en-US" sz="2400" dirty="0">
                <a:solidFill>
                  <a:schemeClr val="bg1">
                    <a:lumMod val="75000"/>
                  </a:schemeClr>
                </a:solidFill>
                <a:latin typeface="+mj-lt"/>
              </a:rPr>
              <a:t> </a:t>
            </a:r>
            <a:r>
              <a:rPr kumimoji="1" lang="en-US" altLang="zh-CN" sz="2400" dirty="0">
                <a:solidFill>
                  <a:schemeClr val="bg1">
                    <a:lumMod val="75000"/>
                  </a:schemeClr>
                </a:solidFill>
                <a:latin typeface="+mj-lt"/>
              </a:rPr>
              <a:t>1:</a:t>
            </a:r>
            <a:endParaRPr kumimoji="1" lang="zh-CN" altLang="en-US" sz="2400" dirty="0">
              <a:solidFill>
                <a:schemeClr val="bg1">
                  <a:lumMod val="75000"/>
                </a:schemeClr>
              </a:solidFill>
              <a:latin typeface="+mj-lt"/>
            </a:endParaRPr>
          </a:p>
        </p:txBody>
      </p:sp>
      <p:sp>
        <p:nvSpPr>
          <p:cNvPr id="25" name="文本框 24">
            <a:extLst>
              <a:ext uri="{FF2B5EF4-FFF2-40B4-BE49-F238E27FC236}">
                <a16:creationId xmlns:a16="http://schemas.microsoft.com/office/drawing/2014/main" id="{487FCA99-5134-B244-9338-D1D07A599388}"/>
              </a:ext>
            </a:extLst>
          </p:cNvPr>
          <p:cNvSpPr txBox="1"/>
          <p:nvPr/>
        </p:nvSpPr>
        <p:spPr>
          <a:xfrm>
            <a:off x="889000" y="1747518"/>
            <a:ext cx="5576335" cy="461665"/>
          </a:xfrm>
          <a:prstGeom prst="rect">
            <a:avLst/>
          </a:prstGeom>
          <a:noFill/>
        </p:spPr>
        <p:txBody>
          <a:bodyPr wrap="none" rtlCol="0">
            <a:spAutoFit/>
          </a:bodyPr>
          <a:lstStyle/>
          <a:p>
            <a:r>
              <a:rPr kumimoji="1" lang="en-US" altLang="zh-CN" sz="2400" dirty="0">
                <a:solidFill>
                  <a:schemeClr val="bg1">
                    <a:lumMod val="75000"/>
                  </a:schemeClr>
                </a:solidFill>
              </a:rPr>
              <a:t>How to eliminate the baseline drift of SPS</a:t>
            </a:r>
            <a:r>
              <a:rPr kumimoji="1" lang="zh-CN" altLang="en-US" sz="2400" dirty="0">
                <a:solidFill>
                  <a:schemeClr val="bg1">
                    <a:lumMod val="75000"/>
                  </a:schemeClr>
                </a:solidFill>
              </a:rPr>
              <a:t> </a:t>
            </a:r>
            <a:r>
              <a:rPr kumimoji="1" lang="en-US" altLang="zh-CN" sz="2400" dirty="0">
                <a:solidFill>
                  <a:schemeClr val="bg1">
                    <a:lumMod val="75000"/>
                  </a:schemeClr>
                </a:solidFill>
              </a:rPr>
              <a:t>?</a:t>
            </a:r>
            <a:endParaRPr kumimoji="1" lang="zh-CN" altLang="en-US" sz="2400" dirty="0">
              <a:solidFill>
                <a:schemeClr val="bg1">
                  <a:lumMod val="75000"/>
                </a:schemeClr>
              </a:solidFill>
            </a:endParaRPr>
          </a:p>
        </p:txBody>
      </p:sp>
      <p:sp>
        <p:nvSpPr>
          <p:cNvPr id="26" name="矩形 25">
            <a:extLst>
              <a:ext uri="{FF2B5EF4-FFF2-40B4-BE49-F238E27FC236}">
                <a16:creationId xmlns:a16="http://schemas.microsoft.com/office/drawing/2014/main" id="{EE21F0BF-8130-1841-A8B2-DD4771C76EB3}"/>
              </a:ext>
            </a:extLst>
          </p:cNvPr>
          <p:cNvSpPr/>
          <p:nvPr/>
        </p:nvSpPr>
        <p:spPr>
          <a:xfrm>
            <a:off x="0" y="0"/>
            <a:ext cx="9144000" cy="246920"/>
          </a:xfrm>
          <a:prstGeom prst="rect">
            <a:avLst/>
          </a:prstGeom>
          <a:solidFill>
            <a:srgbClr val="8B30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t>Challenges</a:t>
            </a:r>
            <a:endParaRPr kumimoji="1" lang="zh-CN" altLang="en-US" sz="1200" dirty="0"/>
          </a:p>
        </p:txBody>
      </p:sp>
    </p:spTree>
    <p:extLst>
      <p:ext uri="{BB962C8B-B14F-4D97-AF65-F5344CB8AC3E}">
        <p14:creationId xmlns:p14="http://schemas.microsoft.com/office/powerpoint/2010/main" val="24909673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a:extLst>
              <a:ext uri="{FF2B5EF4-FFF2-40B4-BE49-F238E27FC236}">
                <a16:creationId xmlns:a16="http://schemas.microsoft.com/office/drawing/2014/main" id="{4C16FEC0-B44E-F247-A0BA-A79B81A98ADC}"/>
              </a:ext>
            </a:extLst>
          </p:cNvPr>
          <p:cNvSpPr txBox="1"/>
          <p:nvPr/>
        </p:nvSpPr>
        <p:spPr>
          <a:xfrm>
            <a:off x="599877" y="2521527"/>
            <a:ext cx="1922962" cy="461665"/>
          </a:xfrm>
          <a:prstGeom prst="rect">
            <a:avLst/>
          </a:prstGeom>
          <a:noFill/>
        </p:spPr>
        <p:txBody>
          <a:bodyPr wrap="none" rtlCol="0">
            <a:spAutoFit/>
          </a:bodyPr>
          <a:lstStyle/>
          <a:p>
            <a:pPr marL="285750" indent="-285750">
              <a:buFont typeface="Wingdings" pitchFamily="2" charset="2"/>
              <a:buChar char="l"/>
            </a:pPr>
            <a:r>
              <a:rPr kumimoji="1" lang="en-US" altLang="zh-CN" sz="2400" dirty="0">
                <a:solidFill>
                  <a:schemeClr val="bg1">
                    <a:lumMod val="75000"/>
                  </a:schemeClr>
                </a:solidFill>
                <a:latin typeface="+mj-lt"/>
              </a:rPr>
              <a:t>Challenge</a:t>
            </a:r>
            <a:r>
              <a:rPr kumimoji="1" lang="zh-CN" altLang="en-US" sz="2400" dirty="0">
                <a:solidFill>
                  <a:schemeClr val="bg1">
                    <a:lumMod val="75000"/>
                  </a:schemeClr>
                </a:solidFill>
                <a:latin typeface="+mj-lt"/>
              </a:rPr>
              <a:t> </a:t>
            </a:r>
            <a:r>
              <a:rPr kumimoji="1" lang="en-US" altLang="zh-CN" sz="2400" dirty="0">
                <a:solidFill>
                  <a:schemeClr val="bg1">
                    <a:lumMod val="75000"/>
                  </a:schemeClr>
                </a:solidFill>
                <a:latin typeface="+mj-lt"/>
              </a:rPr>
              <a:t>2</a:t>
            </a:r>
            <a:endParaRPr kumimoji="1" lang="zh-CN" altLang="en-US" sz="2400" dirty="0">
              <a:solidFill>
                <a:schemeClr val="bg1">
                  <a:lumMod val="75000"/>
                </a:schemeClr>
              </a:solidFill>
              <a:latin typeface="+mj-lt"/>
            </a:endParaRPr>
          </a:p>
        </p:txBody>
      </p:sp>
      <p:sp>
        <p:nvSpPr>
          <p:cNvPr id="20" name="文本框 19">
            <a:extLst>
              <a:ext uri="{FF2B5EF4-FFF2-40B4-BE49-F238E27FC236}">
                <a16:creationId xmlns:a16="http://schemas.microsoft.com/office/drawing/2014/main" id="{077DB47A-5562-7D42-A1C9-4617823D2960}"/>
              </a:ext>
            </a:extLst>
          </p:cNvPr>
          <p:cNvSpPr txBox="1"/>
          <p:nvPr/>
        </p:nvSpPr>
        <p:spPr>
          <a:xfrm>
            <a:off x="888999" y="3253894"/>
            <a:ext cx="5664051" cy="461665"/>
          </a:xfrm>
          <a:prstGeom prst="rect">
            <a:avLst/>
          </a:prstGeom>
          <a:noFill/>
        </p:spPr>
        <p:txBody>
          <a:bodyPr wrap="none" rtlCol="0">
            <a:spAutoFit/>
          </a:bodyPr>
          <a:lstStyle/>
          <a:p>
            <a:r>
              <a:rPr kumimoji="1" lang="en-US" altLang="zh-CN" sz="2400" dirty="0">
                <a:solidFill>
                  <a:schemeClr val="bg1">
                    <a:lumMod val="75000"/>
                  </a:schemeClr>
                </a:solidFill>
              </a:rPr>
              <a:t>How to adapt</a:t>
            </a:r>
            <a:r>
              <a:rPr kumimoji="1" lang="zh-CN" altLang="en-US" sz="2400" dirty="0">
                <a:solidFill>
                  <a:schemeClr val="bg1">
                    <a:lumMod val="75000"/>
                  </a:schemeClr>
                </a:solidFill>
              </a:rPr>
              <a:t> </a:t>
            </a:r>
            <a:r>
              <a:rPr kumimoji="1" lang="en-US" altLang="zh-CN" sz="2400" dirty="0">
                <a:solidFill>
                  <a:schemeClr val="bg1">
                    <a:lumMod val="75000"/>
                  </a:schemeClr>
                </a:solidFill>
              </a:rPr>
              <a:t>to various speaking rhythms</a:t>
            </a:r>
            <a:r>
              <a:rPr kumimoji="1" lang="zh-CN" altLang="en-US" sz="2400" dirty="0">
                <a:solidFill>
                  <a:schemeClr val="bg1">
                    <a:lumMod val="75000"/>
                  </a:schemeClr>
                </a:solidFill>
              </a:rPr>
              <a:t> </a:t>
            </a:r>
            <a:r>
              <a:rPr kumimoji="1" lang="en-US" altLang="zh-CN" sz="2400" dirty="0">
                <a:solidFill>
                  <a:schemeClr val="bg1">
                    <a:lumMod val="75000"/>
                  </a:schemeClr>
                </a:solidFill>
              </a:rPr>
              <a:t>?</a:t>
            </a:r>
            <a:endParaRPr kumimoji="1" lang="zh-CN" altLang="en-US" sz="2400" dirty="0">
              <a:solidFill>
                <a:schemeClr val="bg1">
                  <a:lumMod val="75000"/>
                </a:schemeClr>
              </a:solidFill>
            </a:endParaRPr>
          </a:p>
        </p:txBody>
      </p:sp>
      <p:sp>
        <p:nvSpPr>
          <p:cNvPr id="12" name="矩形 11">
            <a:extLst>
              <a:ext uri="{FF2B5EF4-FFF2-40B4-BE49-F238E27FC236}">
                <a16:creationId xmlns:a16="http://schemas.microsoft.com/office/drawing/2014/main" id="{7298F338-BF45-D446-A7EB-9738B9AF0B49}"/>
              </a:ext>
            </a:extLst>
          </p:cNvPr>
          <p:cNvSpPr/>
          <p:nvPr/>
        </p:nvSpPr>
        <p:spPr>
          <a:xfrm>
            <a:off x="0" y="6671732"/>
            <a:ext cx="3069166" cy="186267"/>
          </a:xfrm>
          <a:prstGeom prst="rect">
            <a:avLst/>
          </a:prstGeom>
          <a:solidFill>
            <a:srgbClr val="8B30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t>Luo Zhou et al.</a:t>
            </a:r>
            <a:endParaRPr kumimoji="1" lang="zh-CN" altLang="en-US" sz="1200" dirty="0"/>
          </a:p>
        </p:txBody>
      </p:sp>
      <p:sp>
        <p:nvSpPr>
          <p:cNvPr id="13" name="矩形 12">
            <a:extLst>
              <a:ext uri="{FF2B5EF4-FFF2-40B4-BE49-F238E27FC236}">
                <a16:creationId xmlns:a16="http://schemas.microsoft.com/office/drawing/2014/main" id="{F34D8F6A-E87C-8145-BE0C-C609627D4B7C}"/>
              </a:ext>
            </a:extLst>
          </p:cNvPr>
          <p:cNvSpPr/>
          <p:nvPr/>
        </p:nvSpPr>
        <p:spPr>
          <a:xfrm>
            <a:off x="3069166" y="6671732"/>
            <a:ext cx="3005666" cy="186268"/>
          </a:xfrm>
          <a:prstGeom prst="rect">
            <a:avLst/>
          </a:prstGeom>
          <a:solidFill>
            <a:srgbClr val="9141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t>Donghua University</a:t>
            </a:r>
            <a:endParaRPr kumimoji="1" lang="zh-CN" altLang="en-US" sz="1200" dirty="0"/>
          </a:p>
        </p:txBody>
      </p:sp>
      <p:sp>
        <p:nvSpPr>
          <p:cNvPr id="15" name="矩形 14">
            <a:extLst>
              <a:ext uri="{FF2B5EF4-FFF2-40B4-BE49-F238E27FC236}">
                <a16:creationId xmlns:a16="http://schemas.microsoft.com/office/drawing/2014/main" id="{56D33D00-85D6-064B-A329-4FA724561018}"/>
              </a:ext>
            </a:extLst>
          </p:cNvPr>
          <p:cNvSpPr/>
          <p:nvPr/>
        </p:nvSpPr>
        <p:spPr>
          <a:xfrm>
            <a:off x="6074832" y="6671731"/>
            <a:ext cx="2374901" cy="186268"/>
          </a:xfrm>
          <a:prstGeom prst="rect">
            <a:avLst/>
          </a:prstGeom>
          <a:solidFill>
            <a:srgbClr val="9C53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t>2025.07.21</a:t>
            </a:r>
            <a:endParaRPr kumimoji="1" lang="zh-CN" altLang="en-US" sz="1200" dirty="0"/>
          </a:p>
        </p:txBody>
      </p:sp>
      <p:sp>
        <p:nvSpPr>
          <p:cNvPr id="16" name="矩形 15">
            <a:extLst>
              <a:ext uri="{FF2B5EF4-FFF2-40B4-BE49-F238E27FC236}">
                <a16:creationId xmlns:a16="http://schemas.microsoft.com/office/drawing/2014/main" id="{86551296-CD29-084E-9713-D38000C31A77}"/>
              </a:ext>
            </a:extLst>
          </p:cNvPr>
          <p:cNvSpPr/>
          <p:nvPr/>
        </p:nvSpPr>
        <p:spPr>
          <a:xfrm>
            <a:off x="8106833" y="6671730"/>
            <a:ext cx="1037167" cy="186270"/>
          </a:xfrm>
          <a:prstGeom prst="rect">
            <a:avLst/>
          </a:prstGeom>
          <a:solidFill>
            <a:srgbClr val="9D53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t>16/35</a:t>
            </a:r>
            <a:endParaRPr kumimoji="1" lang="zh-CN" altLang="en-US" sz="1200" dirty="0"/>
          </a:p>
        </p:txBody>
      </p:sp>
      <p:sp>
        <p:nvSpPr>
          <p:cNvPr id="22" name="文本框 21">
            <a:extLst>
              <a:ext uri="{FF2B5EF4-FFF2-40B4-BE49-F238E27FC236}">
                <a16:creationId xmlns:a16="http://schemas.microsoft.com/office/drawing/2014/main" id="{A661DE5F-EC63-2E49-8914-4E8F93F4636F}"/>
              </a:ext>
            </a:extLst>
          </p:cNvPr>
          <p:cNvSpPr txBox="1"/>
          <p:nvPr/>
        </p:nvSpPr>
        <p:spPr>
          <a:xfrm>
            <a:off x="599878" y="4147131"/>
            <a:ext cx="1922962" cy="461665"/>
          </a:xfrm>
          <a:prstGeom prst="rect">
            <a:avLst/>
          </a:prstGeom>
          <a:noFill/>
        </p:spPr>
        <p:txBody>
          <a:bodyPr wrap="none" rtlCol="0">
            <a:spAutoFit/>
          </a:bodyPr>
          <a:lstStyle/>
          <a:p>
            <a:pPr marL="285750" indent="-285750">
              <a:buFont typeface="Wingdings" pitchFamily="2" charset="2"/>
              <a:buChar char="l"/>
            </a:pPr>
            <a:r>
              <a:rPr kumimoji="1" lang="en-US" altLang="zh-CN" sz="2400" dirty="0">
                <a:solidFill>
                  <a:srgbClr val="8B302D"/>
                </a:solidFill>
                <a:latin typeface="+mj-lt"/>
              </a:rPr>
              <a:t>Challenge</a:t>
            </a:r>
            <a:r>
              <a:rPr kumimoji="1" lang="zh-CN" altLang="en-US" sz="2400" dirty="0">
                <a:solidFill>
                  <a:srgbClr val="8B302D"/>
                </a:solidFill>
                <a:latin typeface="+mj-lt"/>
              </a:rPr>
              <a:t> </a:t>
            </a:r>
            <a:r>
              <a:rPr kumimoji="1" lang="en-US" altLang="zh-CN" sz="2400" dirty="0">
                <a:solidFill>
                  <a:srgbClr val="8B302D"/>
                </a:solidFill>
                <a:latin typeface="+mj-lt"/>
              </a:rPr>
              <a:t>3</a:t>
            </a:r>
            <a:endParaRPr kumimoji="1" lang="zh-CN" altLang="en-US" sz="2400" dirty="0">
              <a:solidFill>
                <a:srgbClr val="8B302D"/>
              </a:solidFill>
              <a:latin typeface="+mj-lt"/>
            </a:endParaRPr>
          </a:p>
        </p:txBody>
      </p:sp>
      <p:sp>
        <p:nvSpPr>
          <p:cNvPr id="23" name="文本框 22">
            <a:extLst>
              <a:ext uri="{FF2B5EF4-FFF2-40B4-BE49-F238E27FC236}">
                <a16:creationId xmlns:a16="http://schemas.microsoft.com/office/drawing/2014/main" id="{90E6F8FC-2BED-F848-A7DC-6CE1775A825C}"/>
              </a:ext>
            </a:extLst>
          </p:cNvPr>
          <p:cNvSpPr txBox="1"/>
          <p:nvPr/>
        </p:nvSpPr>
        <p:spPr>
          <a:xfrm>
            <a:off x="888999" y="4895739"/>
            <a:ext cx="6361934" cy="461665"/>
          </a:xfrm>
          <a:prstGeom prst="rect">
            <a:avLst/>
          </a:prstGeom>
          <a:noFill/>
        </p:spPr>
        <p:txBody>
          <a:bodyPr wrap="none" rtlCol="0">
            <a:spAutoFit/>
          </a:bodyPr>
          <a:lstStyle/>
          <a:p>
            <a:r>
              <a:rPr kumimoji="1" lang="en-US" altLang="zh-CN" sz="2400" dirty="0"/>
              <a:t>How to extract </a:t>
            </a:r>
            <a:r>
              <a:rPr kumimoji="1" lang="en-US" altLang="zh-CN" sz="2400" dirty="0">
                <a:solidFill>
                  <a:srgbClr val="FF0000"/>
                </a:solidFill>
              </a:rPr>
              <a:t>stable identity features </a:t>
            </a:r>
            <a:r>
              <a:rPr kumimoji="1" lang="en-US" altLang="zh-CN" sz="2400" dirty="0"/>
              <a:t>from SPS</a:t>
            </a:r>
            <a:r>
              <a:rPr kumimoji="1" lang="zh-CN" altLang="en-US" sz="2400" dirty="0"/>
              <a:t> </a:t>
            </a:r>
            <a:r>
              <a:rPr kumimoji="1" lang="en-US" altLang="zh-CN" sz="2400" dirty="0"/>
              <a:t>?</a:t>
            </a:r>
            <a:endParaRPr kumimoji="1" lang="zh-CN" altLang="en-US" sz="2400" dirty="0"/>
          </a:p>
        </p:txBody>
      </p:sp>
      <p:sp>
        <p:nvSpPr>
          <p:cNvPr id="24" name="文本框 23">
            <a:extLst>
              <a:ext uri="{FF2B5EF4-FFF2-40B4-BE49-F238E27FC236}">
                <a16:creationId xmlns:a16="http://schemas.microsoft.com/office/drawing/2014/main" id="{5BD3DB9C-B80B-CB41-9943-D3F24B10CC83}"/>
              </a:ext>
            </a:extLst>
          </p:cNvPr>
          <p:cNvSpPr txBox="1"/>
          <p:nvPr/>
        </p:nvSpPr>
        <p:spPr>
          <a:xfrm>
            <a:off x="599878" y="1031392"/>
            <a:ext cx="2004716" cy="461665"/>
          </a:xfrm>
          <a:prstGeom prst="rect">
            <a:avLst/>
          </a:prstGeom>
          <a:noFill/>
        </p:spPr>
        <p:txBody>
          <a:bodyPr wrap="none" rtlCol="0">
            <a:spAutoFit/>
          </a:bodyPr>
          <a:lstStyle/>
          <a:p>
            <a:pPr marL="285750" indent="-285750">
              <a:buFont typeface="Wingdings" pitchFamily="2" charset="2"/>
              <a:buChar char="l"/>
            </a:pPr>
            <a:r>
              <a:rPr kumimoji="1" lang="en-US" altLang="zh-CN" sz="2400" dirty="0">
                <a:solidFill>
                  <a:schemeClr val="bg1">
                    <a:lumMod val="75000"/>
                  </a:schemeClr>
                </a:solidFill>
                <a:latin typeface="+mj-lt"/>
              </a:rPr>
              <a:t>Challenge</a:t>
            </a:r>
            <a:r>
              <a:rPr kumimoji="1" lang="zh-CN" altLang="en-US" sz="2400" dirty="0">
                <a:solidFill>
                  <a:schemeClr val="bg1">
                    <a:lumMod val="75000"/>
                  </a:schemeClr>
                </a:solidFill>
                <a:latin typeface="+mj-lt"/>
              </a:rPr>
              <a:t> </a:t>
            </a:r>
            <a:r>
              <a:rPr kumimoji="1" lang="en-US" altLang="zh-CN" sz="2400" dirty="0">
                <a:solidFill>
                  <a:schemeClr val="bg1">
                    <a:lumMod val="75000"/>
                  </a:schemeClr>
                </a:solidFill>
                <a:latin typeface="+mj-lt"/>
              </a:rPr>
              <a:t>1:</a:t>
            </a:r>
            <a:endParaRPr kumimoji="1" lang="zh-CN" altLang="en-US" sz="2400" dirty="0">
              <a:solidFill>
                <a:schemeClr val="bg1">
                  <a:lumMod val="75000"/>
                </a:schemeClr>
              </a:solidFill>
              <a:latin typeface="+mj-lt"/>
            </a:endParaRPr>
          </a:p>
        </p:txBody>
      </p:sp>
      <p:sp>
        <p:nvSpPr>
          <p:cNvPr id="25" name="文本框 24">
            <a:extLst>
              <a:ext uri="{FF2B5EF4-FFF2-40B4-BE49-F238E27FC236}">
                <a16:creationId xmlns:a16="http://schemas.microsoft.com/office/drawing/2014/main" id="{487FCA99-5134-B244-9338-D1D07A599388}"/>
              </a:ext>
            </a:extLst>
          </p:cNvPr>
          <p:cNvSpPr txBox="1"/>
          <p:nvPr/>
        </p:nvSpPr>
        <p:spPr>
          <a:xfrm>
            <a:off x="889000" y="1747518"/>
            <a:ext cx="5576335" cy="461665"/>
          </a:xfrm>
          <a:prstGeom prst="rect">
            <a:avLst/>
          </a:prstGeom>
          <a:noFill/>
        </p:spPr>
        <p:txBody>
          <a:bodyPr wrap="none" rtlCol="0">
            <a:spAutoFit/>
          </a:bodyPr>
          <a:lstStyle/>
          <a:p>
            <a:r>
              <a:rPr kumimoji="1" lang="en-US" altLang="zh-CN" sz="2400" dirty="0">
                <a:solidFill>
                  <a:schemeClr val="bg1">
                    <a:lumMod val="75000"/>
                  </a:schemeClr>
                </a:solidFill>
              </a:rPr>
              <a:t>How to eliminate the baseline drift of SPS</a:t>
            </a:r>
            <a:r>
              <a:rPr kumimoji="1" lang="zh-CN" altLang="en-US" sz="2400" dirty="0">
                <a:solidFill>
                  <a:schemeClr val="bg1">
                    <a:lumMod val="75000"/>
                  </a:schemeClr>
                </a:solidFill>
              </a:rPr>
              <a:t> </a:t>
            </a:r>
            <a:r>
              <a:rPr kumimoji="1" lang="en-US" altLang="zh-CN" sz="2400" dirty="0">
                <a:solidFill>
                  <a:schemeClr val="bg1">
                    <a:lumMod val="75000"/>
                  </a:schemeClr>
                </a:solidFill>
              </a:rPr>
              <a:t>?</a:t>
            </a:r>
            <a:endParaRPr kumimoji="1" lang="zh-CN" altLang="en-US" sz="2400" dirty="0">
              <a:solidFill>
                <a:schemeClr val="bg1">
                  <a:lumMod val="75000"/>
                </a:schemeClr>
              </a:solidFill>
            </a:endParaRPr>
          </a:p>
        </p:txBody>
      </p:sp>
      <p:sp>
        <p:nvSpPr>
          <p:cNvPr id="17" name="矩形 16">
            <a:extLst>
              <a:ext uri="{FF2B5EF4-FFF2-40B4-BE49-F238E27FC236}">
                <a16:creationId xmlns:a16="http://schemas.microsoft.com/office/drawing/2014/main" id="{F48004B4-02EC-104D-AE2C-5C371EF010D8}"/>
              </a:ext>
            </a:extLst>
          </p:cNvPr>
          <p:cNvSpPr/>
          <p:nvPr/>
        </p:nvSpPr>
        <p:spPr>
          <a:xfrm>
            <a:off x="0" y="0"/>
            <a:ext cx="9144000" cy="246920"/>
          </a:xfrm>
          <a:prstGeom prst="rect">
            <a:avLst/>
          </a:prstGeom>
          <a:solidFill>
            <a:srgbClr val="8B30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t>Challenges</a:t>
            </a:r>
            <a:endParaRPr kumimoji="1" lang="zh-CN" altLang="en-US" sz="1200" dirty="0"/>
          </a:p>
        </p:txBody>
      </p:sp>
    </p:spTree>
    <p:extLst>
      <p:ext uri="{BB962C8B-B14F-4D97-AF65-F5344CB8AC3E}">
        <p14:creationId xmlns:p14="http://schemas.microsoft.com/office/powerpoint/2010/main" val="5736598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圆角矩形 9">
            <a:extLst>
              <a:ext uri="{FF2B5EF4-FFF2-40B4-BE49-F238E27FC236}">
                <a16:creationId xmlns:a16="http://schemas.microsoft.com/office/drawing/2014/main" id="{2DA8A703-3A5D-954E-97F2-8118418F5066}"/>
              </a:ext>
            </a:extLst>
          </p:cNvPr>
          <p:cNvSpPr/>
          <p:nvPr/>
        </p:nvSpPr>
        <p:spPr>
          <a:xfrm>
            <a:off x="1037165" y="2582333"/>
            <a:ext cx="7069667" cy="846667"/>
          </a:xfrm>
          <a:prstGeom prst="roundRect">
            <a:avLst/>
          </a:prstGeom>
          <a:solidFill>
            <a:srgbClr val="8B30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3200" dirty="0">
                <a:latin typeface="+mj-lt"/>
              </a:rPr>
              <a:t>Design of BaroAuth</a:t>
            </a:r>
            <a:endParaRPr kumimoji="1" lang="zh-CN" altLang="en-US" sz="3200" dirty="0">
              <a:latin typeface="+mj-lt"/>
            </a:endParaRPr>
          </a:p>
        </p:txBody>
      </p:sp>
      <p:sp>
        <p:nvSpPr>
          <p:cNvPr id="12" name="矩形 11">
            <a:extLst>
              <a:ext uri="{FF2B5EF4-FFF2-40B4-BE49-F238E27FC236}">
                <a16:creationId xmlns:a16="http://schemas.microsoft.com/office/drawing/2014/main" id="{7298F338-BF45-D446-A7EB-9738B9AF0B49}"/>
              </a:ext>
            </a:extLst>
          </p:cNvPr>
          <p:cNvSpPr/>
          <p:nvPr/>
        </p:nvSpPr>
        <p:spPr>
          <a:xfrm>
            <a:off x="0" y="6671732"/>
            <a:ext cx="3069166" cy="186267"/>
          </a:xfrm>
          <a:prstGeom prst="rect">
            <a:avLst/>
          </a:prstGeom>
          <a:solidFill>
            <a:srgbClr val="8B30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t>Luo Zhou et al.</a:t>
            </a:r>
            <a:endParaRPr kumimoji="1" lang="zh-CN" altLang="en-US" sz="1200" dirty="0"/>
          </a:p>
        </p:txBody>
      </p:sp>
      <p:sp>
        <p:nvSpPr>
          <p:cNvPr id="13" name="矩形 12">
            <a:extLst>
              <a:ext uri="{FF2B5EF4-FFF2-40B4-BE49-F238E27FC236}">
                <a16:creationId xmlns:a16="http://schemas.microsoft.com/office/drawing/2014/main" id="{F34D8F6A-E87C-8145-BE0C-C609627D4B7C}"/>
              </a:ext>
            </a:extLst>
          </p:cNvPr>
          <p:cNvSpPr/>
          <p:nvPr/>
        </p:nvSpPr>
        <p:spPr>
          <a:xfrm>
            <a:off x="3069166" y="6671732"/>
            <a:ext cx="3005666" cy="186268"/>
          </a:xfrm>
          <a:prstGeom prst="rect">
            <a:avLst/>
          </a:prstGeom>
          <a:solidFill>
            <a:srgbClr val="9141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t>Donghua University</a:t>
            </a:r>
            <a:endParaRPr kumimoji="1" lang="zh-CN" altLang="en-US" sz="1200" dirty="0"/>
          </a:p>
        </p:txBody>
      </p:sp>
      <p:sp>
        <p:nvSpPr>
          <p:cNvPr id="15" name="矩形 14">
            <a:extLst>
              <a:ext uri="{FF2B5EF4-FFF2-40B4-BE49-F238E27FC236}">
                <a16:creationId xmlns:a16="http://schemas.microsoft.com/office/drawing/2014/main" id="{56D33D00-85D6-064B-A329-4FA724561018}"/>
              </a:ext>
            </a:extLst>
          </p:cNvPr>
          <p:cNvSpPr/>
          <p:nvPr/>
        </p:nvSpPr>
        <p:spPr>
          <a:xfrm>
            <a:off x="6074832" y="6671731"/>
            <a:ext cx="2374901" cy="186268"/>
          </a:xfrm>
          <a:prstGeom prst="rect">
            <a:avLst/>
          </a:prstGeom>
          <a:solidFill>
            <a:srgbClr val="9C53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t>2025.07.21</a:t>
            </a:r>
            <a:endParaRPr kumimoji="1" lang="zh-CN" altLang="en-US" sz="1200" dirty="0"/>
          </a:p>
        </p:txBody>
      </p:sp>
      <p:sp>
        <p:nvSpPr>
          <p:cNvPr id="16" name="矩形 15">
            <a:extLst>
              <a:ext uri="{FF2B5EF4-FFF2-40B4-BE49-F238E27FC236}">
                <a16:creationId xmlns:a16="http://schemas.microsoft.com/office/drawing/2014/main" id="{86551296-CD29-084E-9713-D38000C31A77}"/>
              </a:ext>
            </a:extLst>
          </p:cNvPr>
          <p:cNvSpPr/>
          <p:nvPr/>
        </p:nvSpPr>
        <p:spPr>
          <a:xfrm>
            <a:off x="8106833" y="6671730"/>
            <a:ext cx="1037167" cy="186270"/>
          </a:xfrm>
          <a:prstGeom prst="rect">
            <a:avLst/>
          </a:prstGeom>
          <a:solidFill>
            <a:srgbClr val="9D53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t>17/35</a:t>
            </a:r>
            <a:endParaRPr kumimoji="1" lang="zh-CN" altLang="en-US" sz="1200" dirty="0"/>
          </a:p>
        </p:txBody>
      </p:sp>
      <p:sp>
        <p:nvSpPr>
          <p:cNvPr id="11" name="椭圆 10">
            <a:extLst>
              <a:ext uri="{FF2B5EF4-FFF2-40B4-BE49-F238E27FC236}">
                <a16:creationId xmlns:a16="http://schemas.microsoft.com/office/drawing/2014/main" id="{82DF6293-69C1-5247-95C6-CEF299043A2F}"/>
              </a:ext>
            </a:extLst>
          </p:cNvPr>
          <p:cNvSpPr/>
          <p:nvPr/>
        </p:nvSpPr>
        <p:spPr>
          <a:xfrm>
            <a:off x="2201334" y="2829982"/>
            <a:ext cx="351367" cy="351367"/>
          </a:xfrm>
          <a:prstGeom prst="ellipse">
            <a:avLst/>
          </a:prstGeom>
          <a:solidFill>
            <a:srgbClr val="0030F0"/>
          </a:solidFill>
          <a:ln>
            <a:no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t>5</a:t>
            </a:r>
            <a:endParaRPr kumimoji="1" lang="zh-CN" altLang="en-US" dirty="0"/>
          </a:p>
        </p:txBody>
      </p:sp>
      <p:sp>
        <p:nvSpPr>
          <p:cNvPr id="14" name="矩形 13">
            <a:extLst>
              <a:ext uri="{FF2B5EF4-FFF2-40B4-BE49-F238E27FC236}">
                <a16:creationId xmlns:a16="http://schemas.microsoft.com/office/drawing/2014/main" id="{069D96F8-DDF4-D241-83A4-25ABFD53011C}"/>
              </a:ext>
            </a:extLst>
          </p:cNvPr>
          <p:cNvSpPr/>
          <p:nvPr/>
        </p:nvSpPr>
        <p:spPr>
          <a:xfrm>
            <a:off x="0" y="0"/>
            <a:ext cx="9144000" cy="246920"/>
          </a:xfrm>
          <a:prstGeom prst="rect">
            <a:avLst/>
          </a:prstGeom>
          <a:solidFill>
            <a:srgbClr val="8B30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200" dirty="0"/>
          </a:p>
        </p:txBody>
      </p:sp>
    </p:spTree>
    <p:extLst>
      <p:ext uri="{BB962C8B-B14F-4D97-AF65-F5344CB8AC3E}">
        <p14:creationId xmlns:p14="http://schemas.microsoft.com/office/powerpoint/2010/main" val="32792133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a:extLst>
              <a:ext uri="{FF2B5EF4-FFF2-40B4-BE49-F238E27FC236}">
                <a16:creationId xmlns:a16="http://schemas.microsoft.com/office/drawing/2014/main" id="{7298F338-BF45-D446-A7EB-9738B9AF0B49}"/>
              </a:ext>
            </a:extLst>
          </p:cNvPr>
          <p:cNvSpPr/>
          <p:nvPr/>
        </p:nvSpPr>
        <p:spPr>
          <a:xfrm>
            <a:off x="0" y="6671732"/>
            <a:ext cx="3069166" cy="186267"/>
          </a:xfrm>
          <a:prstGeom prst="rect">
            <a:avLst/>
          </a:prstGeom>
          <a:solidFill>
            <a:srgbClr val="8B30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t>Luo Zhou et al.</a:t>
            </a:r>
            <a:endParaRPr kumimoji="1" lang="zh-CN" altLang="en-US" sz="1200" dirty="0"/>
          </a:p>
        </p:txBody>
      </p:sp>
      <p:sp>
        <p:nvSpPr>
          <p:cNvPr id="13" name="矩形 12">
            <a:extLst>
              <a:ext uri="{FF2B5EF4-FFF2-40B4-BE49-F238E27FC236}">
                <a16:creationId xmlns:a16="http://schemas.microsoft.com/office/drawing/2014/main" id="{F34D8F6A-E87C-8145-BE0C-C609627D4B7C}"/>
              </a:ext>
            </a:extLst>
          </p:cNvPr>
          <p:cNvSpPr/>
          <p:nvPr/>
        </p:nvSpPr>
        <p:spPr>
          <a:xfrm>
            <a:off x="3069166" y="6671732"/>
            <a:ext cx="3005666" cy="186268"/>
          </a:xfrm>
          <a:prstGeom prst="rect">
            <a:avLst/>
          </a:prstGeom>
          <a:solidFill>
            <a:srgbClr val="9141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t>Donghua University</a:t>
            </a:r>
            <a:endParaRPr kumimoji="1" lang="zh-CN" altLang="en-US" sz="1200" dirty="0"/>
          </a:p>
        </p:txBody>
      </p:sp>
      <p:sp>
        <p:nvSpPr>
          <p:cNvPr id="15" name="矩形 14">
            <a:extLst>
              <a:ext uri="{FF2B5EF4-FFF2-40B4-BE49-F238E27FC236}">
                <a16:creationId xmlns:a16="http://schemas.microsoft.com/office/drawing/2014/main" id="{56D33D00-85D6-064B-A329-4FA724561018}"/>
              </a:ext>
            </a:extLst>
          </p:cNvPr>
          <p:cNvSpPr/>
          <p:nvPr/>
        </p:nvSpPr>
        <p:spPr>
          <a:xfrm>
            <a:off x="6074832" y="6671731"/>
            <a:ext cx="2374901" cy="186268"/>
          </a:xfrm>
          <a:prstGeom prst="rect">
            <a:avLst/>
          </a:prstGeom>
          <a:solidFill>
            <a:srgbClr val="9C53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t>2025.07.21</a:t>
            </a:r>
            <a:endParaRPr kumimoji="1" lang="zh-CN" altLang="en-US" sz="1200" dirty="0"/>
          </a:p>
        </p:txBody>
      </p:sp>
      <p:sp>
        <p:nvSpPr>
          <p:cNvPr id="16" name="矩形 15">
            <a:extLst>
              <a:ext uri="{FF2B5EF4-FFF2-40B4-BE49-F238E27FC236}">
                <a16:creationId xmlns:a16="http://schemas.microsoft.com/office/drawing/2014/main" id="{86551296-CD29-084E-9713-D38000C31A77}"/>
              </a:ext>
            </a:extLst>
          </p:cNvPr>
          <p:cNvSpPr/>
          <p:nvPr/>
        </p:nvSpPr>
        <p:spPr>
          <a:xfrm>
            <a:off x="8106833" y="6671730"/>
            <a:ext cx="1037167" cy="186270"/>
          </a:xfrm>
          <a:prstGeom prst="rect">
            <a:avLst/>
          </a:prstGeom>
          <a:solidFill>
            <a:srgbClr val="9D53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t>18/35</a:t>
            </a:r>
            <a:endParaRPr kumimoji="1" lang="zh-CN" altLang="en-US" sz="1200" dirty="0"/>
          </a:p>
        </p:txBody>
      </p:sp>
      <p:sp>
        <p:nvSpPr>
          <p:cNvPr id="18" name="矩形 17">
            <a:extLst>
              <a:ext uri="{FF2B5EF4-FFF2-40B4-BE49-F238E27FC236}">
                <a16:creationId xmlns:a16="http://schemas.microsoft.com/office/drawing/2014/main" id="{0C7C7718-50BC-064C-A6C9-83D2313EAFC4}"/>
              </a:ext>
            </a:extLst>
          </p:cNvPr>
          <p:cNvSpPr/>
          <p:nvPr/>
        </p:nvSpPr>
        <p:spPr>
          <a:xfrm>
            <a:off x="-1" y="0"/>
            <a:ext cx="9143995" cy="246920"/>
          </a:xfrm>
          <a:prstGeom prst="rect">
            <a:avLst/>
          </a:prstGeom>
          <a:solidFill>
            <a:srgbClr val="8B30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t>Design</a:t>
            </a:r>
            <a:r>
              <a:rPr kumimoji="1" lang="zh-CN" altLang="en-US" sz="1200" dirty="0"/>
              <a:t> </a:t>
            </a:r>
            <a:r>
              <a:rPr kumimoji="1" lang="en-US" altLang="zh-CN" sz="1200" dirty="0"/>
              <a:t>of BaroAuth</a:t>
            </a:r>
            <a:endParaRPr kumimoji="1" lang="zh-CN" altLang="en-US" sz="1200" dirty="0"/>
          </a:p>
        </p:txBody>
      </p:sp>
      <p:pic>
        <p:nvPicPr>
          <p:cNvPr id="14" name="图片 13">
            <a:extLst>
              <a:ext uri="{FF2B5EF4-FFF2-40B4-BE49-F238E27FC236}">
                <a16:creationId xmlns:a16="http://schemas.microsoft.com/office/drawing/2014/main" id="{B90AB8B8-4805-6B44-87B1-86DAE148C797}"/>
              </a:ext>
            </a:extLst>
          </p:cNvPr>
          <p:cNvPicPr>
            <a:picLocks noChangeAspect="1"/>
          </p:cNvPicPr>
          <p:nvPr/>
        </p:nvPicPr>
        <p:blipFill>
          <a:blip r:embed="rId3"/>
          <a:stretch>
            <a:fillRect/>
          </a:stretch>
        </p:blipFill>
        <p:spPr>
          <a:xfrm>
            <a:off x="585015" y="1539828"/>
            <a:ext cx="7973963" cy="3778344"/>
          </a:xfrm>
          <a:prstGeom prst="rect">
            <a:avLst/>
          </a:prstGeom>
        </p:spPr>
      </p:pic>
      <p:sp>
        <p:nvSpPr>
          <p:cNvPr id="17" name="矩形 16">
            <a:extLst>
              <a:ext uri="{FF2B5EF4-FFF2-40B4-BE49-F238E27FC236}">
                <a16:creationId xmlns:a16="http://schemas.microsoft.com/office/drawing/2014/main" id="{0F2AD24E-A2C3-5A4C-A301-782D4B6FB186}"/>
              </a:ext>
            </a:extLst>
          </p:cNvPr>
          <p:cNvSpPr/>
          <p:nvPr/>
        </p:nvSpPr>
        <p:spPr>
          <a:xfrm>
            <a:off x="0" y="246919"/>
            <a:ext cx="9143996" cy="48121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zh-CN" sz="2400" dirty="0">
                <a:solidFill>
                  <a:srgbClr val="8B302D"/>
                </a:solidFill>
                <a:latin typeface="+mj-lt"/>
                <a:ea typeface="PingFang SC" panose="020B0400000000000000" pitchFamily="34" charset="-122"/>
                <a:cs typeface="Arial" panose="020B0604020202020204" pitchFamily="34" charset="0"/>
              </a:rPr>
              <a:t>   Overview of BaroAuth</a:t>
            </a:r>
            <a:endParaRPr kumimoji="1" lang="zh-CN" altLang="en-US" dirty="0">
              <a:solidFill>
                <a:srgbClr val="8B302D"/>
              </a:solidFill>
              <a:latin typeface="+mj-lt"/>
              <a:ea typeface="PingFang SC" panose="020B0400000000000000" pitchFamily="34" charset="-122"/>
              <a:cs typeface="Arial" panose="020B0604020202020204" pitchFamily="34" charset="0"/>
            </a:endParaRPr>
          </a:p>
        </p:txBody>
      </p:sp>
    </p:spTree>
    <p:extLst>
      <p:ext uri="{BB962C8B-B14F-4D97-AF65-F5344CB8AC3E}">
        <p14:creationId xmlns:p14="http://schemas.microsoft.com/office/powerpoint/2010/main" val="24673861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a:extLst>
              <a:ext uri="{FF2B5EF4-FFF2-40B4-BE49-F238E27FC236}">
                <a16:creationId xmlns:a16="http://schemas.microsoft.com/office/drawing/2014/main" id="{7298F338-BF45-D446-A7EB-9738B9AF0B49}"/>
              </a:ext>
            </a:extLst>
          </p:cNvPr>
          <p:cNvSpPr/>
          <p:nvPr/>
        </p:nvSpPr>
        <p:spPr>
          <a:xfrm>
            <a:off x="0" y="6671732"/>
            <a:ext cx="3069166" cy="186267"/>
          </a:xfrm>
          <a:prstGeom prst="rect">
            <a:avLst/>
          </a:prstGeom>
          <a:solidFill>
            <a:srgbClr val="8B30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t>Luo Zhou et al.</a:t>
            </a:r>
            <a:endParaRPr kumimoji="1" lang="zh-CN" altLang="en-US" sz="1200" dirty="0"/>
          </a:p>
        </p:txBody>
      </p:sp>
      <p:sp>
        <p:nvSpPr>
          <p:cNvPr id="13" name="矩形 12">
            <a:extLst>
              <a:ext uri="{FF2B5EF4-FFF2-40B4-BE49-F238E27FC236}">
                <a16:creationId xmlns:a16="http://schemas.microsoft.com/office/drawing/2014/main" id="{F34D8F6A-E87C-8145-BE0C-C609627D4B7C}"/>
              </a:ext>
            </a:extLst>
          </p:cNvPr>
          <p:cNvSpPr/>
          <p:nvPr/>
        </p:nvSpPr>
        <p:spPr>
          <a:xfrm>
            <a:off x="3069166" y="6671732"/>
            <a:ext cx="3005666" cy="186268"/>
          </a:xfrm>
          <a:prstGeom prst="rect">
            <a:avLst/>
          </a:prstGeom>
          <a:solidFill>
            <a:srgbClr val="9141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t>Donghua University</a:t>
            </a:r>
            <a:endParaRPr kumimoji="1" lang="zh-CN" altLang="en-US" sz="1200" dirty="0"/>
          </a:p>
        </p:txBody>
      </p:sp>
      <p:sp>
        <p:nvSpPr>
          <p:cNvPr id="15" name="矩形 14">
            <a:extLst>
              <a:ext uri="{FF2B5EF4-FFF2-40B4-BE49-F238E27FC236}">
                <a16:creationId xmlns:a16="http://schemas.microsoft.com/office/drawing/2014/main" id="{56D33D00-85D6-064B-A329-4FA724561018}"/>
              </a:ext>
            </a:extLst>
          </p:cNvPr>
          <p:cNvSpPr/>
          <p:nvPr/>
        </p:nvSpPr>
        <p:spPr>
          <a:xfrm>
            <a:off x="6074832" y="6671731"/>
            <a:ext cx="2374901" cy="186268"/>
          </a:xfrm>
          <a:prstGeom prst="rect">
            <a:avLst/>
          </a:prstGeom>
          <a:solidFill>
            <a:srgbClr val="9C53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t>2025.07.21</a:t>
            </a:r>
            <a:endParaRPr kumimoji="1" lang="zh-CN" altLang="en-US" sz="1200" dirty="0"/>
          </a:p>
        </p:txBody>
      </p:sp>
      <p:sp>
        <p:nvSpPr>
          <p:cNvPr id="16" name="矩形 15">
            <a:extLst>
              <a:ext uri="{FF2B5EF4-FFF2-40B4-BE49-F238E27FC236}">
                <a16:creationId xmlns:a16="http://schemas.microsoft.com/office/drawing/2014/main" id="{86551296-CD29-084E-9713-D38000C31A77}"/>
              </a:ext>
            </a:extLst>
          </p:cNvPr>
          <p:cNvSpPr/>
          <p:nvPr/>
        </p:nvSpPr>
        <p:spPr>
          <a:xfrm>
            <a:off x="8106833" y="6671730"/>
            <a:ext cx="1037167" cy="186270"/>
          </a:xfrm>
          <a:prstGeom prst="rect">
            <a:avLst/>
          </a:prstGeom>
          <a:solidFill>
            <a:srgbClr val="9D53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t>19/35</a:t>
            </a:r>
            <a:endParaRPr kumimoji="1" lang="zh-CN" altLang="en-US" sz="1200" dirty="0"/>
          </a:p>
        </p:txBody>
      </p:sp>
      <p:sp>
        <p:nvSpPr>
          <p:cNvPr id="18" name="矩形 17">
            <a:extLst>
              <a:ext uri="{FF2B5EF4-FFF2-40B4-BE49-F238E27FC236}">
                <a16:creationId xmlns:a16="http://schemas.microsoft.com/office/drawing/2014/main" id="{0C7C7718-50BC-064C-A6C9-83D2313EAFC4}"/>
              </a:ext>
            </a:extLst>
          </p:cNvPr>
          <p:cNvSpPr/>
          <p:nvPr/>
        </p:nvSpPr>
        <p:spPr>
          <a:xfrm>
            <a:off x="0" y="0"/>
            <a:ext cx="9143996" cy="246920"/>
          </a:xfrm>
          <a:prstGeom prst="rect">
            <a:avLst/>
          </a:prstGeom>
          <a:solidFill>
            <a:srgbClr val="8B30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t>Design</a:t>
            </a:r>
            <a:r>
              <a:rPr kumimoji="1" lang="zh-CN" altLang="en-US" sz="1200" dirty="0"/>
              <a:t> </a:t>
            </a:r>
            <a:r>
              <a:rPr kumimoji="1" lang="en-US" altLang="zh-CN" sz="1200" dirty="0"/>
              <a:t>of BaroAuth</a:t>
            </a:r>
            <a:endParaRPr kumimoji="1" lang="zh-CN" altLang="en-US" sz="1200" dirty="0"/>
          </a:p>
        </p:txBody>
      </p:sp>
      <p:sp>
        <p:nvSpPr>
          <p:cNvPr id="2" name="矩形 1">
            <a:extLst>
              <a:ext uri="{FF2B5EF4-FFF2-40B4-BE49-F238E27FC236}">
                <a16:creationId xmlns:a16="http://schemas.microsoft.com/office/drawing/2014/main" id="{D29C7C69-602C-7844-B74B-2FCBDCA056A0}"/>
              </a:ext>
            </a:extLst>
          </p:cNvPr>
          <p:cNvSpPr/>
          <p:nvPr/>
        </p:nvSpPr>
        <p:spPr>
          <a:xfrm>
            <a:off x="0" y="246919"/>
            <a:ext cx="9143996" cy="48121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zh-CN" sz="2400" dirty="0">
                <a:solidFill>
                  <a:srgbClr val="8B302D"/>
                </a:solidFill>
                <a:latin typeface="+mj-lt"/>
                <a:ea typeface="PingFang SC" panose="020B0400000000000000" pitchFamily="34" charset="-122"/>
                <a:cs typeface="Arial" panose="020B0604020202020204" pitchFamily="34" charset="0"/>
              </a:rPr>
              <a:t>   Hardware Prototype &amp; Data Collection</a:t>
            </a:r>
            <a:endParaRPr kumimoji="1" lang="zh-CN" altLang="en-US" dirty="0">
              <a:solidFill>
                <a:srgbClr val="8B302D"/>
              </a:solidFill>
              <a:latin typeface="+mj-lt"/>
              <a:ea typeface="PingFang SC" panose="020B0400000000000000" pitchFamily="34" charset="-122"/>
              <a:cs typeface="Arial" panose="020B0604020202020204" pitchFamily="34" charset="0"/>
            </a:endParaRPr>
          </a:p>
        </p:txBody>
      </p:sp>
      <p:pic>
        <p:nvPicPr>
          <p:cNvPr id="3" name="图片 2">
            <a:extLst>
              <a:ext uri="{FF2B5EF4-FFF2-40B4-BE49-F238E27FC236}">
                <a16:creationId xmlns:a16="http://schemas.microsoft.com/office/drawing/2014/main" id="{E509D81B-261F-6848-B0A3-E75AABC5B934}"/>
              </a:ext>
            </a:extLst>
          </p:cNvPr>
          <p:cNvPicPr>
            <a:picLocks noChangeAspect="1"/>
          </p:cNvPicPr>
          <p:nvPr/>
        </p:nvPicPr>
        <p:blipFill>
          <a:blip r:embed="rId3"/>
          <a:stretch>
            <a:fillRect/>
          </a:stretch>
        </p:blipFill>
        <p:spPr>
          <a:xfrm>
            <a:off x="5484748" y="3890287"/>
            <a:ext cx="3433236" cy="1502041"/>
          </a:xfrm>
          <a:prstGeom prst="rect">
            <a:avLst/>
          </a:prstGeom>
        </p:spPr>
      </p:pic>
      <p:sp>
        <p:nvSpPr>
          <p:cNvPr id="7" name="文本框 6">
            <a:extLst>
              <a:ext uri="{FF2B5EF4-FFF2-40B4-BE49-F238E27FC236}">
                <a16:creationId xmlns:a16="http://schemas.microsoft.com/office/drawing/2014/main" id="{84CD16A5-F29A-6546-B4B4-0F2D2D6BE7B4}"/>
              </a:ext>
            </a:extLst>
          </p:cNvPr>
          <p:cNvSpPr txBox="1"/>
          <p:nvPr/>
        </p:nvSpPr>
        <p:spPr>
          <a:xfrm>
            <a:off x="5524753" y="5540650"/>
            <a:ext cx="1687834" cy="307777"/>
          </a:xfrm>
          <a:prstGeom prst="rect">
            <a:avLst/>
          </a:prstGeom>
          <a:noFill/>
        </p:spPr>
        <p:txBody>
          <a:bodyPr wrap="none" rtlCol="0">
            <a:spAutoFit/>
          </a:bodyPr>
          <a:lstStyle/>
          <a:p>
            <a:r>
              <a:rPr kumimoji="1" lang="en-US" altLang="zh-CN" sz="1400" dirty="0">
                <a:solidFill>
                  <a:srgbClr val="0030F0"/>
                </a:solidFill>
              </a:rPr>
              <a:t>Hardware Schematic</a:t>
            </a:r>
            <a:endParaRPr kumimoji="1" lang="zh-CN" altLang="en-US" sz="1400" dirty="0">
              <a:solidFill>
                <a:srgbClr val="0030F0"/>
              </a:solidFill>
            </a:endParaRPr>
          </a:p>
        </p:txBody>
      </p:sp>
      <p:sp>
        <p:nvSpPr>
          <p:cNvPr id="8" name="文本框 7">
            <a:extLst>
              <a:ext uri="{FF2B5EF4-FFF2-40B4-BE49-F238E27FC236}">
                <a16:creationId xmlns:a16="http://schemas.microsoft.com/office/drawing/2014/main" id="{0E08A301-EB5D-C84C-BD3A-C25C118A07C2}"/>
              </a:ext>
            </a:extLst>
          </p:cNvPr>
          <p:cNvSpPr txBox="1"/>
          <p:nvPr/>
        </p:nvSpPr>
        <p:spPr>
          <a:xfrm>
            <a:off x="7298831" y="5539120"/>
            <a:ext cx="1757212" cy="307777"/>
          </a:xfrm>
          <a:prstGeom prst="rect">
            <a:avLst/>
          </a:prstGeom>
          <a:noFill/>
        </p:spPr>
        <p:txBody>
          <a:bodyPr wrap="none" rtlCol="0">
            <a:spAutoFit/>
          </a:bodyPr>
          <a:lstStyle/>
          <a:p>
            <a:r>
              <a:rPr kumimoji="1" lang="en-US" altLang="zh-CN" sz="1400" dirty="0">
                <a:solidFill>
                  <a:srgbClr val="0030F0"/>
                </a:solidFill>
              </a:rPr>
              <a:t>Data Collection Setup</a:t>
            </a:r>
            <a:endParaRPr kumimoji="1" lang="zh-CN" altLang="en-US" sz="1400" dirty="0">
              <a:solidFill>
                <a:srgbClr val="0030F0"/>
              </a:solidFill>
            </a:endParaRPr>
          </a:p>
        </p:txBody>
      </p:sp>
      <p:sp>
        <p:nvSpPr>
          <p:cNvPr id="9" name="文本框 8">
            <a:extLst>
              <a:ext uri="{FF2B5EF4-FFF2-40B4-BE49-F238E27FC236}">
                <a16:creationId xmlns:a16="http://schemas.microsoft.com/office/drawing/2014/main" id="{1407986F-68C6-954E-A2DE-A093BAB55220}"/>
              </a:ext>
            </a:extLst>
          </p:cNvPr>
          <p:cNvSpPr txBox="1"/>
          <p:nvPr/>
        </p:nvSpPr>
        <p:spPr>
          <a:xfrm>
            <a:off x="194734" y="1032947"/>
            <a:ext cx="2031454" cy="400110"/>
          </a:xfrm>
          <a:prstGeom prst="rect">
            <a:avLst/>
          </a:prstGeom>
          <a:noFill/>
        </p:spPr>
        <p:txBody>
          <a:bodyPr wrap="none" rtlCol="0">
            <a:spAutoFit/>
          </a:bodyPr>
          <a:lstStyle/>
          <a:p>
            <a:pPr marL="285750" indent="-285750">
              <a:buFont typeface="Wingdings" pitchFamily="2" charset="2"/>
              <a:buChar char="p"/>
            </a:pPr>
            <a:r>
              <a:rPr kumimoji="1" lang="en-US" altLang="zh-CN" sz="2000" dirty="0">
                <a:latin typeface="+mj-lt"/>
              </a:rPr>
              <a:t>Data Collection</a:t>
            </a:r>
            <a:endParaRPr kumimoji="1" lang="zh-CN" altLang="en-US" sz="2000" dirty="0">
              <a:latin typeface="+mj-lt"/>
            </a:endParaRPr>
          </a:p>
        </p:txBody>
      </p:sp>
      <p:sp>
        <p:nvSpPr>
          <p:cNvPr id="10" name="文本框 9">
            <a:extLst>
              <a:ext uri="{FF2B5EF4-FFF2-40B4-BE49-F238E27FC236}">
                <a16:creationId xmlns:a16="http://schemas.microsoft.com/office/drawing/2014/main" id="{CC38C6EF-6399-F24C-9630-334FC91089DF}"/>
              </a:ext>
            </a:extLst>
          </p:cNvPr>
          <p:cNvSpPr txBox="1"/>
          <p:nvPr/>
        </p:nvSpPr>
        <p:spPr>
          <a:xfrm>
            <a:off x="196159" y="1502887"/>
            <a:ext cx="2039020" cy="369332"/>
          </a:xfrm>
          <a:prstGeom prst="rect">
            <a:avLst/>
          </a:prstGeom>
          <a:noFill/>
        </p:spPr>
        <p:txBody>
          <a:bodyPr wrap="none" rtlCol="0">
            <a:spAutoFit/>
          </a:bodyPr>
          <a:lstStyle/>
          <a:p>
            <a:pPr marL="285750" indent="-285750">
              <a:buFont typeface="Wingdings" pitchFamily="2" charset="2"/>
              <a:buChar char="Ø"/>
            </a:pPr>
            <a:r>
              <a:rPr kumimoji="1" lang="en-US" altLang="zh-CN" dirty="0">
                <a:latin typeface="+mj-lt"/>
              </a:rPr>
              <a:t>Trace A</a:t>
            </a:r>
            <a:r>
              <a:rPr kumimoji="1" lang="zh-CN" altLang="en-US" dirty="0">
                <a:latin typeface="+mj-lt"/>
              </a:rPr>
              <a:t> </a:t>
            </a:r>
            <a:r>
              <a:rPr kumimoji="1" lang="en-US" altLang="zh-CN" dirty="0">
                <a:latin typeface="+mj-lt"/>
              </a:rPr>
              <a:t>(30 days)</a:t>
            </a:r>
            <a:endParaRPr kumimoji="1" lang="zh-CN" altLang="en-US" dirty="0">
              <a:latin typeface="+mj-lt"/>
            </a:endParaRPr>
          </a:p>
        </p:txBody>
      </p:sp>
      <p:sp>
        <p:nvSpPr>
          <p:cNvPr id="21" name="文本框 20">
            <a:extLst>
              <a:ext uri="{FF2B5EF4-FFF2-40B4-BE49-F238E27FC236}">
                <a16:creationId xmlns:a16="http://schemas.microsoft.com/office/drawing/2014/main" id="{285BBB32-B862-1D47-B67C-BB7089D50044}"/>
              </a:ext>
            </a:extLst>
          </p:cNvPr>
          <p:cNvSpPr txBox="1"/>
          <p:nvPr/>
        </p:nvSpPr>
        <p:spPr>
          <a:xfrm>
            <a:off x="196157" y="2970749"/>
            <a:ext cx="2249911" cy="369332"/>
          </a:xfrm>
          <a:prstGeom prst="rect">
            <a:avLst/>
          </a:prstGeom>
          <a:noFill/>
        </p:spPr>
        <p:txBody>
          <a:bodyPr wrap="none" rtlCol="0">
            <a:spAutoFit/>
          </a:bodyPr>
          <a:lstStyle/>
          <a:p>
            <a:pPr marL="285750" indent="-285750">
              <a:buFont typeface="Wingdings" pitchFamily="2" charset="2"/>
              <a:buChar char="Ø"/>
            </a:pPr>
            <a:r>
              <a:rPr kumimoji="1" lang="en-US" altLang="zh-CN" dirty="0">
                <a:latin typeface="+mj-lt"/>
              </a:rPr>
              <a:t>Trace B (100 times)</a:t>
            </a:r>
            <a:endParaRPr kumimoji="1" lang="zh-CN" altLang="en-US" dirty="0">
              <a:latin typeface="+mj-lt"/>
            </a:endParaRPr>
          </a:p>
        </p:txBody>
      </p:sp>
      <p:sp>
        <p:nvSpPr>
          <p:cNvPr id="22" name="文本框 21">
            <a:extLst>
              <a:ext uri="{FF2B5EF4-FFF2-40B4-BE49-F238E27FC236}">
                <a16:creationId xmlns:a16="http://schemas.microsoft.com/office/drawing/2014/main" id="{BEDD5E8A-5ACF-CB44-88EC-9BA275936615}"/>
              </a:ext>
            </a:extLst>
          </p:cNvPr>
          <p:cNvSpPr txBox="1"/>
          <p:nvPr/>
        </p:nvSpPr>
        <p:spPr>
          <a:xfrm>
            <a:off x="196156" y="4364598"/>
            <a:ext cx="3853363" cy="369332"/>
          </a:xfrm>
          <a:prstGeom prst="rect">
            <a:avLst/>
          </a:prstGeom>
          <a:noFill/>
        </p:spPr>
        <p:txBody>
          <a:bodyPr wrap="none" rtlCol="0">
            <a:spAutoFit/>
          </a:bodyPr>
          <a:lstStyle/>
          <a:p>
            <a:pPr marL="285750" indent="-285750">
              <a:buFont typeface="Wingdings" pitchFamily="2" charset="2"/>
              <a:buChar char="Ø"/>
            </a:pPr>
            <a:r>
              <a:rPr kumimoji="1" lang="en-US" altLang="zh-CN" dirty="0">
                <a:latin typeface="+mj-lt"/>
              </a:rPr>
              <a:t>Trace C (10 times per day for 1week)</a:t>
            </a:r>
            <a:endParaRPr kumimoji="1" lang="zh-CN" altLang="en-US" dirty="0">
              <a:latin typeface="+mj-lt"/>
            </a:endParaRPr>
          </a:p>
        </p:txBody>
      </p:sp>
      <p:pic>
        <p:nvPicPr>
          <p:cNvPr id="11" name="图片 10">
            <a:extLst>
              <a:ext uri="{FF2B5EF4-FFF2-40B4-BE49-F238E27FC236}">
                <a16:creationId xmlns:a16="http://schemas.microsoft.com/office/drawing/2014/main" id="{BFC59293-E850-694C-A6BE-F5FE21068373}"/>
              </a:ext>
            </a:extLst>
          </p:cNvPr>
          <p:cNvPicPr>
            <a:picLocks noChangeAspect="1"/>
          </p:cNvPicPr>
          <p:nvPr/>
        </p:nvPicPr>
        <p:blipFill>
          <a:blip r:embed="rId4"/>
          <a:stretch>
            <a:fillRect/>
          </a:stretch>
        </p:blipFill>
        <p:spPr>
          <a:xfrm>
            <a:off x="5646328" y="1240046"/>
            <a:ext cx="3069166" cy="2445742"/>
          </a:xfrm>
          <a:prstGeom prst="rect">
            <a:avLst/>
          </a:prstGeom>
        </p:spPr>
      </p:pic>
      <p:sp>
        <p:nvSpPr>
          <p:cNvPr id="23" name="文本框 22">
            <a:extLst>
              <a:ext uri="{FF2B5EF4-FFF2-40B4-BE49-F238E27FC236}">
                <a16:creationId xmlns:a16="http://schemas.microsoft.com/office/drawing/2014/main" id="{E131894A-2569-3D4A-A660-92F693A96471}"/>
              </a:ext>
            </a:extLst>
          </p:cNvPr>
          <p:cNvSpPr txBox="1"/>
          <p:nvPr/>
        </p:nvSpPr>
        <p:spPr>
          <a:xfrm>
            <a:off x="6569397" y="954139"/>
            <a:ext cx="1223027" cy="307777"/>
          </a:xfrm>
          <a:prstGeom prst="rect">
            <a:avLst/>
          </a:prstGeom>
          <a:noFill/>
        </p:spPr>
        <p:txBody>
          <a:bodyPr wrap="none" rtlCol="0">
            <a:spAutoFit/>
          </a:bodyPr>
          <a:lstStyle/>
          <a:p>
            <a:r>
              <a:rPr kumimoji="1" lang="en-US" altLang="zh-CN" sz="1400" dirty="0">
                <a:solidFill>
                  <a:srgbClr val="0030F0"/>
                </a:solidFill>
              </a:rPr>
              <a:t>Command List</a:t>
            </a:r>
            <a:endParaRPr kumimoji="1" lang="zh-CN" altLang="en-US" sz="1400" dirty="0">
              <a:solidFill>
                <a:srgbClr val="0030F0"/>
              </a:solidFill>
            </a:endParaRPr>
          </a:p>
        </p:txBody>
      </p:sp>
      <p:sp>
        <p:nvSpPr>
          <p:cNvPr id="32" name="文本框 31">
            <a:extLst>
              <a:ext uri="{FF2B5EF4-FFF2-40B4-BE49-F238E27FC236}">
                <a16:creationId xmlns:a16="http://schemas.microsoft.com/office/drawing/2014/main" id="{009E8149-6629-8E4A-B482-1DE042DF27CB}"/>
              </a:ext>
            </a:extLst>
          </p:cNvPr>
          <p:cNvSpPr txBox="1"/>
          <p:nvPr/>
        </p:nvSpPr>
        <p:spPr>
          <a:xfrm>
            <a:off x="64335" y="1901742"/>
            <a:ext cx="5436777" cy="1028423"/>
          </a:xfrm>
          <a:prstGeom prst="rect">
            <a:avLst/>
          </a:prstGeom>
          <a:noFill/>
        </p:spPr>
        <p:txBody>
          <a:bodyPr wrap="square">
            <a:spAutoFit/>
          </a:bodyPr>
          <a:lstStyle/>
          <a:p>
            <a:pPr marL="800100" lvl="1" indent="-342900">
              <a:lnSpc>
                <a:spcPct val="150000"/>
              </a:lnSpc>
              <a:buFont typeface="Arial" panose="020B0604020202020204" pitchFamily="34" charset="0"/>
              <a:buChar char="•"/>
              <a:defRPr/>
            </a:pPr>
            <a:r>
              <a:rPr lang="en-US" altLang="zh-CN" sz="1400" dirty="0"/>
              <a:t>Collect 300 pieces of microphone signals, as well as corresponding pressure signals, per volunteer</a:t>
            </a:r>
          </a:p>
          <a:p>
            <a:pPr marL="800100" lvl="1" indent="-342900">
              <a:lnSpc>
                <a:spcPct val="150000"/>
              </a:lnSpc>
              <a:buFont typeface="Arial" panose="020B0604020202020204" pitchFamily="34" charset="0"/>
              <a:buChar char="•"/>
              <a:defRPr/>
            </a:pPr>
            <a:r>
              <a:rPr lang="en-US" altLang="zh-CN" sz="1400" dirty="0"/>
              <a:t>Record the process of data collection using a video camera</a:t>
            </a:r>
          </a:p>
        </p:txBody>
      </p:sp>
      <p:sp>
        <p:nvSpPr>
          <p:cNvPr id="33" name="文本框 32">
            <a:extLst>
              <a:ext uri="{FF2B5EF4-FFF2-40B4-BE49-F238E27FC236}">
                <a16:creationId xmlns:a16="http://schemas.microsoft.com/office/drawing/2014/main" id="{8668D30A-3175-7949-B109-FB6E2EA244B6}"/>
              </a:ext>
            </a:extLst>
          </p:cNvPr>
          <p:cNvSpPr txBox="1"/>
          <p:nvPr/>
        </p:nvSpPr>
        <p:spPr>
          <a:xfrm>
            <a:off x="64335" y="3438321"/>
            <a:ext cx="5295551" cy="705258"/>
          </a:xfrm>
          <a:prstGeom prst="rect">
            <a:avLst/>
          </a:prstGeom>
          <a:noFill/>
        </p:spPr>
        <p:txBody>
          <a:bodyPr wrap="square" rtlCol="0">
            <a:spAutoFit/>
          </a:bodyPr>
          <a:lstStyle/>
          <a:p>
            <a:pPr marL="800100" lvl="1" indent="-342900">
              <a:lnSpc>
                <a:spcPct val="150000"/>
              </a:lnSpc>
              <a:buFont typeface="Arial" panose="020B0604020202020204" pitchFamily="34" charset="0"/>
              <a:buChar char="•"/>
              <a:defRPr/>
            </a:pPr>
            <a:r>
              <a:rPr lang="en-US" altLang="zh-CN" sz="1400" dirty="0"/>
              <a:t>Launch zero-knowledge impersonation Attack</a:t>
            </a:r>
          </a:p>
          <a:p>
            <a:pPr marL="800100" lvl="1" indent="-342900">
              <a:lnSpc>
                <a:spcPct val="150000"/>
              </a:lnSpc>
              <a:buFont typeface="Arial" panose="020B0604020202020204" pitchFamily="34" charset="0"/>
              <a:buChar char="•"/>
              <a:defRPr/>
            </a:pPr>
            <a:r>
              <a:rPr lang="en-US" altLang="zh-CN" sz="1400" dirty="0"/>
              <a:t>Launch Snooping and Impersonation Attack </a:t>
            </a:r>
          </a:p>
        </p:txBody>
      </p:sp>
      <p:sp>
        <p:nvSpPr>
          <p:cNvPr id="35" name="文本框 34">
            <a:extLst>
              <a:ext uri="{FF2B5EF4-FFF2-40B4-BE49-F238E27FC236}">
                <a16:creationId xmlns:a16="http://schemas.microsoft.com/office/drawing/2014/main" id="{D7A93B4E-AA9F-3646-9BA7-26DA63400AC9}"/>
              </a:ext>
            </a:extLst>
          </p:cNvPr>
          <p:cNvSpPr txBox="1"/>
          <p:nvPr/>
        </p:nvSpPr>
        <p:spPr>
          <a:xfrm>
            <a:off x="521718" y="4793416"/>
            <a:ext cx="4838168" cy="705258"/>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altLang="zh-CN" sz="1400" dirty="0"/>
              <a:t>Each volunteer speaks every selected command at a normal speaking volume and pace for one week after 6 months.</a:t>
            </a:r>
          </a:p>
        </p:txBody>
      </p:sp>
    </p:spTree>
    <p:extLst>
      <p:ext uri="{BB962C8B-B14F-4D97-AF65-F5344CB8AC3E}">
        <p14:creationId xmlns:p14="http://schemas.microsoft.com/office/powerpoint/2010/main" val="30862775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a:extLst>
              <a:ext uri="{FF2B5EF4-FFF2-40B4-BE49-F238E27FC236}">
                <a16:creationId xmlns:a16="http://schemas.microsoft.com/office/drawing/2014/main" id="{7298F338-BF45-D446-A7EB-9738B9AF0B49}"/>
              </a:ext>
            </a:extLst>
          </p:cNvPr>
          <p:cNvSpPr/>
          <p:nvPr/>
        </p:nvSpPr>
        <p:spPr>
          <a:xfrm>
            <a:off x="0" y="6671732"/>
            <a:ext cx="3069166" cy="186267"/>
          </a:xfrm>
          <a:prstGeom prst="rect">
            <a:avLst/>
          </a:prstGeom>
          <a:solidFill>
            <a:srgbClr val="8B30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t>Luo Zhou et al.</a:t>
            </a:r>
            <a:endParaRPr kumimoji="1" lang="zh-CN" altLang="en-US" sz="1200" dirty="0"/>
          </a:p>
        </p:txBody>
      </p:sp>
      <p:sp>
        <p:nvSpPr>
          <p:cNvPr id="13" name="矩形 12">
            <a:extLst>
              <a:ext uri="{FF2B5EF4-FFF2-40B4-BE49-F238E27FC236}">
                <a16:creationId xmlns:a16="http://schemas.microsoft.com/office/drawing/2014/main" id="{F34D8F6A-E87C-8145-BE0C-C609627D4B7C}"/>
              </a:ext>
            </a:extLst>
          </p:cNvPr>
          <p:cNvSpPr/>
          <p:nvPr/>
        </p:nvSpPr>
        <p:spPr>
          <a:xfrm>
            <a:off x="3069166" y="6671732"/>
            <a:ext cx="3005666" cy="186268"/>
          </a:xfrm>
          <a:prstGeom prst="rect">
            <a:avLst/>
          </a:prstGeom>
          <a:solidFill>
            <a:srgbClr val="9141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t>Donghua University</a:t>
            </a:r>
            <a:endParaRPr kumimoji="1" lang="zh-CN" altLang="en-US" sz="1200" dirty="0"/>
          </a:p>
        </p:txBody>
      </p:sp>
      <p:sp>
        <p:nvSpPr>
          <p:cNvPr id="15" name="矩形 14">
            <a:extLst>
              <a:ext uri="{FF2B5EF4-FFF2-40B4-BE49-F238E27FC236}">
                <a16:creationId xmlns:a16="http://schemas.microsoft.com/office/drawing/2014/main" id="{56D33D00-85D6-064B-A329-4FA724561018}"/>
              </a:ext>
            </a:extLst>
          </p:cNvPr>
          <p:cNvSpPr/>
          <p:nvPr/>
        </p:nvSpPr>
        <p:spPr>
          <a:xfrm>
            <a:off x="6074832" y="6671731"/>
            <a:ext cx="2374901" cy="186268"/>
          </a:xfrm>
          <a:prstGeom prst="rect">
            <a:avLst/>
          </a:prstGeom>
          <a:solidFill>
            <a:srgbClr val="9C53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t>2025.07.21</a:t>
            </a:r>
            <a:endParaRPr kumimoji="1" lang="zh-CN" altLang="en-US" sz="1200" dirty="0"/>
          </a:p>
        </p:txBody>
      </p:sp>
      <p:sp>
        <p:nvSpPr>
          <p:cNvPr id="16" name="矩形 15">
            <a:extLst>
              <a:ext uri="{FF2B5EF4-FFF2-40B4-BE49-F238E27FC236}">
                <a16:creationId xmlns:a16="http://schemas.microsoft.com/office/drawing/2014/main" id="{86551296-CD29-084E-9713-D38000C31A77}"/>
              </a:ext>
            </a:extLst>
          </p:cNvPr>
          <p:cNvSpPr/>
          <p:nvPr/>
        </p:nvSpPr>
        <p:spPr>
          <a:xfrm>
            <a:off x="8106833" y="6671730"/>
            <a:ext cx="1037167" cy="186270"/>
          </a:xfrm>
          <a:prstGeom prst="rect">
            <a:avLst/>
          </a:prstGeom>
          <a:solidFill>
            <a:srgbClr val="9D53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t>20/35</a:t>
            </a:r>
            <a:endParaRPr kumimoji="1" lang="zh-CN" altLang="en-US" sz="1200" dirty="0"/>
          </a:p>
        </p:txBody>
      </p:sp>
      <p:sp>
        <p:nvSpPr>
          <p:cNvPr id="17" name="矩形 16">
            <a:extLst>
              <a:ext uri="{FF2B5EF4-FFF2-40B4-BE49-F238E27FC236}">
                <a16:creationId xmlns:a16="http://schemas.microsoft.com/office/drawing/2014/main" id="{0F2AD24E-A2C3-5A4C-A301-782D4B6FB186}"/>
              </a:ext>
            </a:extLst>
          </p:cNvPr>
          <p:cNvSpPr/>
          <p:nvPr/>
        </p:nvSpPr>
        <p:spPr>
          <a:xfrm>
            <a:off x="0" y="246919"/>
            <a:ext cx="9143996" cy="48121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zh-CN" sz="2400" dirty="0">
                <a:solidFill>
                  <a:srgbClr val="8B302D"/>
                </a:solidFill>
                <a:latin typeface="+mj-lt"/>
                <a:ea typeface="PingFang SC" panose="020B0400000000000000" pitchFamily="34" charset="-122"/>
                <a:cs typeface="Arial" panose="020B0604020202020204" pitchFamily="34" charset="0"/>
              </a:rPr>
              <a:t>   Data Preprocessing Pipeline</a:t>
            </a:r>
            <a:endParaRPr kumimoji="1" lang="zh-CN" altLang="en-US" dirty="0">
              <a:solidFill>
                <a:srgbClr val="8B302D"/>
              </a:solidFill>
              <a:latin typeface="+mj-lt"/>
              <a:ea typeface="PingFang SC" panose="020B0400000000000000" pitchFamily="34" charset="-122"/>
              <a:cs typeface="Arial" panose="020B0604020202020204" pitchFamily="34" charset="0"/>
            </a:endParaRPr>
          </a:p>
        </p:txBody>
      </p:sp>
      <p:pic>
        <p:nvPicPr>
          <p:cNvPr id="3" name="图片 2">
            <a:extLst>
              <a:ext uri="{FF2B5EF4-FFF2-40B4-BE49-F238E27FC236}">
                <a16:creationId xmlns:a16="http://schemas.microsoft.com/office/drawing/2014/main" id="{847F5BBC-A12B-2D43-BE6C-5BF08BA332EA}"/>
              </a:ext>
            </a:extLst>
          </p:cNvPr>
          <p:cNvPicPr>
            <a:picLocks noChangeAspect="1"/>
          </p:cNvPicPr>
          <p:nvPr/>
        </p:nvPicPr>
        <p:blipFill>
          <a:blip r:embed="rId3"/>
          <a:stretch>
            <a:fillRect/>
          </a:stretch>
        </p:blipFill>
        <p:spPr>
          <a:xfrm>
            <a:off x="6015021" y="3842266"/>
            <a:ext cx="2292596" cy="2292596"/>
          </a:xfrm>
          <a:prstGeom prst="rect">
            <a:avLst/>
          </a:prstGeom>
        </p:spPr>
      </p:pic>
      <p:sp>
        <p:nvSpPr>
          <p:cNvPr id="4" name="文本框 3">
            <a:extLst>
              <a:ext uri="{FF2B5EF4-FFF2-40B4-BE49-F238E27FC236}">
                <a16:creationId xmlns:a16="http://schemas.microsoft.com/office/drawing/2014/main" id="{DF654B44-C817-EF47-A185-DEC0B6864D79}"/>
              </a:ext>
            </a:extLst>
          </p:cNvPr>
          <p:cNvSpPr txBox="1"/>
          <p:nvPr/>
        </p:nvSpPr>
        <p:spPr>
          <a:xfrm>
            <a:off x="6128443" y="6065996"/>
            <a:ext cx="2264081" cy="461665"/>
          </a:xfrm>
          <a:prstGeom prst="rect">
            <a:avLst/>
          </a:prstGeom>
          <a:noFill/>
        </p:spPr>
        <p:txBody>
          <a:bodyPr wrap="none" rtlCol="0">
            <a:spAutoFit/>
          </a:bodyPr>
          <a:lstStyle/>
          <a:p>
            <a:pPr algn="ctr"/>
            <a:r>
              <a:rPr lang="en" altLang="zh-CN" sz="1200" dirty="0">
                <a:solidFill>
                  <a:srgbClr val="0030F0"/>
                </a:solidFill>
                <a:effectLst/>
                <a:latin typeface="NimbusRomNo9L-Regu"/>
              </a:rPr>
              <a:t>An example of removed baseline </a:t>
            </a:r>
            <a:endParaRPr lang="en" altLang="zh-CN" sz="1200" dirty="0">
              <a:solidFill>
                <a:srgbClr val="0030F0"/>
              </a:solidFill>
            </a:endParaRPr>
          </a:p>
          <a:p>
            <a:pPr algn="ctr"/>
            <a:r>
              <a:rPr lang="en" altLang="zh-CN" sz="1200" dirty="0">
                <a:solidFill>
                  <a:srgbClr val="0030F0"/>
                </a:solidFill>
                <a:effectLst/>
                <a:latin typeface="NimbusRomNo9L-Regu"/>
              </a:rPr>
              <a:t>drift and reconstructed SPSs</a:t>
            </a:r>
            <a:endParaRPr lang="en" altLang="zh-CN" sz="1200" dirty="0">
              <a:solidFill>
                <a:srgbClr val="0030F0"/>
              </a:solidFill>
            </a:endParaRPr>
          </a:p>
        </p:txBody>
      </p:sp>
      <p:pic>
        <p:nvPicPr>
          <p:cNvPr id="20" name="图片 19">
            <a:extLst>
              <a:ext uri="{FF2B5EF4-FFF2-40B4-BE49-F238E27FC236}">
                <a16:creationId xmlns:a16="http://schemas.microsoft.com/office/drawing/2014/main" id="{D54AAF55-5896-0046-96E7-5C971E19E13E}"/>
              </a:ext>
            </a:extLst>
          </p:cNvPr>
          <p:cNvPicPr>
            <a:picLocks noChangeAspect="1"/>
          </p:cNvPicPr>
          <p:nvPr/>
        </p:nvPicPr>
        <p:blipFill>
          <a:blip r:embed="rId4"/>
          <a:stretch>
            <a:fillRect/>
          </a:stretch>
        </p:blipFill>
        <p:spPr>
          <a:xfrm>
            <a:off x="6061847" y="951742"/>
            <a:ext cx="2400530" cy="2408723"/>
          </a:xfrm>
          <a:prstGeom prst="rect">
            <a:avLst/>
          </a:prstGeom>
        </p:spPr>
      </p:pic>
      <p:sp>
        <p:nvSpPr>
          <p:cNvPr id="21" name="文本框 20">
            <a:extLst>
              <a:ext uri="{FF2B5EF4-FFF2-40B4-BE49-F238E27FC236}">
                <a16:creationId xmlns:a16="http://schemas.microsoft.com/office/drawing/2014/main" id="{B4E4D957-A912-EE44-A287-D1BB1ACEC8F9}"/>
              </a:ext>
            </a:extLst>
          </p:cNvPr>
          <p:cNvSpPr txBox="1"/>
          <p:nvPr/>
        </p:nvSpPr>
        <p:spPr>
          <a:xfrm>
            <a:off x="5521879" y="674743"/>
            <a:ext cx="3278879" cy="276999"/>
          </a:xfrm>
          <a:prstGeom prst="rect">
            <a:avLst/>
          </a:prstGeom>
          <a:noFill/>
        </p:spPr>
        <p:txBody>
          <a:bodyPr wrap="square" rtlCol="0">
            <a:spAutoFit/>
          </a:bodyPr>
          <a:lstStyle/>
          <a:p>
            <a:pPr algn="ctr"/>
            <a:r>
              <a:rPr lang="en" altLang="zh-CN" sz="1200" dirty="0">
                <a:solidFill>
                  <a:srgbClr val="0030F0"/>
                </a:solidFill>
                <a:effectLst/>
                <a:latin typeface="NimbusRomNo9L-Regu"/>
              </a:rPr>
              <a:t>An example of EMD decomposition</a:t>
            </a:r>
            <a:endParaRPr lang="en" altLang="zh-CN" sz="1200" dirty="0">
              <a:solidFill>
                <a:srgbClr val="0030F0"/>
              </a:solidFill>
            </a:endParaRPr>
          </a:p>
        </p:txBody>
      </p:sp>
      <p:sp>
        <p:nvSpPr>
          <p:cNvPr id="22" name="燕尾形箭头 21">
            <a:extLst>
              <a:ext uri="{FF2B5EF4-FFF2-40B4-BE49-F238E27FC236}">
                <a16:creationId xmlns:a16="http://schemas.microsoft.com/office/drawing/2014/main" id="{9123F718-4D60-AA4F-A944-40F6542EB66F}"/>
              </a:ext>
            </a:extLst>
          </p:cNvPr>
          <p:cNvSpPr/>
          <p:nvPr/>
        </p:nvSpPr>
        <p:spPr>
          <a:xfrm rot="5400000">
            <a:off x="7013153" y="3390330"/>
            <a:ext cx="472629" cy="412900"/>
          </a:xfrm>
          <a:prstGeom prst="notchedRightArrow">
            <a:avLst/>
          </a:prstGeom>
          <a:solidFill>
            <a:srgbClr val="003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3" name="文本框 22">
            <a:extLst>
              <a:ext uri="{FF2B5EF4-FFF2-40B4-BE49-F238E27FC236}">
                <a16:creationId xmlns:a16="http://schemas.microsoft.com/office/drawing/2014/main" id="{EF0B67AE-02FC-1849-AEBD-7A64C5162144}"/>
              </a:ext>
            </a:extLst>
          </p:cNvPr>
          <p:cNvSpPr txBox="1"/>
          <p:nvPr/>
        </p:nvSpPr>
        <p:spPr>
          <a:xfrm>
            <a:off x="7728332" y="311222"/>
            <a:ext cx="1415668" cy="369332"/>
          </a:xfrm>
          <a:prstGeom prst="rect">
            <a:avLst/>
          </a:prstGeom>
          <a:noFill/>
          <a:ln>
            <a:noFill/>
          </a:ln>
        </p:spPr>
        <p:txBody>
          <a:bodyPr wrap="square">
            <a:spAutoFit/>
          </a:bodyPr>
          <a:lstStyle/>
          <a:p>
            <a:pPr algn="ctr"/>
            <a:r>
              <a:rPr kumimoji="1" lang="en-US" altLang="zh-CN" sz="1800" dirty="0">
                <a:solidFill>
                  <a:srgbClr val="8B302D"/>
                </a:solidFill>
                <a:latin typeface="+mj-lt"/>
              </a:rPr>
              <a:t>Challenge</a:t>
            </a:r>
            <a:r>
              <a:rPr kumimoji="1" lang="zh-CN" altLang="en-US" sz="1800" dirty="0">
                <a:solidFill>
                  <a:srgbClr val="8B302D"/>
                </a:solidFill>
                <a:latin typeface="+mj-lt"/>
              </a:rPr>
              <a:t> </a:t>
            </a:r>
            <a:r>
              <a:rPr kumimoji="1" lang="en-US" altLang="zh-CN" sz="1800" dirty="0">
                <a:solidFill>
                  <a:srgbClr val="8B302D"/>
                </a:solidFill>
                <a:latin typeface="+mj-lt"/>
              </a:rPr>
              <a:t>1</a:t>
            </a:r>
            <a:endParaRPr lang="zh-CN" altLang="en-US" dirty="0"/>
          </a:p>
        </p:txBody>
      </p:sp>
      <p:sp>
        <p:nvSpPr>
          <p:cNvPr id="8" name="燕尾形 7">
            <a:extLst>
              <a:ext uri="{FF2B5EF4-FFF2-40B4-BE49-F238E27FC236}">
                <a16:creationId xmlns:a16="http://schemas.microsoft.com/office/drawing/2014/main" id="{2EDFB18B-C066-0A4C-990C-84479E309FB8}"/>
              </a:ext>
            </a:extLst>
          </p:cNvPr>
          <p:cNvSpPr/>
          <p:nvPr/>
        </p:nvSpPr>
        <p:spPr>
          <a:xfrm>
            <a:off x="7455918" y="423606"/>
            <a:ext cx="308472" cy="151752"/>
          </a:xfrm>
          <a:prstGeom prst="chevron">
            <a:avLst/>
          </a:prstGeom>
          <a:solidFill>
            <a:srgbClr val="D8B0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24" name="矩形 23">
            <a:extLst>
              <a:ext uri="{FF2B5EF4-FFF2-40B4-BE49-F238E27FC236}">
                <a16:creationId xmlns:a16="http://schemas.microsoft.com/office/drawing/2014/main" id="{510B8189-3F2B-BE4A-A4BB-279EB1871A39}"/>
              </a:ext>
            </a:extLst>
          </p:cNvPr>
          <p:cNvSpPr/>
          <p:nvPr/>
        </p:nvSpPr>
        <p:spPr>
          <a:xfrm>
            <a:off x="0" y="0"/>
            <a:ext cx="9143996" cy="246920"/>
          </a:xfrm>
          <a:prstGeom prst="rect">
            <a:avLst/>
          </a:prstGeom>
          <a:solidFill>
            <a:srgbClr val="8B30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t>Design</a:t>
            </a:r>
            <a:r>
              <a:rPr kumimoji="1" lang="zh-CN" altLang="en-US" sz="1200" dirty="0"/>
              <a:t> </a:t>
            </a:r>
            <a:r>
              <a:rPr kumimoji="1" lang="en-US" altLang="zh-CN" sz="1200" dirty="0"/>
              <a:t>of BaroAuth</a:t>
            </a:r>
            <a:endParaRPr kumimoji="1" lang="zh-CN" altLang="en-US" sz="1200" dirty="0"/>
          </a:p>
        </p:txBody>
      </p:sp>
      <p:pic>
        <p:nvPicPr>
          <p:cNvPr id="10" name="图片 9">
            <a:extLst>
              <a:ext uri="{FF2B5EF4-FFF2-40B4-BE49-F238E27FC236}">
                <a16:creationId xmlns:a16="http://schemas.microsoft.com/office/drawing/2014/main" id="{A18B7E08-5B93-1D4A-BE1B-51AB600EA3C0}"/>
              </a:ext>
            </a:extLst>
          </p:cNvPr>
          <p:cNvPicPr>
            <a:picLocks noChangeAspect="1"/>
          </p:cNvPicPr>
          <p:nvPr/>
        </p:nvPicPr>
        <p:blipFill>
          <a:blip r:embed="rId5"/>
          <a:stretch>
            <a:fillRect/>
          </a:stretch>
        </p:blipFill>
        <p:spPr>
          <a:xfrm>
            <a:off x="244076" y="825532"/>
            <a:ext cx="5479391" cy="4622647"/>
          </a:xfrm>
          <a:prstGeom prst="rect">
            <a:avLst/>
          </a:prstGeom>
        </p:spPr>
      </p:pic>
    </p:spTree>
    <p:extLst>
      <p:ext uri="{BB962C8B-B14F-4D97-AF65-F5344CB8AC3E}">
        <p14:creationId xmlns:p14="http://schemas.microsoft.com/office/powerpoint/2010/main" val="11671054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a:extLst>
              <a:ext uri="{FF2B5EF4-FFF2-40B4-BE49-F238E27FC236}">
                <a16:creationId xmlns:a16="http://schemas.microsoft.com/office/drawing/2014/main" id="{7298F338-BF45-D446-A7EB-9738B9AF0B49}"/>
              </a:ext>
            </a:extLst>
          </p:cNvPr>
          <p:cNvSpPr/>
          <p:nvPr/>
        </p:nvSpPr>
        <p:spPr>
          <a:xfrm>
            <a:off x="0" y="6671732"/>
            <a:ext cx="3069166" cy="186267"/>
          </a:xfrm>
          <a:prstGeom prst="rect">
            <a:avLst/>
          </a:prstGeom>
          <a:solidFill>
            <a:srgbClr val="8B30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t>Luo Zhou et al.</a:t>
            </a:r>
            <a:endParaRPr kumimoji="1" lang="zh-CN" altLang="en-US" sz="1200" dirty="0"/>
          </a:p>
        </p:txBody>
      </p:sp>
      <p:sp>
        <p:nvSpPr>
          <p:cNvPr id="13" name="矩形 12">
            <a:extLst>
              <a:ext uri="{FF2B5EF4-FFF2-40B4-BE49-F238E27FC236}">
                <a16:creationId xmlns:a16="http://schemas.microsoft.com/office/drawing/2014/main" id="{F34D8F6A-E87C-8145-BE0C-C609627D4B7C}"/>
              </a:ext>
            </a:extLst>
          </p:cNvPr>
          <p:cNvSpPr/>
          <p:nvPr/>
        </p:nvSpPr>
        <p:spPr>
          <a:xfrm>
            <a:off x="3069166" y="6671732"/>
            <a:ext cx="3005666" cy="186268"/>
          </a:xfrm>
          <a:prstGeom prst="rect">
            <a:avLst/>
          </a:prstGeom>
          <a:solidFill>
            <a:srgbClr val="9141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t>Donghua University</a:t>
            </a:r>
            <a:endParaRPr kumimoji="1" lang="zh-CN" altLang="en-US" sz="1200" dirty="0"/>
          </a:p>
        </p:txBody>
      </p:sp>
      <p:sp>
        <p:nvSpPr>
          <p:cNvPr id="15" name="矩形 14">
            <a:extLst>
              <a:ext uri="{FF2B5EF4-FFF2-40B4-BE49-F238E27FC236}">
                <a16:creationId xmlns:a16="http://schemas.microsoft.com/office/drawing/2014/main" id="{56D33D00-85D6-064B-A329-4FA724561018}"/>
              </a:ext>
            </a:extLst>
          </p:cNvPr>
          <p:cNvSpPr/>
          <p:nvPr/>
        </p:nvSpPr>
        <p:spPr>
          <a:xfrm>
            <a:off x="6074832" y="6671731"/>
            <a:ext cx="2374901" cy="186268"/>
          </a:xfrm>
          <a:prstGeom prst="rect">
            <a:avLst/>
          </a:prstGeom>
          <a:solidFill>
            <a:srgbClr val="9C53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t>2025.07.21</a:t>
            </a:r>
            <a:endParaRPr kumimoji="1" lang="zh-CN" altLang="en-US" sz="1200" dirty="0"/>
          </a:p>
        </p:txBody>
      </p:sp>
      <p:sp>
        <p:nvSpPr>
          <p:cNvPr id="16" name="矩形 15">
            <a:extLst>
              <a:ext uri="{FF2B5EF4-FFF2-40B4-BE49-F238E27FC236}">
                <a16:creationId xmlns:a16="http://schemas.microsoft.com/office/drawing/2014/main" id="{86551296-CD29-084E-9713-D38000C31A77}"/>
              </a:ext>
            </a:extLst>
          </p:cNvPr>
          <p:cNvSpPr/>
          <p:nvPr/>
        </p:nvSpPr>
        <p:spPr>
          <a:xfrm>
            <a:off x="8106833" y="6671730"/>
            <a:ext cx="1037167" cy="186270"/>
          </a:xfrm>
          <a:prstGeom prst="rect">
            <a:avLst/>
          </a:prstGeom>
          <a:solidFill>
            <a:srgbClr val="9D53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t>21/35</a:t>
            </a:r>
            <a:endParaRPr kumimoji="1" lang="zh-CN" altLang="en-US" sz="1200" dirty="0"/>
          </a:p>
        </p:txBody>
      </p:sp>
      <p:sp>
        <p:nvSpPr>
          <p:cNvPr id="17" name="矩形 16">
            <a:extLst>
              <a:ext uri="{FF2B5EF4-FFF2-40B4-BE49-F238E27FC236}">
                <a16:creationId xmlns:a16="http://schemas.microsoft.com/office/drawing/2014/main" id="{0F2AD24E-A2C3-5A4C-A301-782D4B6FB186}"/>
              </a:ext>
            </a:extLst>
          </p:cNvPr>
          <p:cNvSpPr/>
          <p:nvPr/>
        </p:nvSpPr>
        <p:spPr>
          <a:xfrm>
            <a:off x="0" y="246919"/>
            <a:ext cx="9143996" cy="48121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zh-CN" sz="2400" dirty="0">
                <a:solidFill>
                  <a:srgbClr val="8B302D"/>
                </a:solidFill>
                <a:latin typeface="+mj-lt"/>
                <a:ea typeface="PingFang SC" panose="020B0400000000000000" pitchFamily="34" charset="-122"/>
                <a:cs typeface="Arial" panose="020B0604020202020204" pitchFamily="34" charset="0"/>
              </a:rPr>
              <a:t>   Pseudo Sample Generation</a:t>
            </a:r>
            <a:endParaRPr kumimoji="1" lang="zh-CN" altLang="en-US" dirty="0">
              <a:solidFill>
                <a:srgbClr val="8B302D"/>
              </a:solidFill>
              <a:latin typeface="+mj-lt"/>
              <a:ea typeface="PingFang SC" panose="020B0400000000000000" pitchFamily="34" charset="-122"/>
              <a:cs typeface="Arial" panose="020B0604020202020204" pitchFamily="34" charset="0"/>
            </a:endParaRPr>
          </a:p>
        </p:txBody>
      </p:sp>
      <p:pic>
        <p:nvPicPr>
          <p:cNvPr id="2" name="图片 1">
            <a:extLst>
              <a:ext uri="{FF2B5EF4-FFF2-40B4-BE49-F238E27FC236}">
                <a16:creationId xmlns:a16="http://schemas.microsoft.com/office/drawing/2014/main" id="{6854658C-D561-164B-A43F-70C3E40DA97E}"/>
              </a:ext>
            </a:extLst>
          </p:cNvPr>
          <p:cNvPicPr>
            <a:picLocks noChangeAspect="1"/>
          </p:cNvPicPr>
          <p:nvPr/>
        </p:nvPicPr>
        <p:blipFill>
          <a:blip r:embed="rId3"/>
          <a:stretch>
            <a:fillRect/>
          </a:stretch>
        </p:blipFill>
        <p:spPr>
          <a:xfrm>
            <a:off x="272252" y="950087"/>
            <a:ext cx="8599496" cy="4444683"/>
          </a:xfrm>
          <a:prstGeom prst="rect">
            <a:avLst/>
          </a:prstGeom>
        </p:spPr>
      </p:pic>
      <p:pic>
        <p:nvPicPr>
          <p:cNvPr id="3" name="图片 2">
            <a:extLst>
              <a:ext uri="{FF2B5EF4-FFF2-40B4-BE49-F238E27FC236}">
                <a16:creationId xmlns:a16="http://schemas.microsoft.com/office/drawing/2014/main" id="{5BC62B64-3702-1B46-900A-C6F0775525EA}"/>
              </a:ext>
            </a:extLst>
          </p:cNvPr>
          <p:cNvPicPr>
            <a:picLocks noChangeAspect="1"/>
          </p:cNvPicPr>
          <p:nvPr/>
        </p:nvPicPr>
        <p:blipFill>
          <a:blip r:embed="rId4"/>
          <a:stretch>
            <a:fillRect/>
          </a:stretch>
        </p:blipFill>
        <p:spPr>
          <a:xfrm>
            <a:off x="1865626" y="5547545"/>
            <a:ext cx="5412743" cy="749457"/>
          </a:xfrm>
          <a:prstGeom prst="rect">
            <a:avLst/>
          </a:prstGeom>
        </p:spPr>
      </p:pic>
      <p:sp>
        <p:nvSpPr>
          <p:cNvPr id="14" name="文本框 13">
            <a:extLst>
              <a:ext uri="{FF2B5EF4-FFF2-40B4-BE49-F238E27FC236}">
                <a16:creationId xmlns:a16="http://schemas.microsoft.com/office/drawing/2014/main" id="{076F8F0A-4CE5-9F46-9B5C-86CC3F1E2A24}"/>
              </a:ext>
            </a:extLst>
          </p:cNvPr>
          <p:cNvSpPr txBox="1"/>
          <p:nvPr/>
        </p:nvSpPr>
        <p:spPr>
          <a:xfrm>
            <a:off x="7728332" y="311222"/>
            <a:ext cx="1415668" cy="369332"/>
          </a:xfrm>
          <a:prstGeom prst="rect">
            <a:avLst/>
          </a:prstGeom>
          <a:noFill/>
          <a:ln>
            <a:noFill/>
          </a:ln>
        </p:spPr>
        <p:txBody>
          <a:bodyPr wrap="square">
            <a:spAutoFit/>
          </a:bodyPr>
          <a:lstStyle/>
          <a:p>
            <a:pPr algn="ctr"/>
            <a:r>
              <a:rPr kumimoji="1" lang="en-US" altLang="zh-CN" sz="1800" dirty="0">
                <a:solidFill>
                  <a:srgbClr val="8B302D"/>
                </a:solidFill>
                <a:latin typeface="+mj-lt"/>
              </a:rPr>
              <a:t>Challenge</a:t>
            </a:r>
            <a:r>
              <a:rPr kumimoji="1" lang="zh-CN" altLang="en-US" sz="1800" dirty="0">
                <a:solidFill>
                  <a:srgbClr val="8B302D"/>
                </a:solidFill>
                <a:latin typeface="+mj-lt"/>
              </a:rPr>
              <a:t> </a:t>
            </a:r>
            <a:r>
              <a:rPr kumimoji="1" lang="en-US" altLang="zh-CN" dirty="0">
                <a:solidFill>
                  <a:srgbClr val="8B302D"/>
                </a:solidFill>
                <a:latin typeface="+mj-lt"/>
              </a:rPr>
              <a:t>2</a:t>
            </a:r>
            <a:endParaRPr lang="zh-CN" altLang="en-US" dirty="0"/>
          </a:p>
        </p:txBody>
      </p:sp>
      <p:sp>
        <p:nvSpPr>
          <p:cNvPr id="20" name="燕尾形 19">
            <a:extLst>
              <a:ext uri="{FF2B5EF4-FFF2-40B4-BE49-F238E27FC236}">
                <a16:creationId xmlns:a16="http://schemas.microsoft.com/office/drawing/2014/main" id="{0AE0A81D-0A8F-BD4D-97A4-F03BEE35C474}"/>
              </a:ext>
            </a:extLst>
          </p:cNvPr>
          <p:cNvSpPr/>
          <p:nvPr/>
        </p:nvSpPr>
        <p:spPr>
          <a:xfrm>
            <a:off x="7455918" y="423606"/>
            <a:ext cx="308472" cy="151752"/>
          </a:xfrm>
          <a:prstGeom prst="chevron">
            <a:avLst/>
          </a:prstGeom>
          <a:solidFill>
            <a:srgbClr val="D8B0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21" name="矩形 20">
            <a:extLst>
              <a:ext uri="{FF2B5EF4-FFF2-40B4-BE49-F238E27FC236}">
                <a16:creationId xmlns:a16="http://schemas.microsoft.com/office/drawing/2014/main" id="{C35B3372-A59E-664A-9BE6-CE214E41A391}"/>
              </a:ext>
            </a:extLst>
          </p:cNvPr>
          <p:cNvSpPr/>
          <p:nvPr/>
        </p:nvSpPr>
        <p:spPr>
          <a:xfrm>
            <a:off x="0" y="0"/>
            <a:ext cx="9143996" cy="246920"/>
          </a:xfrm>
          <a:prstGeom prst="rect">
            <a:avLst/>
          </a:prstGeom>
          <a:solidFill>
            <a:srgbClr val="8B30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t>Design</a:t>
            </a:r>
            <a:r>
              <a:rPr kumimoji="1" lang="zh-CN" altLang="en-US" sz="1200" dirty="0"/>
              <a:t> </a:t>
            </a:r>
            <a:r>
              <a:rPr kumimoji="1" lang="en-US" altLang="zh-CN" sz="1200" dirty="0"/>
              <a:t>of BaroAuth</a:t>
            </a:r>
            <a:endParaRPr kumimoji="1" lang="zh-CN" altLang="en-US" sz="1200" dirty="0"/>
          </a:p>
        </p:txBody>
      </p:sp>
    </p:spTree>
    <p:extLst>
      <p:ext uri="{BB962C8B-B14F-4D97-AF65-F5344CB8AC3E}">
        <p14:creationId xmlns:p14="http://schemas.microsoft.com/office/powerpoint/2010/main" val="140680351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a:extLst>
              <a:ext uri="{FF2B5EF4-FFF2-40B4-BE49-F238E27FC236}">
                <a16:creationId xmlns:a16="http://schemas.microsoft.com/office/drawing/2014/main" id="{7298F338-BF45-D446-A7EB-9738B9AF0B49}"/>
              </a:ext>
            </a:extLst>
          </p:cNvPr>
          <p:cNvSpPr/>
          <p:nvPr/>
        </p:nvSpPr>
        <p:spPr>
          <a:xfrm>
            <a:off x="0" y="6671732"/>
            <a:ext cx="3069166" cy="186267"/>
          </a:xfrm>
          <a:prstGeom prst="rect">
            <a:avLst/>
          </a:prstGeom>
          <a:solidFill>
            <a:srgbClr val="8B30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t>Luo Zhou et al.</a:t>
            </a:r>
            <a:endParaRPr kumimoji="1" lang="zh-CN" altLang="en-US" sz="1200" dirty="0"/>
          </a:p>
        </p:txBody>
      </p:sp>
      <p:sp>
        <p:nvSpPr>
          <p:cNvPr id="13" name="矩形 12">
            <a:extLst>
              <a:ext uri="{FF2B5EF4-FFF2-40B4-BE49-F238E27FC236}">
                <a16:creationId xmlns:a16="http://schemas.microsoft.com/office/drawing/2014/main" id="{F34D8F6A-E87C-8145-BE0C-C609627D4B7C}"/>
              </a:ext>
            </a:extLst>
          </p:cNvPr>
          <p:cNvSpPr/>
          <p:nvPr/>
        </p:nvSpPr>
        <p:spPr>
          <a:xfrm>
            <a:off x="3069166" y="6671732"/>
            <a:ext cx="3005666" cy="186268"/>
          </a:xfrm>
          <a:prstGeom prst="rect">
            <a:avLst/>
          </a:prstGeom>
          <a:solidFill>
            <a:srgbClr val="9141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t>Donghua University</a:t>
            </a:r>
            <a:endParaRPr kumimoji="1" lang="zh-CN" altLang="en-US" sz="1200" dirty="0"/>
          </a:p>
        </p:txBody>
      </p:sp>
      <p:sp>
        <p:nvSpPr>
          <p:cNvPr id="15" name="矩形 14">
            <a:extLst>
              <a:ext uri="{FF2B5EF4-FFF2-40B4-BE49-F238E27FC236}">
                <a16:creationId xmlns:a16="http://schemas.microsoft.com/office/drawing/2014/main" id="{56D33D00-85D6-064B-A329-4FA724561018}"/>
              </a:ext>
            </a:extLst>
          </p:cNvPr>
          <p:cNvSpPr/>
          <p:nvPr/>
        </p:nvSpPr>
        <p:spPr>
          <a:xfrm>
            <a:off x="6074832" y="6671731"/>
            <a:ext cx="2374901" cy="186268"/>
          </a:xfrm>
          <a:prstGeom prst="rect">
            <a:avLst/>
          </a:prstGeom>
          <a:solidFill>
            <a:srgbClr val="9C53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t>2025.07.21</a:t>
            </a:r>
            <a:endParaRPr kumimoji="1" lang="zh-CN" altLang="en-US" sz="1200" dirty="0"/>
          </a:p>
        </p:txBody>
      </p:sp>
      <p:sp>
        <p:nvSpPr>
          <p:cNvPr id="16" name="矩形 15">
            <a:extLst>
              <a:ext uri="{FF2B5EF4-FFF2-40B4-BE49-F238E27FC236}">
                <a16:creationId xmlns:a16="http://schemas.microsoft.com/office/drawing/2014/main" id="{86551296-CD29-084E-9713-D38000C31A77}"/>
              </a:ext>
            </a:extLst>
          </p:cNvPr>
          <p:cNvSpPr/>
          <p:nvPr/>
        </p:nvSpPr>
        <p:spPr>
          <a:xfrm>
            <a:off x="8106833" y="6671730"/>
            <a:ext cx="1037167" cy="186270"/>
          </a:xfrm>
          <a:prstGeom prst="rect">
            <a:avLst/>
          </a:prstGeom>
          <a:solidFill>
            <a:srgbClr val="9D53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t>22/35</a:t>
            </a:r>
            <a:endParaRPr kumimoji="1" lang="zh-CN" altLang="en-US" sz="1200" dirty="0"/>
          </a:p>
        </p:txBody>
      </p:sp>
      <p:sp>
        <p:nvSpPr>
          <p:cNvPr id="17" name="矩形 16">
            <a:extLst>
              <a:ext uri="{FF2B5EF4-FFF2-40B4-BE49-F238E27FC236}">
                <a16:creationId xmlns:a16="http://schemas.microsoft.com/office/drawing/2014/main" id="{0F2AD24E-A2C3-5A4C-A301-782D4B6FB186}"/>
              </a:ext>
            </a:extLst>
          </p:cNvPr>
          <p:cNvSpPr/>
          <p:nvPr/>
        </p:nvSpPr>
        <p:spPr>
          <a:xfrm>
            <a:off x="0" y="246919"/>
            <a:ext cx="9143996" cy="48121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zh-CN" sz="2400" dirty="0">
                <a:solidFill>
                  <a:srgbClr val="8B302D"/>
                </a:solidFill>
                <a:latin typeface="+mj-lt"/>
                <a:ea typeface="PingFang SC" panose="020B0400000000000000" pitchFamily="34" charset="-122"/>
                <a:cs typeface="Arial" panose="020B0604020202020204" pitchFamily="34" charset="0"/>
              </a:rPr>
              <a:t>   Authentication Model - BaroIDNet</a:t>
            </a:r>
            <a:endParaRPr kumimoji="1" lang="zh-CN" altLang="en-US" dirty="0">
              <a:solidFill>
                <a:srgbClr val="8B302D"/>
              </a:solidFill>
              <a:latin typeface="+mj-lt"/>
              <a:ea typeface="PingFang SC" panose="020B0400000000000000" pitchFamily="34" charset="-122"/>
              <a:cs typeface="Arial" panose="020B0604020202020204" pitchFamily="34" charset="0"/>
            </a:endParaRPr>
          </a:p>
        </p:txBody>
      </p:sp>
      <p:pic>
        <p:nvPicPr>
          <p:cNvPr id="3" name="图片 2">
            <a:extLst>
              <a:ext uri="{FF2B5EF4-FFF2-40B4-BE49-F238E27FC236}">
                <a16:creationId xmlns:a16="http://schemas.microsoft.com/office/drawing/2014/main" id="{196A1927-FA32-EF42-AB39-2FDCBD43C979}"/>
              </a:ext>
            </a:extLst>
          </p:cNvPr>
          <p:cNvPicPr>
            <a:picLocks noChangeAspect="1"/>
          </p:cNvPicPr>
          <p:nvPr/>
        </p:nvPicPr>
        <p:blipFill>
          <a:blip r:embed="rId3"/>
          <a:stretch>
            <a:fillRect/>
          </a:stretch>
        </p:blipFill>
        <p:spPr>
          <a:xfrm>
            <a:off x="1228500" y="1517108"/>
            <a:ext cx="6550312" cy="2810623"/>
          </a:xfrm>
          <a:prstGeom prst="rect">
            <a:avLst/>
          </a:prstGeom>
        </p:spPr>
      </p:pic>
      <p:pic>
        <p:nvPicPr>
          <p:cNvPr id="9" name="图片 8">
            <a:extLst>
              <a:ext uri="{FF2B5EF4-FFF2-40B4-BE49-F238E27FC236}">
                <a16:creationId xmlns:a16="http://schemas.microsoft.com/office/drawing/2014/main" id="{A684B6F2-BE52-234B-9062-DD7FE26E1E2D}"/>
              </a:ext>
            </a:extLst>
          </p:cNvPr>
          <p:cNvPicPr>
            <a:picLocks noChangeAspect="1"/>
          </p:cNvPicPr>
          <p:nvPr/>
        </p:nvPicPr>
        <p:blipFill>
          <a:blip r:embed="rId4"/>
          <a:stretch>
            <a:fillRect/>
          </a:stretch>
        </p:blipFill>
        <p:spPr>
          <a:xfrm>
            <a:off x="304810" y="4496365"/>
            <a:ext cx="2764968" cy="1169446"/>
          </a:xfrm>
          <a:prstGeom prst="rect">
            <a:avLst/>
          </a:prstGeom>
        </p:spPr>
      </p:pic>
      <p:pic>
        <p:nvPicPr>
          <p:cNvPr id="10" name="图片 9">
            <a:extLst>
              <a:ext uri="{FF2B5EF4-FFF2-40B4-BE49-F238E27FC236}">
                <a16:creationId xmlns:a16="http://schemas.microsoft.com/office/drawing/2014/main" id="{0F9713B0-6832-BE4B-B7DA-4F3FBCD16713}"/>
              </a:ext>
            </a:extLst>
          </p:cNvPr>
          <p:cNvPicPr>
            <a:picLocks noChangeAspect="1"/>
          </p:cNvPicPr>
          <p:nvPr/>
        </p:nvPicPr>
        <p:blipFill>
          <a:blip r:embed="rId5"/>
          <a:stretch>
            <a:fillRect/>
          </a:stretch>
        </p:blipFill>
        <p:spPr>
          <a:xfrm>
            <a:off x="3336115" y="4496365"/>
            <a:ext cx="2524733" cy="1853362"/>
          </a:xfrm>
          <a:prstGeom prst="rect">
            <a:avLst/>
          </a:prstGeom>
        </p:spPr>
      </p:pic>
      <p:pic>
        <p:nvPicPr>
          <p:cNvPr id="11" name="图片 10">
            <a:extLst>
              <a:ext uri="{FF2B5EF4-FFF2-40B4-BE49-F238E27FC236}">
                <a16:creationId xmlns:a16="http://schemas.microsoft.com/office/drawing/2014/main" id="{69470F72-564B-8B46-9522-0DF008185FB1}"/>
              </a:ext>
            </a:extLst>
          </p:cNvPr>
          <p:cNvPicPr>
            <a:picLocks noChangeAspect="1"/>
          </p:cNvPicPr>
          <p:nvPr/>
        </p:nvPicPr>
        <p:blipFill>
          <a:blip r:embed="rId6"/>
          <a:stretch>
            <a:fillRect/>
          </a:stretch>
        </p:blipFill>
        <p:spPr>
          <a:xfrm>
            <a:off x="6155138" y="4488734"/>
            <a:ext cx="2910031" cy="1945660"/>
          </a:xfrm>
          <a:prstGeom prst="rect">
            <a:avLst/>
          </a:prstGeom>
        </p:spPr>
      </p:pic>
      <p:sp>
        <p:nvSpPr>
          <p:cNvPr id="21" name="文本框 20">
            <a:extLst>
              <a:ext uri="{FF2B5EF4-FFF2-40B4-BE49-F238E27FC236}">
                <a16:creationId xmlns:a16="http://schemas.microsoft.com/office/drawing/2014/main" id="{AB83F2D3-DCB0-3B4D-AC24-48393FE34BEA}"/>
              </a:ext>
            </a:extLst>
          </p:cNvPr>
          <p:cNvSpPr txBox="1"/>
          <p:nvPr/>
        </p:nvSpPr>
        <p:spPr>
          <a:xfrm>
            <a:off x="7728332" y="311222"/>
            <a:ext cx="1415668" cy="369332"/>
          </a:xfrm>
          <a:prstGeom prst="rect">
            <a:avLst/>
          </a:prstGeom>
          <a:noFill/>
          <a:ln>
            <a:noFill/>
          </a:ln>
        </p:spPr>
        <p:txBody>
          <a:bodyPr wrap="square">
            <a:spAutoFit/>
          </a:bodyPr>
          <a:lstStyle/>
          <a:p>
            <a:pPr algn="ctr"/>
            <a:r>
              <a:rPr kumimoji="1" lang="en-US" altLang="zh-CN" sz="1800" dirty="0">
                <a:solidFill>
                  <a:srgbClr val="8B302D"/>
                </a:solidFill>
                <a:latin typeface="+mj-lt"/>
              </a:rPr>
              <a:t>Challenge</a:t>
            </a:r>
            <a:r>
              <a:rPr kumimoji="1" lang="zh-CN" altLang="en-US" sz="1800" dirty="0">
                <a:solidFill>
                  <a:srgbClr val="8B302D"/>
                </a:solidFill>
                <a:latin typeface="+mj-lt"/>
              </a:rPr>
              <a:t> </a:t>
            </a:r>
            <a:r>
              <a:rPr kumimoji="1" lang="en-US" altLang="zh-CN" dirty="0">
                <a:solidFill>
                  <a:srgbClr val="8B302D"/>
                </a:solidFill>
                <a:latin typeface="+mj-lt"/>
              </a:rPr>
              <a:t>3</a:t>
            </a:r>
            <a:endParaRPr lang="zh-CN" altLang="en-US" dirty="0"/>
          </a:p>
        </p:txBody>
      </p:sp>
      <p:sp>
        <p:nvSpPr>
          <p:cNvPr id="22" name="燕尾形 21">
            <a:extLst>
              <a:ext uri="{FF2B5EF4-FFF2-40B4-BE49-F238E27FC236}">
                <a16:creationId xmlns:a16="http://schemas.microsoft.com/office/drawing/2014/main" id="{B1A53CDD-034A-214A-9245-68628A35960D}"/>
              </a:ext>
            </a:extLst>
          </p:cNvPr>
          <p:cNvSpPr/>
          <p:nvPr/>
        </p:nvSpPr>
        <p:spPr>
          <a:xfrm>
            <a:off x="7455918" y="423606"/>
            <a:ext cx="308472" cy="151752"/>
          </a:xfrm>
          <a:prstGeom prst="chevron">
            <a:avLst/>
          </a:prstGeom>
          <a:solidFill>
            <a:srgbClr val="D8B0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23" name="矩形 22">
            <a:extLst>
              <a:ext uri="{FF2B5EF4-FFF2-40B4-BE49-F238E27FC236}">
                <a16:creationId xmlns:a16="http://schemas.microsoft.com/office/drawing/2014/main" id="{EB9E9E79-3E9A-1D44-AD4A-C52F21678E89}"/>
              </a:ext>
            </a:extLst>
          </p:cNvPr>
          <p:cNvSpPr/>
          <p:nvPr/>
        </p:nvSpPr>
        <p:spPr>
          <a:xfrm>
            <a:off x="0" y="0"/>
            <a:ext cx="9143996" cy="246920"/>
          </a:xfrm>
          <a:prstGeom prst="rect">
            <a:avLst/>
          </a:prstGeom>
          <a:solidFill>
            <a:srgbClr val="8B30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t>Design</a:t>
            </a:r>
            <a:r>
              <a:rPr kumimoji="1" lang="zh-CN" altLang="en-US" sz="1200" dirty="0"/>
              <a:t> </a:t>
            </a:r>
            <a:r>
              <a:rPr kumimoji="1" lang="en-US" altLang="zh-CN" sz="1200" dirty="0"/>
              <a:t>of BaroAuth</a:t>
            </a:r>
            <a:endParaRPr kumimoji="1" lang="zh-CN" altLang="en-US" sz="1200" dirty="0"/>
          </a:p>
        </p:txBody>
      </p:sp>
      <p:pic>
        <p:nvPicPr>
          <p:cNvPr id="24" name="图片 23">
            <a:extLst>
              <a:ext uri="{FF2B5EF4-FFF2-40B4-BE49-F238E27FC236}">
                <a16:creationId xmlns:a16="http://schemas.microsoft.com/office/drawing/2014/main" id="{1CD90F10-15A8-2343-B44F-DB30656428BA}"/>
              </a:ext>
            </a:extLst>
          </p:cNvPr>
          <p:cNvPicPr>
            <a:picLocks noChangeAspect="1"/>
          </p:cNvPicPr>
          <p:nvPr/>
        </p:nvPicPr>
        <p:blipFill>
          <a:blip r:embed="rId7"/>
          <a:stretch>
            <a:fillRect/>
          </a:stretch>
        </p:blipFill>
        <p:spPr>
          <a:xfrm>
            <a:off x="1278980" y="776517"/>
            <a:ext cx="6449352" cy="683648"/>
          </a:xfrm>
          <a:prstGeom prst="rect">
            <a:avLst/>
          </a:prstGeom>
        </p:spPr>
      </p:pic>
    </p:spTree>
    <p:extLst>
      <p:ext uri="{BB962C8B-B14F-4D97-AF65-F5344CB8AC3E}">
        <p14:creationId xmlns:p14="http://schemas.microsoft.com/office/powerpoint/2010/main" val="8109215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a:extLst>
              <a:ext uri="{FF2B5EF4-FFF2-40B4-BE49-F238E27FC236}">
                <a16:creationId xmlns:a16="http://schemas.microsoft.com/office/drawing/2014/main" id="{7298F338-BF45-D446-A7EB-9738B9AF0B49}"/>
              </a:ext>
            </a:extLst>
          </p:cNvPr>
          <p:cNvSpPr/>
          <p:nvPr/>
        </p:nvSpPr>
        <p:spPr>
          <a:xfrm>
            <a:off x="0" y="6671732"/>
            <a:ext cx="3069166" cy="186267"/>
          </a:xfrm>
          <a:prstGeom prst="rect">
            <a:avLst/>
          </a:prstGeom>
          <a:solidFill>
            <a:srgbClr val="8B30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t>Luo Zhou et al.</a:t>
            </a:r>
            <a:endParaRPr kumimoji="1" lang="zh-CN" altLang="en-US" sz="1200" dirty="0"/>
          </a:p>
        </p:txBody>
      </p:sp>
      <p:sp>
        <p:nvSpPr>
          <p:cNvPr id="13" name="矩形 12">
            <a:extLst>
              <a:ext uri="{FF2B5EF4-FFF2-40B4-BE49-F238E27FC236}">
                <a16:creationId xmlns:a16="http://schemas.microsoft.com/office/drawing/2014/main" id="{F34D8F6A-E87C-8145-BE0C-C609627D4B7C}"/>
              </a:ext>
            </a:extLst>
          </p:cNvPr>
          <p:cNvSpPr/>
          <p:nvPr/>
        </p:nvSpPr>
        <p:spPr>
          <a:xfrm>
            <a:off x="3069166" y="6671732"/>
            <a:ext cx="3005666" cy="186268"/>
          </a:xfrm>
          <a:prstGeom prst="rect">
            <a:avLst/>
          </a:prstGeom>
          <a:solidFill>
            <a:srgbClr val="9141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t>Donghua University</a:t>
            </a:r>
            <a:endParaRPr kumimoji="1" lang="zh-CN" altLang="en-US" sz="1200" dirty="0"/>
          </a:p>
        </p:txBody>
      </p:sp>
      <p:sp>
        <p:nvSpPr>
          <p:cNvPr id="15" name="矩形 14">
            <a:extLst>
              <a:ext uri="{FF2B5EF4-FFF2-40B4-BE49-F238E27FC236}">
                <a16:creationId xmlns:a16="http://schemas.microsoft.com/office/drawing/2014/main" id="{56D33D00-85D6-064B-A329-4FA724561018}"/>
              </a:ext>
            </a:extLst>
          </p:cNvPr>
          <p:cNvSpPr/>
          <p:nvPr/>
        </p:nvSpPr>
        <p:spPr>
          <a:xfrm>
            <a:off x="6074832" y="6671731"/>
            <a:ext cx="2374901" cy="186268"/>
          </a:xfrm>
          <a:prstGeom prst="rect">
            <a:avLst/>
          </a:prstGeom>
          <a:solidFill>
            <a:srgbClr val="9C53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t>2025.07.21</a:t>
            </a:r>
            <a:endParaRPr kumimoji="1" lang="zh-CN" altLang="en-US" sz="1200" dirty="0"/>
          </a:p>
        </p:txBody>
      </p:sp>
      <p:sp>
        <p:nvSpPr>
          <p:cNvPr id="16" name="矩形 15">
            <a:extLst>
              <a:ext uri="{FF2B5EF4-FFF2-40B4-BE49-F238E27FC236}">
                <a16:creationId xmlns:a16="http://schemas.microsoft.com/office/drawing/2014/main" id="{86551296-CD29-084E-9713-D38000C31A77}"/>
              </a:ext>
            </a:extLst>
          </p:cNvPr>
          <p:cNvSpPr/>
          <p:nvPr/>
        </p:nvSpPr>
        <p:spPr>
          <a:xfrm>
            <a:off x="8106833" y="6671730"/>
            <a:ext cx="1037167" cy="186270"/>
          </a:xfrm>
          <a:prstGeom prst="rect">
            <a:avLst/>
          </a:prstGeom>
          <a:solidFill>
            <a:srgbClr val="9D53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t>23/35</a:t>
            </a:r>
            <a:endParaRPr kumimoji="1" lang="zh-CN" altLang="en-US" sz="1200" dirty="0"/>
          </a:p>
        </p:txBody>
      </p:sp>
      <p:sp>
        <p:nvSpPr>
          <p:cNvPr id="17" name="矩形 16">
            <a:extLst>
              <a:ext uri="{FF2B5EF4-FFF2-40B4-BE49-F238E27FC236}">
                <a16:creationId xmlns:a16="http://schemas.microsoft.com/office/drawing/2014/main" id="{0F2AD24E-A2C3-5A4C-A301-782D4B6FB186}"/>
              </a:ext>
            </a:extLst>
          </p:cNvPr>
          <p:cNvSpPr/>
          <p:nvPr/>
        </p:nvSpPr>
        <p:spPr>
          <a:xfrm>
            <a:off x="0" y="246919"/>
            <a:ext cx="9143996" cy="48121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zh-CN" sz="2400" dirty="0">
                <a:solidFill>
                  <a:srgbClr val="8B302D"/>
                </a:solidFill>
                <a:latin typeface="+mj-lt"/>
                <a:ea typeface="PingFang SC" panose="020B0400000000000000" pitchFamily="34" charset="-122"/>
                <a:cs typeface="Arial" panose="020B0604020202020204" pitchFamily="34" charset="0"/>
              </a:rPr>
              <a:t>   Feature Visualization: t-SNE Analysis</a:t>
            </a:r>
            <a:endParaRPr kumimoji="1" lang="zh-CN" altLang="en-US" dirty="0">
              <a:solidFill>
                <a:srgbClr val="8B302D"/>
              </a:solidFill>
              <a:latin typeface="+mj-lt"/>
              <a:ea typeface="PingFang SC" panose="020B0400000000000000" pitchFamily="34" charset="-122"/>
              <a:cs typeface="Arial" panose="020B0604020202020204" pitchFamily="34" charset="0"/>
            </a:endParaRPr>
          </a:p>
        </p:txBody>
      </p:sp>
      <p:pic>
        <p:nvPicPr>
          <p:cNvPr id="2" name="图片 1">
            <a:extLst>
              <a:ext uri="{FF2B5EF4-FFF2-40B4-BE49-F238E27FC236}">
                <a16:creationId xmlns:a16="http://schemas.microsoft.com/office/drawing/2014/main" id="{B9BA5FE1-467B-AE44-AC88-7AAF16EA8A21}"/>
              </a:ext>
            </a:extLst>
          </p:cNvPr>
          <p:cNvPicPr>
            <a:picLocks noChangeAspect="1"/>
          </p:cNvPicPr>
          <p:nvPr/>
        </p:nvPicPr>
        <p:blipFill>
          <a:blip r:embed="rId3"/>
          <a:stretch>
            <a:fillRect/>
          </a:stretch>
        </p:blipFill>
        <p:spPr>
          <a:xfrm>
            <a:off x="2099733" y="1192944"/>
            <a:ext cx="4631268" cy="2018549"/>
          </a:xfrm>
          <a:prstGeom prst="rect">
            <a:avLst/>
          </a:prstGeom>
        </p:spPr>
      </p:pic>
      <p:sp>
        <p:nvSpPr>
          <p:cNvPr id="3" name="文本框 2">
            <a:extLst>
              <a:ext uri="{FF2B5EF4-FFF2-40B4-BE49-F238E27FC236}">
                <a16:creationId xmlns:a16="http://schemas.microsoft.com/office/drawing/2014/main" id="{82984600-FD46-FA44-967B-0E569C45EF07}"/>
              </a:ext>
            </a:extLst>
          </p:cNvPr>
          <p:cNvSpPr txBox="1"/>
          <p:nvPr/>
        </p:nvSpPr>
        <p:spPr>
          <a:xfrm>
            <a:off x="2099733" y="3251997"/>
            <a:ext cx="4849284" cy="523220"/>
          </a:xfrm>
          <a:prstGeom prst="rect">
            <a:avLst/>
          </a:prstGeom>
          <a:noFill/>
        </p:spPr>
        <p:txBody>
          <a:bodyPr wrap="square" rtlCol="0">
            <a:spAutoFit/>
          </a:bodyPr>
          <a:lstStyle/>
          <a:p>
            <a:pPr algn="ctr"/>
            <a:r>
              <a:rPr kumimoji="1" lang="en-US" altLang="zh-CN" sz="1400" dirty="0">
                <a:solidFill>
                  <a:srgbClr val="0030F0"/>
                </a:solidFill>
              </a:rPr>
              <a:t>The</a:t>
            </a:r>
            <a:r>
              <a:rPr kumimoji="1" lang="zh-CN" altLang="en-US" sz="1400" dirty="0">
                <a:solidFill>
                  <a:srgbClr val="0030F0"/>
                </a:solidFill>
              </a:rPr>
              <a:t> </a:t>
            </a:r>
            <a:r>
              <a:rPr kumimoji="1" lang="en-US" altLang="zh-CN" sz="1400" dirty="0">
                <a:solidFill>
                  <a:srgbClr val="0030F0"/>
                </a:solidFill>
              </a:rPr>
              <a:t>visualization</a:t>
            </a:r>
            <a:r>
              <a:rPr kumimoji="1" lang="zh-CN" altLang="en-US" sz="1400" dirty="0">
                <a:solidFill>
                  <a:srgbClr val="0030F0"/>
                </a:solidFill>
              </a:rPr>
              <a:t> </a:t>
            </a:r>
            <a:r>
              <a:rPr kumimoji="1" lang="en-US" altLang="zh-CN" sz="1400" dirty="0">
                <a:solidFill>
                  <a:srgbClr val="0030F0"/>
                </a:solidFill>
              </a:rPr>
              <a:t>of</a:t>
            </a:r>
            <a:r>
              <a:rPr kumimoji="1" lang="zh-CN" altLang="en-US" sz="1400" dirty="0">
                <a:solidFill>
                  <a:srgbClr val="0030F0"/>
                </a:solidFill>
              </a:rPr>
              <a:t> </a:t>
            </a:r>
            <a:r>
              <a:rPr kumimoji="1" lang="en-US" altLang="zh-CN" sz="1400" dirty="0">
                <a:solidFill>
                  <a:srgbClr val="0030F0"/>
                </a:solidFill>
              </a:rPr>
              <a:t>features</a:t>
            </a:r>
            <a:r>
              <a:rPr kumimoji="1" lang="zh-CN" altLang="en-US" sz="1400" dirty="0">
                <a:solidFill>
                  <a:srgbClr val="0030F0"/>
                </a:solidFill>
              </a:rPr>
              <a:t> </a:t>
            </a:r>
            <a:r>
              <a:rPr kumimoji="1" lang="en-US" altLang="zh-CN" sz="1400" dirty="0">
                <a:solidFill>
                  <a:srgbClr val="0030F0"/>
                </a:solidFill>
              </a:rPr>
              <a:t>extracted</a:t>
            </a:r>
            <a:r>
              <a:rPr kumimoji="1" lang="zh-CN" altLang="en-US" sz="1400" dirty="0">
                <a:solidFill>
                  <a:srgbClr val="0030F0"/>
                </a:solidFill>
              </a:rPr>
              <a:t> </a:t>
            </a:r>
            <a:r>
              <a:rPr kumimoji="1" lang="en-US" altLang="zh-CN" sz="1400" dirty="0">
                <a:solidFill>
                  <a:srgbClr val="0030F0"/>
                </a:solidFill>
              </a:rPr>
              <a:t>by </a:t>
            </a:r>
          </a:p>
          <a:p>
            <a:pPr algn="ctr"/>
            <a:r>
              <a:rPr kumimoji="1" lang="en-US" altLang="zh-CN" sz="1400" dirty="0">
                <a:solidFill>
                  <a:srgbClr val="98272A"/>
                </a:solidFill>
              </a:rPr>
              <a:t>raw data </a:t>
            </a:r>
            <a:r>
              <a:rPr kumimoji="1" lang="en-US" altLang="zh-CN" sz="1400" dirty="0">
                <a:solidFill>
                  <a:srgbClr val="0030F0"/>
                </a:solidFill>
              </a:rPr>
              <a:t>(left) and </a:t>
            </a:r>
            <a:r>
              <a:rPr kumimoji="1" lang="en-US" altLang="zh-CN" sz="1400" dirty="0">
                <a:solidFill>
                  <a:srgbClr val="98272A"/>
                </a:solidFill>
              </a:rPr>
              <a:t>FC output </a:t>
            </a:r>
            <a:r>
              <a:rPr kumimoji="1" lang="en-US" altLang="zh-CN" sz="1400" dirty="0">
                <a:solidFill>
                  <a:srgbClr val="0030F0"/>
                </a:solidFill>
              </a:rPr>
              <a:t>from BaroAuth</a:t>
            </a:r>
            <a:endParaRPr kumimoji="1" lang="zh-CN" altLang="en-US" sz="1400" dirty="0">
              <a:solidFill>
                <a:srgbClr val="0030F0"/>
              </a:solidFill>
            </a:endParaRPr>
          </a:p>
        </p:txBody>
      </p:sp>
      <p:sp>
        <p:nvSpPr>
          <p:cNvPr id="4" name="文本框 3">
            <a:extLst>
              <a:ext uri="{FF2B5EF4-FFF2-40B4-BE49-F238E27FC236}">
                <a16:creationId xmlns:a16="http://schemas.microsoft.com/office/drawing/2014/main" id="{B44DB89C-3ECF-C748-89C0-E168832F7EF3}"/>
              </a:ext>
            </a:extLst>
          </p:cNvPr>
          <p:cNvSpPr txBox="1"/>
          <p:nvPr/>
        </p:nvSpPr>
        <p:spPr>
          <a:xfrm>
            <a:off x="1809545" y="4070980"/>
            <a:ext cx="1995418" cy="369332"/>
          </a:xfrm>
          <a:prstGeom prst="rect">
            <a:avLst/>
          </a:prstGeom>
          <a:noFill/>
        </p:spPr>
        <p:txBody>
          <a:bodyPr wrap="none" rtlCol="0">
            <a:spAutoFit/>
          </a:bodyPr>
          <a:lstStyle/>
          <a:p>
            <a:r>
              <a:rPr kumimoji="1" lang="en-US" altLang="zh-CN" dirty="0">
                <a:solidFill>
                  <a:srgbClr val="98272A"/>
                </a:solidFill>
              </a:rPr>
              <a:t>Raw Data Features:</a:t>
            </a:r>
            <a:endParaRPr kumimoji="1" lang="zh-CN" altLang="en-US" dirty="0">
              <a:solidFill>
                <a:srgbClr val="98272A"/>
              </a:solidFill>
            </a:endParaRPr>
          </a:p>
        </p:txBody>
      </p:sp>
      <p:sp>
        <p:nvSpPr>
          <p:cNvPr id="14" name="文本框 13">
            <a:extLst>
              <a:ext uri="{FF2B5EF4-FFF2-40B4-BE49-F238E27FC236}">
                <a16:creationId xmlns:a16="http://schemas.microsoft.com/office/drawing/2014/main" id="{8C822FC2-C3CC-B84E-A280-7271BE972961}"/>
              </a:ext>
            </a:extLst>
          </p:cNvPr>
          <p:cNvSpPr txBox="1"/>
          <p:nvPr/>
        </p:nvSpPr>
        <p:spPr>
          <a:xfrm>
            <a:off x="5167260" y="4084319"/>
            <a:ext cx="1992212" cy="369332"/>
          </a:xfrm>
          <a:prstGeom prst="rect">
            <a:avLst/>
          </a:prstGeom>
          <a:noFill/>
        </p:spPr>
        <p:txBody>
          <a:bodyPr wrap="none" rtlCol="0">
            <a:spAutoFit/>
          </a:bodyPr>
          <a:lstStyle/>
          <a:p>
            <a:r>
              <a:rPr kumimoji="1" lang="en-US" altLang="zh-CN" dirty="0">
                <a:solidFill>
                  <a:srgbClr val="98272A"/>
                </a:solidFill>
              </a:rPr>
              <a:t>Extracted Features:</a:t>
            </a:r>
            <a:endParaRPr kumimoji="1" lang="zh-CN" altLang="en-US" dirty="0">
              <a:solidFill>
                <a:srgbClr val="98272A"/>
              </a:solidFill>
            </a:endParaRPr>
          </a:p>
        </p:txBody>
      </p:sp>
      <p:sp>
        <p:nvSpPr>
          <p:cNvPr id="5" name="文本框 4">
            <a:extLst>
              <a:ext uri="{FF2B5EF4-FFF2-40B4-BE49-F238E27FC236}">
                <a16:creationId xmlns:a16="http://schemas.microsoft.com/office/drawing/2014/main" id="{98866594-997F-0C4C-A90C-CF42D956F77D}"/>
              </a:ext>
            </a:extLst>
          </p:cNvPr>
          <p:cNvSpPr txBox="1"/>
          <p:nvPr/>
        </p:nvSpPr>
        <p:spPr>
          <a:xfrm>
            <a:off x="1809545" y="4453651"/>
            <a:ext cx="2167196" cy="1162113"/>
          </a:xfrm>
          <a:prstGeom prst="rect">
            <a:avLst/>
          </a:prstGeom>
          <a:noFill/>
        </p:spPr>
        <p:txBody>
          <a:bodyPr wrap="none" rtlCol="0">
            <a:spAutoFit/>
          </a:bodyPr>
          <a:lstStyle/>
          <a:p>
            <a:pPr marL="285750" indent="-285750">
              <a:lnSpc>
                <a:spcPct val="150000"/>
              </a:lnSpc>
              <a:buFont typeface="Arial" panose="020B0604020202020204" pitchFamily="34" charset="0"/>
              <a:buChar char="•"/>
            </a:pPr>
            <a:r>
              <a:rPr kumimoji="1" lang="en-US" altLang="zh-CN" sz="1600" dirty="0"/>
              <a:t>Mixed user patterns</a:t>
            </a:r>
          </a:p>
          <a:p>
            <a:pPr marL="285750" indent="-285750">
              <a:lnSpc>
                <a:spcPct val="150000"/>
              </a:lnSpc>
              <a:buFont typeface="Arial" panose="020B0604020202020204" pitchFamily="34" charset="0"/>
              <a:buChar char="•"/>
            </a:pPr>
            <a:r>
              <a:rPr kumimoji="1" lang="en-US" altLang="zh-CN" sz="1600" dirty="0"/>
              <a:t>Poor separability</a:t>
            </a:r>
          </a:p>
          <a:p>
            <a:pPr marL="285750" indent="-285750">
              <a:lnSpc>
                <a:spcPct val="150000"/>
              </a:lnSpc>
              <a:buFont typeface="Arial" panose="020B0604020202020204" pitchFamily="34" charset="0"/>
              <a:buChar char="•"/>
            </a:pPr>
            <a:r>
              <a:rPr kumimoji="1" lang="en-US" altLang="zh-CN" sz="1600" dirty="0"/>
              <a:t>Overlapping clusters</a:t>
            </a:r>
            <a:endParaRPr kumimoji="1" lang="zh-CN" altLang="en-US" sz="1600" dirty="0"/>
          </a:p>
        </p:txBody>
      </p:sp>
      <p:sp>
        <p:nvSpPr>
          <p:cNvPr id="20" name="文本框 19">
            <a:extLst>
              <a:ext uri="{FF2B5EF4-FFF2-40B4-BE49-F238E27FC236}">
                <a16:creationId xmlns:a16="http://schemas.microsoft.com/office/drawing/2014/main" id="{6B4CCDAE-C35C-004D-AB56-A6FA18420F42}"/>
              </a:ext>
            </a:extLst>
          </p:cNvPr>
          <p:cNvSpPr txBox="1"/>
          <p:nvPr/>
        </p:nvSpPr>
        <p:spPr>
          <a:xfrm>
            <a:off x="5167260" y="4466991"/>
            <a:ext cx="2225738" cy="1162113"/>
          </a:xfrm>
          <a:prstGeom prst="rect">
            <a:avLst/>
          </a:prstGeom>
          <a:noFill/>
        </p:spPr>
        <p:txBody>
          <a:bodyPr wrap="none" rtlCol="0">
            <a:spAutoFit/>
          </a:bodyPr>
          <a:lstStyle/>
          <a:p>
            <a:pPr marL="285750" indent="-285750">
              <a:lnSpc>
                <a:spcPct val="150000"/>
              </a:lnSpc>
              <a:buFont typeface="Arial" panose="020B0604020202020204" pitchFamily="34" charset="0"/>
              <a:buChar char="•"/>
            </a:pPr>
            <a:r>
              <a:rPr kumimoji="1" lang="en-US" altLang="zh-CN" sz="1600" dirty="0"/>
              <a:t>Clear user clusters</a:t>
            </a:r>
          </a:p>
          <a:p>
            <a:pPr marL="285750" indent="-285750">
              <a:lnSpc>
                <a:spcPct val="150000"/>
              </a:lnSpc>
              <a:buFont typeface="Arial" panose="020B0604020202020204" pitchFamily="34" charset="0"/>
              <a:buChar char="•"/>
            </a:pPr>
            <a:r>
              <a:rPr kumimoji="1" lang="en-US" altLang="zh-CN" sz="1600" dirty="0"/>
              <a:t>Excellent separability</a:t>
            </a:r>
          </a:p>
          <a:p>
            <a:pPr marL="285750" indent="-285750">
              <a:lnSpc>
                <a:spcPct val="150000"/>
              </a:lnSpc>
              <a:buFont typeface="Arial" panose="020B0604020202020204" pitchFamily="34" charset="0"/>
              <a:buChar char="•"/>
            </a:pPr>
            <a:r>
              <a:rPr kumimoji="1" lang="en-US" altLang="zh-CN" sz="1600" dirty="0"/>
              <a:t>Distinct boundaries</a:t>
            </a:r>
            <a:endParaRPr kumimoji="1" lang="zh-CN" altLang="en-US" sz="1600" dirty="0"/>
          </a:p>
        </p:txBody>
      </p:sp>
      <p:sp>
        <p:nvSpPr>
          <p:cNvPr id="6" name="文本框 5">
            <a:extLst>
              <a:ext uri="{FF2B5EF4-FFF2-40B4-BE49-F238E27FC236}">
                <a16:creationId xmlns:a16="http://schemas.microsoft.com/office/drawing/2014/main" id="{58A7C703-9921-AF45-9CF9-BA26EC5B345C}"/>
              </a:ext>
            </a:extLst>
          </p:cNvPr>
          <p:cNvSpPr txBox="1"/>
          <p:nvPr/>
        </p:nvSpPr>
        <p:spPr>
          <a:xfrm>
            <a:off x="4275698" y="4005326"/>
            <a:ext cx="592598" cy="461665"/>
          </a:xfrm>
          <a:prstGeom prst="rect">
            <a:avLst/>
          </a:prstGeom>
          <a:noFill/>
        </p:spPr>
        <p:txBody>
          <a:bodyPr wrap="none" rtlCol="0">
            <a:spAutoFit/>
          </a:bodyPr>
          <a:lstStyle/>
          <a:p>
            <a:r>
              <a:rPr kumimoji="1" lang="en-US" altLang="zh-CN" sz="2400" dirty="0"/>
              <a:t>VS.</a:t>
            </a:r>
            <a:endParaRPr kumimoji="1" lang="zh-CN" altLang="en-US" sz="2400" dirty="0"/>
          </a:p>
        </p:txBody>
      </p:sp>
      <p:sp>
        <p:nvSpPr>
          <p:cNvPr id="21" name="矩形 20">
            <a:extLst>
              <a:ext uri="{FF2B5EF4-FFF2-40B4-BE49-F238E27FC236}">
                <a16:creationId xmlns:a16="http://schemas.microsoft.com/office/drawing/2014/main" id="{D81A9193-AABB-C64C-A634-BC16645E2371}"/>
              </a:ext>
            </a:extLst>
          </p:cNvPr>
          <p:cNvSpPr/>
          <p:nvPr/>
        </p:nvSpPr>
        <p:spPr>
          <a:xfrm>
            <a:off x="0" y="0"/>
            <a:ext cx="9143996" cy="246920"/>
          </a:xfrm>
          <a:prstGeom prst="rect">
            <a:avLst/>
          </a:prstGeom>
          <a:solidFill>
            <a:srgbClr val="8B30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t>Design</a:t>
            </a:r>
            <a:r>
              <a:rPr kumimoji="1" lang="zh-CN" altLang="en-US" sz="1200" dirty="0"/>
              <a:t> </a:t>
            </a:r>
            <a:r>
              <a:rPr kumimoji="1" lang="en-US" altLang="zh-CN" sz="1200" dirty="0"/>
              <a:t>of BaroAuth</a:t>
            </a:r>
            <a:endParaRPr kumimoji="1" lang="zh-CN" altLang="en-US" sz="1200" dirty="0"/>
          </a:p>
        </p:txBody>
      </p:sp>
    </p:spTree>
    <p:extLst>
      <p:ext uri="{BB962C8B-B14F-4D97-AF65-F5344CB8AC3E}">
        <p14:creationId xmlns:p14="http://schemas.microsoft.com/office/powerpoint/2010/main" val="325204593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圆角矩形 9">
            <a:extLst>
              <a:ext uri="{FF2B5EF4-FFF2-40B4-BE49-F238E27FC236}">
                <a16:creationId xmlns:a16="http://schemas.microsoft.com/office/drawing/2014/main" id="{2DA8A703-3A5D-954E-97F2-8118418F5066}"/>
              </a:ext>
            </a:extLst>
          </p:cNvPr>
          <p:cNvSpPr/>
          <p:nvPr/>
        </p:nvSpPr>
        <p:spPr>
          <a:xfrm>
            <a:off x="1037165" y="2582333"/>
            <a:ext cx="7069667" cy="846667"/>
          </a:xfrm>
          <a:prstGeom prst="roundRect">
            <a:avLst/>
          </a:prstGeom>
          <a:solidFill>
            <a:srgbClr val="8B30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3200" dirty="0">
                <a:latin typeface="+mj-lt"/>
              </a:rPr>
              <a:t>Evaluation</a:t>
            </a:r>
            <a:endParaRPr kumimoji="1" lang="zh-CN" altLang="en-US" sz="3200" dirty="0">
              <a:latin typeface="+mj-lt"/>
            </a:endParaRPr>
          </a:p>
        </p:txBody>
      </p:sp>
      <p:sp>
        <p:nvSpPr>
          <p:cNvPr id="12" name="矩形 11">
            <a:extLst>
              <a:ext uri="{FF2B5EF4-FFF2-40B4-BE49-F238E27FC236}">
                <a16:creationId xmlns:a16="http://schemas.microsoft.com/office/drawing/2014/main" id="{7298F338-BF45-D446-A7EB-9738B9AF0B49}"/>
              </a:ext>
            </a:extLst>
          </p:cNvPr>
          <p:cNvSpPr/>
          <p:nvPr/>
        </p:nvSpPr>
        <p:spPr>
          <a:xfrm>
            <a:off x="0" y="6671732"/>
            <a:ext cx="3069166" cy="186267"/>
          </a:xfrm>
          <a:prstGeom prst="rect">
            <a:avLst/>
          </a:prstGeom>
          <a:solidFill>
            <a:srgbClr val="8B30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t>Luo Zhou et al.</a:t>
            </a:r>
            <a:endParaRPr kumimoji="1" lang="zh-CN" altLang="en-US" sz="1200" dirty="0"/>
          </a:p>
        </p:txBody>
      </p:sp>
      <p:sp>
        <p:nvSpPr>
          <p:cNvPr id="13" name="矩形 12">
            <a:extLst>
              <a:ext uri="{FF2B5EF4-FFF2-40B4-BE49-F238E27FC236}">
                <a16:creationId xmlns:a16="http://schemas.microsoft.com/office/drawing/2014/main" id="{F34D8F6A-E87C-8145-BE0C-C609627D4B7C}"/>
              </a:ext>
            </a:extLst>
          </p:cNvPr>
          <p:cNvSpPr/>
          <p:nvPr/>
        </p:nvSpPr>
        <p:spPr>
          <a:xfrm>
            <a:off x="3069166" y="6671732"/>
            <a:ext cx="3005666" cy="186268"/>
          </a:xfrm>
          <a:prstGeom prst="rect">
            <a:avLst/>
          </a:prstGeom>
          <a:solidFill>
            <a:srgbClr val="9141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t>Donghua University</a:t>
            </a:r>
            <a:endParaRPr kumimoji="1" lang="zh-CN" altLang="en-US" sz="1200" dirty="0"/>
          </a:p>
        </p:txBody>
      </p:sp>
      <p:sp>
        <p:nvSpPr>
          <p:cNvPr id="15" name="矩形 14">
            <a:extLst>
              <a:ext uri="{FF2B5EF4-FFF2-40B4-BE49-F238E27FC236}">
                <a16:creationId xmlns:a16="http://schemas.microsoft.com/office/drawing/2014/main" id="{56D33D00-85D6-064B-A329-4FA724561018}"/>
              </a:ext>
            </a:extLst>
          </p:cNvPr>
          <p:cNvSpPr/>
          <p:nvPr/>
        </p:nvSpPr>
        <p:spPr>
          <a:xfrm>
            <a:off x="6074832" y="6671731"/>
            <a:ext cx="2374901" cy="186268"/>
          </a:xfrm>
          <a:prstGeom prst="rect">
            <a:avLst/>
          </a:prstGeom>
          <a:solidFill>
            <a:srgbClr val="9C53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t>2025.07.21</a:t>
            </a:r>
            <a:endParaRPr kumimoji="1" lang="zh-CN" altLang="en-US" sz="1200" dirty="0"/>
          </a:p>
        </p:txBody>
      </p:sp>
      <p:sp>
        <p:nvSpPr>
          <p:cNvPr id="16" name="矩形 15">
            <a:extLst>
              <a:ext uri="{FF2B5EF4-FFF2-40B4-BE49-F238E27FC236}">
                <a16:creationId xmlns:a16="http://schemas.microsoft.com/office/drawing/2014/main" id="{86551296-CD29-084E-9713-D38000C31A77}"/>
              </a:ext>
            </a:extLst>
          </p:cNvPr>
          <p:cNvSpPr/>
          <p:nvPr/>
        </p:nvSpPr>
        <p:spPr>
          <a:xfrm>
            <a:off x="8106833" y="6671730"/>
            <a:ext cx="1037167" cy="186270"/>
          </a:xfrm>
          <a:prstGeom prst="rect">
            <a:avLst/>
          </a:prstGeom>
          <a:solidFill>
            <a:srgbClr val="9D53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t>24/35</a:t>
            </a:r>
            <a:endParaRPr kumimoji="1" lang="zh-CN" altLang="en-US" sz="1200" dirty="0"/>
          </a:p>
        </p:txBody>
      </p:sp>
      <p:sp>
        <p:nvSpPr>
          <p:cNvPr id="11" name="椭圆 10">
            <a:extLst>
              <a:ext uri="{FF2B5EF4-FFF2-40B4-BE49-F238E27FC236}">
                <a16:creationId xmlns:a16="http://schemas.microsoft.com/office/drawing/2014/main" id="{82DF6293-69C1-5247-95C6-CEF299043A2F}"/>
              </a:ext>
            </a:extLst>
          </p:cNvPr>
          <p:cNvSpPr/>
          <p:nvPr/>
        </p:nvSpPr>
        <p:spPr>
          <a:xfrm>
            <a:off x="3175001" y="2829982"/>
            <a:ext cx="351367" cy="351367"/>
          </a:xfrm>
          <a:prstGeom prst="ellipse">
            <a:avLst/>
          </a:prstGeom>
          <a:solidFill>
            <a:srgbClr val="0030F0"/>
          </a:solidFill>
          <a:ln>
            <a:no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t>6</a:t>
            </a:r>
            <a:endParaRPr kumimoji="1" lang="zh-CN" altLang="en-US" dirty="0"/>
          </a:p>
        </p:txBody>
      </p:sp>
      <p:sp>
        <p:nvSpPr>
          <p:cNvPr id="14" name="矩形 13">
            <a:extLst>
              <a:ext uri="{FF2B5EF4-FFF2-40B4-BE49-F238E27FC236}">
                <a16:creationId xmlns:a16="http://schemas.microsoft.com/office/drawing/2014/main" id="{526F312F-ADCA-6849-804A-C6FC12D6E6FD}"/>
              </a:ext>
            </a:extLst>
          </p:cNvPr>
          <p:cNvSpPr/>
          <p:nvPr/>
        </p:nvSpPr>
        <p:spPr>
          <a:xfrm>
            <a:off x="0" y="0"/>
            <a:ext cx="9143996" cy="246920"/>
          </a:xfrm>
          <a:prstGeom prst="rect">
            <a:avLst/>
          </a:prstGeom>
          <a:solidFill>
            <a:srgbClr val="8B30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200" dirty="0"/>
          </a:p>
        </p:txBody>
      </p:sp>
    </p:spTree>
    <p:extLst>
      <p:ext uri="{BB962C8B-B14F-4D97-AF65-F5344CB8AC3E}">
        <p14:creationId xmlns:p14="http://schemas.microsoft.com/office/powerpoint/2010/main" val="91684176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a:extLst>
              <a:ext uri="{FF2B5EF4-FFF2-40B4-BE49-F238E27FC236}">
                <a16:creationId xmlns:a16="http://schemas.microsoft.com/office/drawing/2014/main" id="{7298F338-BF45-D446-A7EB-9738B9AF0B49}"/>
              </a:ext>
            </a:extLst>
          </p:cNvPr>
          <p:cNvSpPr/>
          <p:nvPr/>
        </p:nvSpPr>
        <p:spPr>
          <a:xfrm>
            <a:off x="0" y="6671732"/>
            <a:ext cx="3069166" cy="186267"/>
          </a:xfrm>
          <a:prstGeom prst="rect">
            <a:avLst/>
          </a:prstGeom>
          <a:solidFill>
            <a:srgbClr val="8B30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t>Luo Zhou et al.</a:t>
            </a:r>
            <a:endParaRPr kumimoji="1" lang="zh-CN" altLang="en-US" sz="1200" dirty="0"/>
          </a:p>
        </p:txBody>
      </p:sp>
      <p:sp>
        <p:nvSpPr>
          <p:cNvPr id="13" name="矩形 12">
            <a:extLst>
              <a:ext uri="{FF2B5EF4-FFF2-40B4-BE49-F238E27FC236}">
                <a16:creationId xmlns:a16="http://schemas.microsoft.com/office/drawing/2014/main" id="{F34D8F6A-E87C-8145-BE0C-C609627D4B7C}"/>
              </a:ext>
            </a:extLst>
          </p:cNvPr>
          <p:cNvSpPr/>
          <p:nvPr/>
        </p:nvSpPr>
        <p:spPr>
          <a:xfrm>
            <a:off x="3069166" y="6671732"/>
            <a:ext cx="3005666" cy="186268"/>
          </a:xfrm>
          <a:prstGeom prst="rect">
            <a:avLst/>
          </a:prstGeom>
          <a:solidFill>
            <a:srgbClr val="9141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t>Donghua University</a:t>
            </a:r>
            <a:endParaRPr kumimoji="1" lang="zh-CN" altLang="en-US" sz="1200" dirty="0"/>
          </a:p>
        </p:txBody>
      </p:sp>
      <p:sp>
        <p:nvSpPr>
          <p:cNvPr id="15" name="矩形 14">
            <a:extLst>
              <a:ext uri="{FF2B5EF4-FFF2-40B4-BE49-F238E27FC236}">
                <a16:creationId xmlns:a16="http://schemas.microsoft.com/office/drawing/2014/main" id="{56D33D00-85D6-064B-A329-4FA724561018}"/>
              </a:ext>
            </a:extLst>
          </p:cNvPr>
          <p:cNvSpPr/>
          <p:nvPr/>
        </p:nvSpPr>
        <p:spPr>
          <a:xfrm>
            <a:off x="6074832" y="6671731"/>
            <a:ext cx="2374901" cy="186268"/>
          </a:xfrm>
          <a:prstGeom prst="rect">
            <a:avLst/>
          </a:prstGeom>
          <a:solidFill>
            <a:srgbClr val="9C53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t>2025.07.21</a:t>
            </a:r>
            <a:endParaRPr kumimoji="1" lang="zh-CN" altLang="en-US" sz="1200" dirty="0"/>
          </a:p>
        </p:txBody>
      </p:sp>
      <p:sp>
        <p:nvSpPr>
          <p:cNvPr id="16" name="矩形 15">
            <a:extLst>
              <a:ext uri="{FF2B5EF4-FFF2-40B4-BE49-F238E27FC236}">
                <a16:creationId xmlns:a16="http://schemas.microsoft.com/office/drawing/2014/main" id="{86551296-CD29-084E-9713-D38000C31A77}"/>
              </a:ext>
            </a:extLst>
          </p:cNvPr>
          <p:cNvSpPr/>
          <p:nvPr/>
        </p:nvSpPr>
        <p:spPr>
          <a:xfrm>
            <a:off x="8106833" y="6671730"/>
            <a:ext cx="1037167" cy="186270"/>
          </a:xfrm>
          <a:prstGeom prst="rect">
            <a:avLst/>
          </a:prstGeom>
          <a:solidFill>
            <a:srgbClr val="9D53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t>25/57</a:t>
            </a:r>
            <a:endParaRPr kumimoji="1" lang="zh-CN" altLang="en-US" sz="1200" dirty="0"/>
          </a:p>
        </p:txBody>
      </p:sp>
      <p:sp>
        <p:nvSpPr>
          <p:cNvPr id="18" name="矩形 17">
            <a:extLst>
              <a:ext uri="{FF2B5EF4-FFF2-40B4-BE49-F238E27FC236}">
                <a16:creationId xmlns:a16="http://schemas.microsoft.com/office/drawing/2014/main" id="{0C7C7718-50BC-064C-A6C9-83D2313EAFC4}"/>
              </a:ext>
            </a:extLst>
          </p:cNvPr>
          <p:cNvSpPr/>
          <p:nvPr/>
        </p:nvSpPr>
        <p:spPr>
          <a:xfrm>
            <a:off x="-1" y="0"/>
            <a:ext cx="9143995" cy="246920"/>
          </a:xfrm>
          <a:prstGeom prst="rect">
            <a:avLst/>
          </a:prstGeom>
          <a:solidFill>
            <a:srgbClr val="8B30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t>Evaluation</a:t>
            </a:r>
            <a:endParaRPr kumimoji="1" lang="zh-CN" altLang="en-US" sz="1200" dirty="0"/>
          </a:p>
        </p:txBody>
      </p:sp>
      <p:sp>
        <p:nvSpPr>
          <p:cNvPr id="14" name="矩形 13">
            <a:extLst>
              <a:ext uri="{FF2B5EF4-FFF2-40B4-BE49-F238E27FC236}">
                <a16:creationId xmlns:a16="http://schemas.microsoft.com/office/drawing/2014/main" id="{EC29A3A0-D278-9643-92A6-9AF9D5653ADF}"/>
              </a:ext>
            </a:extLst>
          </p:cNvPr>
          <p:cNvSpPr/>
          <p:nvPr/>
        </p:nvSpPr>
        <p:spPr>
          <a:xfrm>
            <a:off x="0" y="246919"/>
            <a:ext cx="9143996" cy="48121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zh-CN" sz="2400" dirty="0">
                <a:solidFill>
                  <a:srgbClr val="8B302D"/>
                </a:solidFill>
                <a:latin typeface="+mj-lt"/>
                <a:ea typeface="PingFang SC" panose="020B0400000000000000" pitchFamily="34" charset="-122"/>
                <a:cs typeface="Arial" panose="020B0604020202020204" pitchFamily="34" charset="0"/>
              </a:rPr>
              <a:t>   Comprehensive</a:t>
            </a:r>
            <a:r>
              <a:rPr kumimoji="1" lang="zh-CN" altLang="en-US" sz="2400" dirty="0">
                <a:solidFill>
                  <a:srgbClr val="8B302D"/>
                </a:solidFill>
                <a:latin typeface="+mj-lt"/>
                <a:ea typeface="PingFang SC" panose="020B0400000000000000" pitchFamily="34" charset="-122"/>
                <a:cs typeface="Arial" panose="020B0604020202020204" pitchFamily="34" charset="0"/>
              </a:rPr>
              <a:t> </a:t>
            </a:r>
            <a:r>
              <a:rPr kumimoji="1" lang="en-US" altLang="zh-CN" sz="2400" dirty="0">
                <a:solidFill>
                  <a:srgbClr val="8B302D"/>
                </a:solidFill>
                <a:latin typeface="+mj-lt"/>
                <a:ea typeface="PingFang SC" panose="020B0400000000000000" pitchFamily="34" charset="-122"/>
                <a:cs typeface="Arial" panose="020B0604020202020204" pitchFamily="34" charset="0"/>
              </a:rPr>
              <a:t>Experimental Evaluation</a:t>
            </a:r>
            <a:endParaRPr kumimoji="1" lang="zh-CN" altLang="en-US" dirty="0">
              <a:solidFill>
                <a:srgbClr val="8B302D"/>
              </a:solidFill>
              <a:latin typeface="+mj-lt"/>
              <a:ea typeface="PingFang SC" panose="020B0400000000000000" pitchFamily="34" charset="-122"/>
              <a:cs typeface="Arial" panose="020B0604020202020204" pitchFamily="34" charset="0"/>
            </a:endParaRPr>
          </a:p>
        </p:txBody>
      </p:sp>
      <p:pic>
        <p:nvPicPr>
          <p:cNvPr id="17" name="图片 16">
            <a:extLst>
              <a:ext uri="{FF2B5EF4-FFF2-40B4-BE49-F238E27FC236}">
                <a16:creationId xmlns:a16="http://schemas.microsoft.com/office/drawing/2014/main" id="{C631E3DF-48E3-BF4B-95CF-B19B13DBB4D6}"/>
              </a:ext>
            </a:extLst>
          </p:cNvPr>
          <p:cNvPicPr>
            <a:picLocks noChangeAspect="1"/>
          </p:cNvPicPr>
          <p:nvPr/>
        </p:nvPicPr>
        <p:blipFill>
          <a:blip r:embed="rId3"/>
          <a:stretch>
            <a:fillRect/>
          </a:stretch>
        </p:blipFill>
        <p:spPr>
          <a:xfrm>
            <a:off x="688258" y="1180636"/>
            <a:ext cx="8209935" cy="4496728"/>
          </a:xfrm>
          <a:prstGeom prst="rect">
            <a:avLst/>
          </a:prstGeom>
        </p:spPr>
      </p:pic>
    </p:spTree>
    <p:extLst>
      <p:ext uri="{BB962C8B-B14F-4D97-AF65-F5344CB8AC3E}">
        <p14:creationId xmlns:p14="http://schemas.microsoft.com/office/powerpoint/2010/main" val="392570302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a:extLst>
              <a:ext uri="{FF2B5EF4-FFF2-40B4-BE49-F238E27FC236}">
                <a16:creationId xmlns:a16="http://schemas.microsoft.com/office/drawing/2014/main" id="{7298F338-BF45-D446-A7EB-9738B9AF0B49}"/>
              </a:ext>
            </a:extLst>
          </p:cNvPr>
          <p:cNvSpPr/>
          <p:nvPr/>
        </p:nvSpPr>
        <p:spPr>
          <a:xfrm>
            <a:off x="0" y="6671732"/>
            <a:ext cx="3069166" cy="186267"/>
          </a:xfrm>
          <a:prstGeom prst="rect">
            <a:avLst/>
          </a:prstGeom>
          <a:solidFill>
            <a:srgbClr val="8B30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t>Luo Zhou et al.</a:t>
            </a:r>
            <a:endParaRPr kumimoji="1" lang="zh-CN" altLang="en-US" sz="1200" dirty="0"/>
          </a:p>
        </p:txBody>
      </p:sp>
      <p:sp>
        <p:nvSpPr>
          <p:cNvPr id="13" name="矩形 12">
            <a:extLst>
              <a:ext uri="{FF2B5EF4-FFF2-40B4-BE49-F238E27FC236}">
                <a16:creationId xmlns:a16="http://schemas.microsoft.com/office/drawing/2014/main" id="{F34D8F6A-E87C-8145-BE0C-C609627D4B7C}"/>
              </a:ext>
            </a:extLst>
          </p:cNvPr>
          <p:cNvSpPr/>
          <p:nvPr/>
        </p:nvSpPr>
        <p:spPr>
          <a:xfrm>
            <a:off x="3069166" y="6671732"/>
            <a:ext cx="3005666" cy="186268"/>
          </a:xfrm>
          <a:prstGeom prst="rect">
            <a:avLst/>
          </a:prstGeom>
          <a:solidFill>
            <a:srgbClr val="9141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t>Donghua University</a:t>
            </a:r>
            <a:endParaRPr kumimoji="1" lang="zh-CN" altLang="en-US" sz="1200" dirty="0"/>
          </a:p>
        </p:txBody>
      </p:sp>
      <p:sp>
        <p:nvSpPr>
          <p:cNvPr id="15" name="矩形 14">
            <a:extLst>
              <a:ext uri="{FF2B5EF4-FFF2-40B4-BE49-F238E27FC236}">
                <a16:creationId xmlns:a16="http://schemas.microsoft.com/office/drawing/2014/main" id="{56D33D00-85D6-064B-A329-4FA724561018}"/>
              </a:ext>
            </a:extLst>
          </p:cNvPr>
          <p:cNvSpPr/>
          <p:nvPr/>
        </p:nvSpPr>
        <p:spPr>
          <a:xfrm>
            <a:off x="6074832" y="6671731"/>
            <a:ext cx="2374901" cy="186268"/>
          </a:xfrm>
          <a:prstGeom prst="rect">
            <a:avLst/>
          </a:prstGeom>
          <a:solidFill>
            <a:srgbClr val="9C53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t>2025.07.21</a:t>
            </a:r>
            <a:endParaRPr kumimoji="1" lang="zh-CN" altLang="en-US" sz="1200" dirty="0"/>
          </a:p>
        </p:txBody>
      </p:sp>
      <p:sp>
        <p:nvSpPr>
          <p:cNvPr id="16" name="矩形 15">
            <a:extLst>
              <a:ext uri="{FF2B5EF4-FFF2-40B4-BE49-F238E27FC236}">
                <a16:creationId xmlns:a16="http://schemas.microsoft.com/office/drawing/2014/main" id="{86551296-CD29-084E-9713-D38000C31A77}"/>
              </a:ext>
            </a:extLst>
          </p:cNvPr>
          <p:cNvSpPr/>
          <p:nvPr/>
        </p:nvSpPr>
        <p:spPr>
          <a:xfrm>
            <a:off x="8106833" y="6671730"/>
            <a:ext cx="1037167" cy="186270"/>
          </a:xfrm>
          <a:prstGeom prst="rect">
            <a:avLst/>
          </a:prstGeom>
          <a:solidFill>
            <a:srgbClr val="9D53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t>26/35</a:t>
            </a:r>
            <a:endParaRPr kumimoji="1" lang="zh-CN" altLang="en-US" sz="1200" dirty="0"/>
          </a:p>
        </p:txBody>
      </p:sp>
      <p:sp>
        <p:nvSpPr>
          <p:cNvPr id="8" name="矩形 7">
            <a:extLst>
              <a:ext uri="{FF2B5EF4-FFF2-40B4-BE49-F238E27FC236}">
                <a16:creationId xmlns:a16="http://schemas.microsoft.com/office/drawing/2014/main" id="{9A47CB8D-579C-BB47-8EEF-B92F7D16D474}"/>
              </a:ext>
            </a:extLst>
          </p:cNvPr>
          <p:cNvSpPr/>
          <p:nvPr/>
        </p:nvSpPr>
        <p:spPr>
          <a:xfrm>
            <a:off x="0" y="246919"/>
            <a:ext cx="9143996" cy="48121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zh-CN" sz="2400" dirty="0">
                <a:solidFill>
                  <a:srgbClr val="8B302D"/>
                </a:solidFill>
                <a:latin typeface="+mj-lt"/>
                <a:ea typeface="PingFang SC" panose="020B0400000000000000" pitchFamily="34" charset="-122"/>
                <a:cs typeface="Arial" panose="020B0604020202020204" pitchFamily="34" charset="0"/>
              </a:rPr>
              <a:t>   Overall</a:t>
            </a:r>
            <a:r>
              <a:rPr kumimoji="1" lang="zh-CN" altLang="en-US" sz="2400" dirty="0">
                <a:solidFill>
                  <a:srgbClr val="8B302D"/>
                </a:solidFill>
                <a:latin typeface="+mj-lt"/>
                <a:ea typeface="PingFang SC" panose="020B0400000000000000" pitchFamily="34" charset="-122"/>
                <a:cs typeface="Arial" panose="020B0604020202020204" pitchFamily="34" charset="0"/>
              </a:rPr>
              <a:t> </a:t>
            </a:r>
            <a:r>
              <a:rPr kumimoji="1" lang="en-US" altLang="zh-CN" sz="2400" dirty="0">
                <a:solidFill>
                  <a:srgbClr val="8B302D"/>
                </a:solidFill>
                <a:latin typeface="+mj-lt"/>
                <a:ea typeface="PingFang SC" panose="020B0400000000000000" pitchFamily="34" charset="-122"/>
                <a:cs typeface="Arial" panose="020B0604020202020204" pitchFamily="34" charset="0"/>
              </a:rPr>
              <a:t>Performance</a:t>
            </a:r>
            <a:r>
              <a:rPr kumimoji="1" lang="zh-CN" altLang="en-US" sz="2400" dirty="0">
                <a:solidFill>
                  <a:srgbClr val="8B302D"/>
                </a:solidFill>
                <a:latin typeface="+mj-lt"/>
                <a:ea typeface="PingFang SC" panose="020B0400000000000000" pitchFamily="34" charset="-122"/>
                <a:cs typeface="Arial" panose="020B0604020202020204" pitchFamily="34" charset="0"/>
              </a:rPr>
              <a:t> </a:t>
            </a:r>
            <a:r>
              <a:rPr kumimoji="1" lang="en-US" altLang="zh-CN" sz="2400" dirty="0">
                <a:solidFill>
                  <a:srgbClr val="8B302D"/>
                </a:solidFill>
                <a:latin typeface="+mj-lt"/>
                <a:ea typeface="PingFang SC" panose="020B0400000000000000" pitchFamily="34" charset="-122"/>
                <a:cs typeface="Arial" panose="020B0604020202020204" pitchFamily="34" charset="0"/>
              </a:rPr>
              <a:t>Results</a:t>
            </a:r>
            <a:endParaRPr kumimoji="1" lang="zh-CN" altLang="en-US" dirty="0">
              <a:solidFill>
                <a:srgbClr val="8B302D"/>
              </a:solidFill>
              <a:latin typeface="+mj-lt"/>
              <a:ea typeface="PingFang SC" panose="020B0400000000000000" pitchFamily="34" charset="-122"/>
              <a:cs typeface="Arial" panose="020B0604020202020204" pitchFamily="34" charset="0"/>
            </a:endParaRPr>
          </a:p>
        </p:txBody>
      </p:sp>
      <p:sp>
        <p:nvSpPr>
          <p:cNvPr id="11" name="矩形 10">
            <a:extLst>
              <a:ext uri="{FF2B5EF4-FFF2-40B4-BE49-F238E27FC236}">
                <a16:creationId xmlns:a16="http://schemas.microsoft.com/office/drawing/2014/main" id="{F7E7803F-7EB2-284B-A8E9-931BADB5BAF5}"/>
              </a:ext>
            </a:extLst>
          </p:cNvPr>
          <p:cNvSpPr/>
          <p:nvPr/>
        </p:nvSpPr>
        <p:spPr>
          <a:xfrm>
            <a:off x="-1" y="0"/>
            <a:ext cx="9143995" cy="246920"/>
          </a:xfrm>
          <a:prstGeom prst="rect">
            <a:avLst/>
          </a:prstGeom>
          <a:solidFill>
            <a:srgbClr val="8B30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t>Evaluation</a:t>
            </a:r>
            <a:endParaRPr kumimoji="1" lang="zh-CN" altLang="en-US" sz="1200" dirty="0"/>
          </a:p>
        </p:txBody>
      </p:sp>
      <p:pic>
        <p:nvPicPr>
          <p:cNvPr id="23" name="图片 22">
            <a:extLst>
              <a:ext uri="{FF2B5EF4-FFF2-40B4-BE49-F238E27FC236}">
                <a16:creationId xmlns:a16="http://schemas.microsoft.com/office/drawing/2014/main" id="{DA007FED-6116-704C-8FE7-38DF7B1BC267}"/>
              </a:ext>
            </a:extLst>
          </p:cNvPr>
          <p:cNvPicPr>
            <a:picLocks noChangeAspect="1"/>
          </p:cNvPicPr>
          <p:nvPr/>
        </p:nvPicPr>
        <p:blipFill>
          <a:blip r:embed="rId3"/>
          <a:stretch>
            <a:fillRect/>
          </a:stretch>
        </p:blipFill>
        <p:spPr>
          <a:xfrm>
            <a:off x="636373" y="1441941"/>
            <a:ext cx="7871254" cy="3974117"/>
          </a:xfrm>
          <a:prstGeom prst="rect">
            <a:avLst/>
          </a:prstGeom>
        </p:spPr>
      </p:pic>
    </p:spTree>
    <p:extLst>
      <p:ext uri="{BB962C8B-B14F-4D97-AF65-F5344CB8AC3E}">
        <p14:creationId xmlns:p14="http://schemas.microsoft.com/office/powerpoint/2010/main" val="356552103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a:extLst>
              <a:ext uri="{FF2B5EF4-FFF2-40B4-BE49-F238E27FC236}">
                <a16:creationId xmlns:a16="http://schemas.microsoft.com/office/drawing/2014/main" id="{7298F338-BF45-D446-A7EB-9738B9AF0B49}"/>
              </a:ext>
            </a:extLst>
          </p:cNvPr>
          <p:cNvSpPr/>
          <p:nvPr/>
        </p:nvSpPr>
        <p:spPr>
          <a:xfrm>
            <a:off x="0" y="6671732"/>
            <a:ext cx="3069166" cy="186267"/>
          </a:xfrm>
          <a:prstGeom prst="rect">
            <a:avLst/>
          </a:prstGeom>
          <a:solidFill>
            <a:srgbClr val="8B30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t>Luo Zhou et al.</a:t>
            </a:r>
            <a:endParaRPr kumimoji="1" lang="zh-CN" altLang="en-US" sz="1200" dirty="0"/>
          </a:p>
        </p:txBody>
      </p:sp>
      <p:sp>
        <p:nvSpPr>
          <p:cNvPr id="13" name="矩形 12">
            <a:extLst>
              <a:ext uri="{FF2B5EF4-FFF2-40B4-BE49-F238E27FC236}">
                <a16:creationId xmlns:a16="http://schemas.microsoft.com/office/drawing/2014/main" id="{F34D8F6A-E87C-8145-BE0C-C609627D4B7C}"/>
              </a:ext>
            </a:extLst>
          </p:cNvPr>
          <p:cNvSpPr/>
          <p:nvPr/>
        </p:nvSpPr>
        <p:spPr>
          <a:xfrm>
            <a:off x="3069166" y="6671732"/>
            <a:ext cx="3005666" cy="186268"/>
          </a:xfrm>
          <a:prstGeom prst="rect">
            <a:avLst/>
          </a:prstGeom>
          <a:solidFill>
            <a:srgbClr val="9141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t>Donghua University</a:t>
            </a:r>
            <a:endParaRPr kumimoji="1" lang="zh-CN" altLang="en-US" sz="1200" dirty="0"/>
          </a:p>
        </p:txBody>
      </p:sp>
      <p:sp>
        <p:nvSpPr>
          <p:cNvPr id="15" name="矩形 14">
            <a:extLst>
              <a:ext uri="{FF2B5EF4-FFF2-40B4-BE49-F238E27FC236}">
                <a16:creationId xmlns:a16="http://schemas.microsoft.com/office/drawing/2014/main" id="{56D33D00-85D6-064B-A329-4FA724561018}"/>
              </a:ext>
            </a:extLst>
          </p:cNvPr>
          <p:cNvSpPr/>
          <p:nvPr/>
        </p:nvSpPr>
        <p:spPr>
          <a:xfrm>
            <a:off x="6074832" y="6671731"/>
            <a:ext cx="2374901" cy="186268"/>
          </a:xfrm>
          <a:prstGeom prst="rect">
            <a:avLst/>
          </a:prstGeom>
          <a:solidFill>
            <a:srgbClr val="9C53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t>2025.07.21</a:t>
            </a:r>
            <a:endParaRPr kumimoji="1" lang="zh-CN" altLang="en-US" sz="1200" dirty="0"/>
          </a:p>
        </p:txBody>
      </p:sp>
      <p:sp>
        <p:nvSpPr>
          <p:cNvPr id="16" name="矩形 15">
            <a:extLst>
              <a:ext uri="{FF2B5EF4-FFF2-40B4-BE49-F238E27FC236}">
                <a16:creationId xmlns:a16="http://schemas.microsoft.com/office/drawing/2014/main" id="{86551296-CD29-084E-9713-D38000C31A77}"/>
              </a:ext>
            </a:extLst>
          </p:cNvPr>
          <p:cNvSpPr/>
          <p:nvPr/>
        </p:nvSpPr>
        <p:spPr>
          <a:xfrm>
            <a:off x="8106833" y="6671730"/>
            <a:ext cx="1037167" cy="186270"/>
          </a:xfrm>
          <a:prstGeom prst="rect">
            <a:avLst/>
          </a:prstGeom>
          <a:solidFill>
            <a:srgbClr val="9D53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t>27/35</a:t>
            </a:r>
            <a:endParaRPr kumimoji="1" lang="zh-CN" altLang="en-US" sz="1200" dirty="0"/>
          </a:p>
        </p:txBody>
      </p:sp>
      <p:sp>
        <p:nvSpPr>
          <p:cNvPr id="8" name="矩形 7">
            <a:extLst>
              <a:ext uri="{FF2B5EF4-FFF2-40B4-BE49-F238E27FC236}">
                <a16:creationId xmlns:a16="http://schemas.microsoft.com/office/drawing/2014/main" id="{9A47CB8D-579C-BB47-8EEF-B92F7D16D474}"/>
              </a:ext>
            </a:extLst>
          </p:cNvPr>
          <p:cNvSpPr/>
          <p:nvPr/>
        </p:nvSpPr>
        <p:spPr>
          <a:xfrm>
            <a:off x="0" y="246919"/>
            <a:ext cx="9143996" cy="48121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zh-CN" sz="2400" dirty="0">
                <a:solidFill>
                  <a:srgbClr val="8B302D"/>
                </a:solidFill>
                <a:latin typeface="+mj-lt"/>
                <a:ea typeface="PingFang SC" panose="020B0400000000000000" pitchFamily="34" charset="-122"/>
                <a:cs typeface="Arial" panose="020B0604020202020204" pitchFamily="34" charset="0"/>
              </a:rPr>
              <a:t>   Comparison with Baselines</a:t>
            </a:r>
            <a:endParaRPr kumimoji="1" lang="zh-CN" altLang="en-US" dirty="0">
              <a:solidFill>
                <a:srgbClr val="8B302D"/>
              </a:solidFill>
              <a:latin typeface="+mj-lt"/>
              <a:ea typeface="PingFang SC" panose="020B0400000000000000" pitchFamily="34" charset="-122"/>
              <a:cs typeface="Arial" panose="020B0604020202020204" pitchFamily="34" charset="0"/>
            </a:endParaRPr>
          </a:p>
        </p:txBody>
      </p:sp>
      <p:sp>
        <p:nvSpPr>
          <p:cNvPr id="11" name="矩形 10">
            <a:extLst>
              <a:ext uri="{FF2B5EF4-FFF2-40B4-BE49-F238E27FC236}">
                <a16:creationId xmlns:a16="http://schemas.microsoft.com/office/drawing/2014/main" id="{2CECCFFB-73B6-B24C-8849-24FD3C7CE094}"/>
              </a:ext>
            </a:extLst>
          </p:cNvPr>
          <p:cNvSpPr/>
          <p:nvPr/>
        </p:nvSpPr>
        <p:spPr>
          <a:xfrm>
            <a:off x="-1" y="0"/>
            <a:ext cx="9143995" cy="246920"/>
          </a:xfrm>
          <a:prstGeom prst="rect">
            <a:avLst/>
          </a:prstGeom>
          <a:solidFill>
            <a:srgbClr val="8B30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t>Evaluation</a:t>
            </a:r>
            <a:endParaRPr kumimoji="1" lang="zh-CN" altLang="en-US" sz="1200" dirty="0"/>
          </a:p>
        </p:txBody>
      </p:sp>
      <p:pic>
        <p:nvPicPr>
          <p:cNvPr id="7" name="图片 6">
            <a:extLst>
              <a:ext uri="{FF2B5EF4-FFF2-40B4-BE49-F238E27FC236}">
                <a16:creationId xmlns:a16="http://schemas.microsoft.com/office/drawing/2014/main" id="{8AF76866-CB9B-B64C-B17F-52F3883A0FB5}"/>
              </a:ext>
            </a:extLst>
          </p:cNvPr>
          <p:cNvPicPr>
            <a:picLocks noChangeAspect="1"/>
          </p:cNvPicPr>
          <p:nvPr/>
        </p:nvPicPr>
        <p:blipFill>
          <a:blip r:embed="rId3"/>
          <a:stretch>
            <a:fillRect/>
          </a:stretch>
        </p:blipFill>
        <p:spPr>
          <a:xfrm>
            <a:off x="578895" y="1046415"/>
            <a:ext cx="7986201" cy="4765170"/>
          </a:xfrm>
          <a:prstGeom prst="rect">
            <a:avLst/>
          </a:prstGeom>
        </p:spPr>
      </p:pic>
    </p:spTree>
    <p:extLst>
      <p:ext uri="{BB962C8B-B14F-4D97-AF65-F5344CB8AC3E}">
        <p14:creationId xmlns:p14="http://schemas.microsoft.com/office/powerpoint/2010/main" val="355891542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a:extLst>
              <a:ext uri="{FF2B5EF4-FFF2-40B4-BE49-F238E27FC236}">
                <a16:creationId xmlns:a16="http://schemas.microsoft.com/office/drawing/2014/main" id="{7298F338-BF45-D446-A7EB-9738B9AF0B49}"/>
              </a:ext>
            </a:extLst>
          </p:cNvPr>
          <p:cNvSpPr/>
          <p:nvPr/>
        </p:nvSpPr>
        <p:spPr>
          <a:xfrm>
            <a:off x="0" y="6671732"/>
            <a:ext cx="3069166" cy="186267"/>
          </a:xfrm>
          <a:prstGeom prst="rect">
            <a:avLst/>
          </a:prstGeom>
          <a:solidFill>
            <a:srgbClr val="8B30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t>Luo Zhou et al.</a:t>
            </a:r>
            <a:endParaRPr kumimoji="1" lang="zh-CN" altLang="en-US" sz="1200" dirty="0"/>
          </a:p>
        </p:txBody>
      </p:sp>
      <p:sp>
        <p:nvSpPr>
          <p:cNvPr id="13" name="矩形 12">
            <a:extLst>
              <a:ext uri="{FF2B5EF4-FFF2-40B4-BE49-F238E27FC236}">
                <a16:creationId xmlns:a16="http://schemas.microsoft.com/office/drawing/2014/main" id="{F34D8F6A-E87C-8145-BE0C-C609627D4B7C}"/>
              </a:ext>
            </a:extLst>
          </p:cNvPr>
          <p:cNvSpPr/>
          <p:nvPr/>
        </p:nvSpPr>
        <p:spPr>
          <a:xfrm>
            <a:off x="3069166" y="6671732"/>
            <a:ext cx="3005666" cy="186268"/>
          </a:xfrm>
          <a:prstGeom prst="rect">
            <a:avLst/>
          </a:prstGeom>
          <a:solidFill>
            <a:srgbClr val="9141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t>Donghua University</a:t>
            </a:r>
            <a:endParaRPr kumimoji="1" lang="zh-CN" altLang="en-US" sz="1200" dirty="0"/>
          </a:p>
        </p:txBody>
      </p:sp>
      <p:sp>
        <p:nvSpPr>
          <p:cNvPr id="15" name="矩形 14">
            <a:extLst>
              <a:ext uri="{FF2B5EF4-FFF2-40B4-BE49-F238E27FC236}">
                <a16:creationId xmlns:a16="http://schemas.microsoft.com/office/drawing/2014/main" id="{56D33D00-85D6-064B-A329-4FA724561018}"/>
              </a:ext>
            </a:extLst>
          </p:cNvPr>
          <p:cNvSpPr/>
          <p:nvPr/>
        </p:nvSpPr>
        <p:spPr>
          <a:xfrm>
            <a:off x="6074832" y="6671731"/>
            <a:ext cx="2374901" cy="186268"/>
          </a:xfrm>
          <a:prstGeom prst="rect">
            <a:avLst/>
          </a:prstGeom>
          <a:solidFill>
            <a:srgbClr val="9C53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t>2025.07.21</a:t>
            </a:r>
            <a:endParaRPr kumimoji="1" lang="zh-CN" altLang="en-US" sz="1200" dirty="0"/>
          </a:p>
        </p:txBody>
      </p:sp>
      <p:sp>
        <p:nvSpPr>
          <p:cNvPr id="16" name="矩形 15">
            <a:extLst>
              <a:ext uri="{FF2B5EF4-FFF2-40B4-BE49-F238E27FC236}">
                <a16:creationId xmlns:a16="http://schemas.microsoft.com/office/drawing/2014/main" id="{86551296-CD29-084E-9713-D38000C31A77}"/>
              </a:ext>
            </a:extLst>
          </p:cNvPr>
          <p:cNvSpPr/>
          <p:nvPr/>
        </p:nvSpPr>
        <p:spPr>
          <a:xfrm>
            <a:off x="8106833" y="6671730"/>
            <a:ext cx="1037167" cy="186270"/>
          </a:xfrm>
          <a:prstGeom prst="rect">
            <a:avLst/>
          </a:prstGeom>
          <a:solidFill>
            <a:srgbClr val="9D53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t>28/35</a:t>
            </a:r>
            <a:endParaRPr kumimoji="1" lang="zh-CN" altLang="en-US" sz="1200" dirty="0"/>
          </a:p>
        </p:txBody>
      </p:sp>
      <p:sp>
        <p:nvSpPr>
          <p:cNvPr id="8" name="矩形 7">
            <a:extLst>
              <a:ext uri="{FF2B5EF4-FFF2-40B4-BE49-F238E27FC236}">
                <a16:creationId xmlns:a16="http://schemas.microsoft.com/office/drawing/2014/main" id="{9A47CB8D-579C-BB47-8EEF-B92F7D16D474}"/>
              </a:ext>
            </a:extLst>
          </p:cNvPr>
          <p:cNvSpPr/>
          <p:nvPr/>
        </p:nvSpPr>
        <p:spPr>
          <a:xfrm>
            <a:off x="0" y="246919"/>
            <a:ext cx="9143996" cy="48121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zh-CN" sz="2400" dirty="0">
                <a:solidFill>
                  <a:srgbClr val="8B302D"/>
                </a:solidFill>
                <a:latin typeface="+mj-lt"/>
                <a:ea typeface="PingFang SC" panose="020B0400000000000000" pitchFamily="34" charset="-122"/>
                <a:cs typeface="Arial" panose="020B0604020202020204" pitchFamily="34" charset="0"/>
              </a:rPr>
              <a:t>   Impact</a:t>
            </a:r>
            <a:r>
              <a:rPr kumimoji="1" lang="zh-CN" altLang="en-US" sz="2400" dirty="0">
                <a:solidFill>
                  <a:srgbClr val="8B302D"/>
                </a:solidFill>
                <a:latin typeface="+mj-lt"/>
                <a:ea typeface="PingFang SC" panose="020B0400000000000000" pitchFamily="34" charset="-122"/>
                <a:cs typeface="Arial" panose="020B0604020202020204" pitchFamily="34" charset="0"/>
              </a:rPr>
              <a:t> </a:t>
            </a:r>
            <a:r>
              <a:rPr kumimoji="1" lang="en-US" altLang="zh-CN" sz="2400" dirty="0">
                <a:solidFill>
                  <a:srgbClr val="8B302D"/>
                </a:solidFill>
                <a:latin typeface="+mj-lt"/>
                <a:ea typeface="PingFang SC" panose="020B0400000000000000" pitchFamily="34" charset="-122"/>
                <a:cs typeface="Arial" panose="020B0604020202020204" pitchFamily="34" charset="0"/>
              </a:rPr>
              <a:t>of</a:t>
            </a:r>
            <a:r>
              <a:rPr kumimoji="1" lang="zh-CN" altLang="en-US" sz="2400" dirty="0">
                <a:solidFill>
                  <a:srgbClr val="8B302D"/>
                </a:solidFill>
                <a:latin typeface="+mj-lt"/>
                <a:ea typeface="PingFang SC" panose="020B0400000000000000" pitchFamily="34" charset="-122"/>
                <a:cs typeface="Arial" panose="020B0604020202020204" pitchFamily="34" charset="0"/>
              </a:rPr>
              <a:t> </a:t>
            </a:r>
            <a:r>
              <a:rPr kumimoji="1" lang="en-US" altLang="zh-CN" sz="2400" dirty="0">
                <a:solidFill>
                  <a:srgbClr val="8B302D"/>
                </a:solidFill>
                <a:latin typeface="+mj-lt"/>
                <a:ea typeface="PingFang SC" panose="020B0400000000000000" pitchFamily="34" charset="-122"/>
                <a:cs typeface="Arial" panose="020B0604020202020204" pitchFamily="34" charset="0"/>
              </a:rPr>
              <a:t>Mobile Scenarios</a:t>
            </a:r>
            <a:endParaRPr kumimoji="1" lang="zh-CN" altLang="en-US" dirty="0">
              <a:solidFill>
                <a:srgbClr val="8B302D"/>
              </a:solidFill>
              <a:latin typeface="+mj-lt"/>
              <a:ea typeface="PingFang SC" panose="020B0400000000000000" pitchFamily="34" charset="-122"/>
              <a:cs typeface="Arial" panose="020B0604020202020204" pitchFamily="34" charset="0"/>
            </a:endParaRPr>
          </a:p>
        </p:txBody>
      </p:sp>
      <p:sp>
        <p:nvSpPr>
          <p:cNvPr id="17" name="矩形 16">
            <a:extLst>
              <a:ext uri="{FF2B5EF4-FFF2-40B4-BE49-F238E27FC236}">
                <a16:creationId xmlns:a16="http://schemas.microsoft.com/office/drawing/2014/main" id="{8A5078A5-9915-F64F-B0FA-1F3A86D70214}"/>
              </a:ext>
            </a:extLst>
          </p:cNvPr>
          <p:cNvSpPr/>
          <p:nvPr/>
        </p:nvSpPr>
        <p:spPr>
          <a:xfrm>
            <a:off x="-1" y="0"/>
            <a:ext cx="9143995" cy="246920"/>
          </a:xfrm>
          <a:prstGeom prst="rect">
            <a:avLst/>
          </a:prstGeom>
          <a:solidFill>
            <a:srgbClr val="8B30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t>Evaluation</a:t>
            </a:r>
            <a:endParaRPr kumimoji="1" lang="zh-CN" altLang="en-US" sz="1200" dirty="0"/>
          </a:p>
        </p:txBody>
      </p:sp>
      <p:pic>
        <p:nvPicPr>
          <p:cNvPr id="10" name="图片 9">
            <a:extLst>
              <a:ext uri="{FF2B5EF4-FFF2-40B4-BE49-F238E27FC236}">
                <a16:creationId xmlns:a16="http://schemas.microsoft.com/office/drawing/2014/main" id="{14F1F98D-1764-2043-BA4B-4482E576CF05}"/>
              </a:ext>
            </a:extLst>
          </p:cNvPr>
          <p:cNvPicPr>
            <a:picLocks noChangeAspect="1"/>
          </p:cNvPicPr>
          <p:nvPr/>
        </p:nvPicPr>
        <p:blipFill>
          <a:blip r:embed="rId3"/>
          <a:stretch>
            <a:fillRect/>
          </a:stretch>
        </p:blipFill>
        <p:spPr>
          <a:xfrm>
            <a:off x="2861367" y="728133"/>
            <a:ext cx="3421257" cy="3437394"/>
          </a:xfrm>
          <a:prstGeom prst="rect">
            <a:avLst/>
          </a:prstGeom>
        </p:spPr>
      </p:pic>
      <p:pic>
        <p:nvPicPr>
          <p:cNvPr id="11" name="图片 10">
            <a:extLst>
              <a:ext uri="{FF2B5EF4-FFF2-40B4-BE49-F238E27FC236}">
                <a16:creationId xmlns:a16="http://schemas.microsoft.com/office/drawing/2014/main" id="{8BCAED33-D555-CF4B-9F7A-5C8685C7A8BE}"/>
              </a:ext>
            </a:extLst>
          </p:cNvPr>
          <p:cNvPicPr>
            <a:picLocks noChangeAspect="1"/>
          </p:cNvPicPr>
          <p:nvPr/>
        </p:nvPicPr>
        <p:blipFill>
          <a:blip r:embed="rId4"/>
          <a:stretch>
            <a:fillRect/>
          </a:stretch>
        </p:blipFill>
        <p:spPr>
          <a:xfrm>
            <a:off x="926533" y="4401631"/>
            <a:ext cx="7290923" cy="2045156"/>
          </a:xfrm>
          <a:prstGeom prst="rect">
            <a:avLst/>
          </a:prstGeom>
        </p:spPr>
      </p:pic>
    </p:spTree>
    <p:extLst>
      <p:ext uri="{BB962C8B-B14F-4D97-AF65-F5344CB8AC3E}">
        <p14:creationId xmlns:p14="http://schemas.microsoft.com/office/powerpoint/2010/main" val="309913004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a:extLst>
              <a:ext uri="{FF2B5EF4-FFF2-40B4-BE49-F238E27FC236}">
                <a16:creationId xmlns:a16="http://schemas.microsoft.com/office/drawing/2014/main" id="{7298F338-BF45-D446-A7EB-9738B9AF0B49}"/>
              </a:ext>
            </a:extLst>
          </p:cNvPr>
          <p:cNvSpPr/>
          <p:nvPr/>
        </p:nvSpPr>
        <p:spPr>
          <a:xfrm>
            <a:off x="0" y="6671732"/>
            <a:ext cx="3069166" cy="186267"/>
          </a:xfrm>
          <a:prstGeom prst="rect">
            <a:avLst/>
          </a:prstGeom>
          <a:solidFill>
            <a:srgbClr val="8B30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t>Luo Zhou et al.</a:t>
            </a:r>
            <a:endParaRPr kumimoji="1" lang="zh-CN" altLang="en-US" sz="1200" dirty="0"/>
          </a:p>
        </p:txBody>
      </p:sp>
      <p:sp>
        <p:nvSpPr>
          <p:cNvPr id="13" name="矩形 12">
            <a:extLst>
              <a:ext uri="{FF2B5EF4-FFF2-40B4-BE49-F238E27FC236}">
                <a16:creationId xmlns:a16="http://schemas.microsoft.com/office/drawing/2014/main" id="{F34D8F6A-E87C-8145-BE0C-C609627D4B7C}"/>
              </a:ext>
            </a:extLst>
          </p:cNvPr>
          <p:cNvSpPr/>
          <p:nvPr/>
        </p:nvSpPr>
        <p:spPr>
          <a:xfrm>
            <a:off x="3069166" y="6671732"/>
            <a:ext cx="3005666" cy="186268"/>
          </a:xfrm>
          <a:prstGeom prst="rect">
            <a:avLst/>
          </a:prstGeom>
          <a:solidFill>
            <a:srgbClr val="9141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t>Donghua University</a:t>
            </a:r>
            <a:endParaRPr kumimoji="1" lang="zh-CN" altLang="en-US" sz="1200" dirty="0"/>
          </a:p>
        </p:txBody>
      </p:sp>
      <p:sp>
        <p:nvSpPr>
          <p:cNvPr id="15" name="矩形 14">
            <a:extLst>
              <a:ext uri="{FF2B5EF4-FFF2-40B4-BE49-F238E27FC236}">
                <a16:creationId xmlns:a16="http://schemas.microsoft.com/office/drawing/2014/main" id="{56D33D00-85D6-064B-A329-4FA724561018}"/>
              </a:ext>
            </a:extLst>
          </p:cNvPr>
          <p:cNvSpPr/>
          <p:nvPr/>
        </p:nvSpPr>
        <p:spPr>
          <a:xfrm>
            <a:off x="6074832" y="6671731"/>
            <a:ext cx="2374901" cy="186268"/>
          </a:xfrm>
          <a:prstGeom prst="rect">
            <a:avLst/>
          </a:prstGeom>
          <a:solidFill>
            <a:srgbClr val="9C53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t>2025.07.21</a:t>
            </a:r>
            <a:endParaRPr kumimoji="1" lang="zh-CN" altLang="en-US" sz="1200" dirty="0"/>
          </a:p>
        </p:txBody>
      </p:sp>
      <p:sp>
        <p:nvSpPr>
          <p:cNvPr id="16" name="矩形 15">
            <a:extLst>
              <a:ext uri="{FF2B5EF4-FFF2-40B4-BE49-F238E27FC236}">
                <a16:creationId xmlns:a16="http://schemas.microsoft.com/office/drawing/2014/main" id="{86551296-CD29-084E-9713-D38000C31A77}"/>
              </a:ext>
            </a:extLst>
          </p:cNvPr>
          <p:cNvSpPr/>
          <p:nvPr/>
        </p:nvSpPr>
        <p:spPr>
          <a:xfrm>
            <a:off x="8106833" y="6671730"/>
            <a:ext cx="1037167" cy="186270"/>
          </a:xfrm>
          <a:prstGeom prst="rect">
            <a:avLst/>
          </a:prstGeom>
          <a:solidFill>
            <a:srgbClr val="9D53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t>29/35</a:t>
            </a:r>
            <a:endParaRPr kumimoji="1" lang="zh-CN" altLang="en-US" sz="1200" dirty="0"/>
          </a:p>
        </p:txBody>
      </p:sp>
      <p:sp>
        <p:nvSpPr>
          <p:cNvPr id="8" name="矩形 7">
            <a:extLst>
              <a:ext uri="{FF2B5EF4-FFF2-40B4-BE49-F238E27FC236}">
                <a16:creationId xmlns:a16="http://schemas.microsoft.com/office/drawing/2014/main" id="{9A47CB8D-579C-BB47-8EEF-B92F7D16D474}"/>
              </a:ext>
            </a:extLst>
          </p:cNvPr>
          <p:cNvSpPr/>
          <p:nvPr/>
        </p:nvSpPr>
        <p:spPr>
          <a:xfrm>
            <a:off x="0" y="246919"/>
            <a:ext cx="9143996" cy="48121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zh-CN" sz="2400" dirty="0">
                <a:solidFill>
                  <a:srgbClr val="8B302D"/>
                </a:solidFill>
                <a:latin typeface="+mj-lt"/>
                <a:ea typeface="PingFang SC" panose="020B0400000000000000" pitchFamily="34" charset="-122"/>
                <a:cs typeface="Arial" panose="020B0604020202020204" pitchFamily="34" charset="0"/>
              </a:rPr>
              <a:t>   Impact</a:t>
            </a:r>
            <a:r>
              <a:rPr kumimoji="1" lang="zh-CN" altLang="en-US" sz="2400" dirty="0">
                <a:solidFill>
                  <a:srgbClr val="8B302D"/>
                </a:solidFill>
                <a:latin typeface="+mj-lt"/>
                <a:ea typeface="PingFang SC" panose="020B0400000000000000" pitchFamily="34" charset="-122"/>
                <a:cs typeface="Arial" panose="020B0604020202020204" pitchFamily="34" charset="0"/>
              </a:rPr>
              <a:t> </a:t>
            </a:r>
            <a:r>
              <a:rPr kumimoji="1" lang="en-US" altLang="zh-CN" sz="2400" dirty="0">
                <a:solidFill>
                  <a:srgbClr val="8B302D"/>
                </a:solidFill>
                <a:latin typeface="+mj-lt"/>
                <a:ea typeface="PingFang SC" panose="020B0400000000000000" pitchFamily="34" charset="-122"/>
                <a:cs typeface="Arial" panose="020B0604020202020204" pitchFamily="34" charset="0"/>
              </a:rPr>
              <a:t>of</a:t>
            </a:r>
            <a:r>
              <a:rPr kumimoji="1" lang="zh-CN" altLang="en-US" sz="2400" dirty="0">
                <a:solidFill>
                  <a:srgbClr val="8B302D"/>
                </a:solidFill>
                <a:latin typeface="+mj-lt"/>
                <a:ea typeface="PingFang SC" panose="020B0400000000000000" pitchFamily="34" charset="-122"/>
                <a:cs typeface="Arial" panose="020B0604020202020204" pitchFamily="34" charset="0"/>
              </a:rPr>
              <a:t> </a:t>
            </a:r>
            <a:r>
              <a:rPr kumimoji="1" lang="en-US" altLang="zh-CN" sz="2400" dirty="0">
                <a:solidFill>
                  <a:srgbClr val="8B302D"/>
                </a:solidFill>
                <a:latin typeface="+mj-lt"/>
                <a:ea typeface="PingFang SC" panose="020B0400000000000000" pitchFamily="34" charset="-122"/>
                <a:cs typeface="Arial" panose="020B0604020202020204" pitchFamily="34" charset="0"/>
              </a:rPr>
              <a:t>Speaking</a:t>
            </a:r>
            <a:r>
              <a:rPr kumimoji="1" lang="zh-CN" altLang="en-US" sz="2400" dirty="0">
                <a:solidFill>
                  <a:srgbClr val="8B302D"/>
                </a:solidFill>
                <a:latin typeface="+mj-lt"/>
                <a:ea typeface="PingFang SC" panose="020B0400000000000000" pitchFamily="34" charset="-122"/>
                <a:cs typeface="Arial" panose="020B0604020202020204" pitchFamily="34" charset="0"/>
              </a:rPr>
              <a:t> </a:t>
            </a:r>
            <a:r>
              <a:rPr kumimoji="1" lang="en-US" altLang="zh-CN" sz="2400" dirty="0">
                <a:solidFill>
                  <a:srgbClr val="8B302D"/>
                </a:solidFill>
                <a:latin typeface="+mj-lt"/>
                <a:ea typeface="PingFang SC" panose="020B0400000000000000" pitchFamily="34" charset="-122"/>
                <a:cs typeface="Arial" panose="020B0604020202020204" pitchFamily="34" charset="0"/>
              </a:rPr>
              <a:t>Rhythm</a:t>
            </a:r>
            <a:r>
              <a:rPr kumimoji="1" lang="zh-CN" altLang="en-US" sz="2400" dirty="0">
                <a:solidFill>
                  <a:srgbClr val="8B302D"/>
                </a:solidFill>
                <a:latin typeface="+mj-lt"/>
                <a:ea typeface="PingFang SC" panose="020B0400000000000000" pitchFamily="34" charset="-122"/>
                <a:cs typeface="Arial" panose="020B0604020202020204" pitchFamily="34" charset="0"/>
              </a:rPr>
              <a:t> </a:t>
            </a:r>
            <a:r>
              <a:rPr kumimoji="1" lang="en-US" altLang="zh-CN" sz="2400" dirty="0">
                <a:solidFill>
                  <a:srgbClr val="8B302D"/>
                </a:solidFill>
                <a:latin typeface="+mj-lt"/>
                <a:ea typeface="PingFang SC" panose="020B0400000000000000" pitchFamily="34" charset="-122"/>
                <a:cs typeface="Arial" panose="020B0604020202020204" pitchFamily="34" charset="0"/>
              </a:rPr>
              <a:t>&amp; Command Length</a:t>
            </a:r>
            <a:endParaRPr kumimoji="1" lang="zh-CN" altLang="en-US" dirty="0">
              <a:solidFill>
                <a:srgbClr val="8B302D"/>
              </a:solidFill>
              <a:latin typeface="+mj-lt"/>
              <a:ea typeface="PingFang SC" panose="020B0400000000000000" pitchFamily="34" charset="-122"/>
              <a:cs typeface="Arial" panose="020B0604020202020204" pitchFamily="34" charset="0"/>
            </a:endParaRPr>
          </a:p>
        </p:txBody>
      </p:sp>
      <p:sp>
        <p:nvSpPr>
          <p:cNvPr id="17" name="矩形 16">
            <a:extLst>
              <a:ext uri="{FF2B5EF4-FFF2-40B4-BE49-F238E27FC236}">
                <a16:creationId xmlns:a16="http://schemas.microsoft.com/office/drawing/2014/main" id="{8A5078A5-9915-F64F-B0FA-1F3A86D70214}"/>
              </a:ext>
            </a:extLst>
          </p:cNvPr>
          <p:cNvSpPr/>
          <p:nvPr/>
        </p:nvSpPr>
        <p:spPr>
          <a:xfrm>
            <a:off x="-1" y="0"/>
            <a:ext cx="9143995" cy="246920"/>
          </a:xfrm>
          <a:prstGeom prst="rect">
            <a:avLst/>
          </a:prstGeom>
          <a:solidFill>
            <a:srgbClr val="8B30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t>Evaluation</a:t>
            </a:r>
            <a:endParaRPr kumimoji="1" lang="zh-CN" altLang="en-US" sz="1200" dirty="0"/>
          </a:p>
        </p:txBody>
      </p:sp>
      <p:pic>
        <p:nvPicPr>
          <p:cNvPr id="9" name="图片 8">
            <a:extLst>
              <a:ext uri="{FF2B5EF4-FFF2-40B4-BE49-F238E27FC236}">
                <a16:creationId xmlns:a16="http://schemas.microsoft.com/office/drawing/2014/main" id="{25BBA104-D23B-9A47-9B80-7F585B6670D8}"/>
              </a:ext>
            </a:extLst>
          </p:cNvPr>
          <p:cNvPicPr>
            <a:picLocks noChangeAspect="1"/>
          </p:cNvPicPr>
          <p:nvPr/>
        </p:nvPicPr>
        <p:blipFill>
          <a:blip r:embed="rId3"/>
          <a:stretch>
            <a:fillRect/>
          </a:stretch>
        </p:blipFill>
        <p:spPr>
          <a:xfrm>
            <a:off x="689742" y="4621181"/>
            <a:ext cx="7935674" cy="1490167"/>
          </a:xfrm>
          <a:prstGeom prst="rect">
            <a:avLst/>
          </a:prstGeom>
        </p:spPr>
      </p:pic>
      <p:pic>
        <p:nvPicPr>
          <p:cNvPr id="11" name="图片 10">
            <a:extLst>
              <a:ext uri="{FF2B5EF4-FFF2-40B4-BE49-F238E27FC236}">
                <a16:creationId xmlns:a16="http://schemas.microsoft.com/office/drawing/2014/main" id="{A60B839F-479F-3A47-BD98-6434EB273FA1}"/>
              </a:ext>
            </a:extLst>
          </p:cNvPr>
          <p:cNvPicPr>
            <a:picLocks noChangeAspect="1"/>
          </p:cNvPicPr>
          <p:nvPr/>
        </p:nvPicPr>
        <p:blipFill>
          <a:blip r:embed="rId4"/>
          <a:stretch>
            <a:fillRect/>
          </a:stretch>
        </p:blipFill>
        <p:spPr>
          <a:xfrm>
            <a:off x="809203" y="1055129"/>
            <a:ext cx="7137175" cy="3588304"/>
          </a:xfrm>
          <a:prstGeom prst="rect">
            <a:avLst/>
          </a:prstGeom>
        </p:spPr>
      </p:pic>
    </p:spTree>
    <p:extLst>
      <p:ext uri="{BB962C8B-B14F-4D97-AF65-F5344CB8AC3E}">
        <p14:creationId xmlns:p14="http://schemas.microsoft.com/office/powerpoint/2010/main" val="166218571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a:extLst>
              <a:ext uri="{FF2B5EF4-FFF2-40B4-BE49-F238E27FC236}">
                <a16:creationId xmlns:a16="http://schemas.microsoft.com/office/drawing/2014/main" id="{7298F338-BF45-D446-A7EB-9738B9AF0B49}"/>
              </a:ext>
            </a:extLst>
          </p:cNvPr>
          <p:cNvSpPr/>
          <p:nvPr/>
        </p:nvSpPr>
        <p:spPr>
          <a:xfrm>
            <a:off x="0" y="6671732"/>
            <a:ext cx="3069166" cy="186267"/>
          </a:xfrm>
          <a:prstGeom prst="rect">
            <a:avLst/>
          </a:prstGeom>
          <a:solidFill>
            <a:srgbClr val="8B30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t>Luo Zhou et al.</a:t>
            </a:r>
            <a:endParaRPr kumimoji="1" lang="zh-CN" altLang="en-US" sz="1200" dirty="0"/>
          </a:p>
        </p:txBody>
      </p:sp>
      <p:sp>
        <p:nvSpPr>
          <p:cNvPr id="13" name="矩形 12">
            <a:extLst>
              <a:ext uri="{FF2B5EF4-FFF2-40B4-BE49-F238E27FC236}">
                <a16:creationId xmlns:a16="http://schemas.microsoft.com/office/drawing/2014/main" id="{F34D8F6A-E87C-8145-BE0C-C609627D4B7C}"/>
              </a:ext>
            </a:extLst>
          </p:cNvPr>
          <p:cNvSpPr/>
          <p:nvPr/>
        </p:nvSpPr>
        <p:spPr>
          <a:xfrm>
            <a:off x="3069166" y="6671732"/>
            <a:ext cx="3005666" cy="186268"/>
          </a:xfrm>
          <a:prstGeom prst="rect">
            <a:avLst/>
          </a:prstGeom>
          <a:solidFill>
            <a:srgbClr val="9141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t>Donghua University</a:t>
            </a:r>
            <a:endParaRPr kumimoji="1" lang="zh-CN" altLang="en-US" sz="1200" dirty="0"/>
          </a:p>
        </p:txBody>
      </p:sp>
      <p:sp>
        <p:nvSpPr>
          <p:cNvPr id="15" name="矩形 14">
            <a:extLst>
              <a:ext uri="{FF2B5EF4-FFF2-40B4-BE49-F238E27FC236}">
                <a16:creationId xmlns:a16="http://schemas.microsoft.com/office/drawing/2014/main" id="{56D33D00-85D6-064B-A329-4FA724561018}"/>
              </a:ext>
            </a:extLst>
          </p:cNvPr>
          <p:cNvSpPr/>
          <p:nvPr/>
        </p:nvSpPr>
        <p:spPr>
          <a:xfrm>
            <a:off x="6074832" y="6671731"/>
            <a:ext cx="2374901" cy="186268"/>
          </a:xfrm>
          <a:prstGeom prst="rect">
            <a:avLst/>
          </a:prstGeom>
          <a:solidFill>
            <a:srgbClr val="9C53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t>2025.07.21</a:t>
            </a:r>
            <a:endParaRPr kumimoji="1" lang="zh-CN" altLang="en-US" sz="1200" dirty="0"/>
          </a:p>
        </p:txBody>
      </p:sp>
      <p:sp>
        <p:nvSpPr>
          <p:cNvPr id="16" name="矩形 15">
            <a:extLst>
              <a:ext uri="{FF2B5EF4-FFF2-40B4-BE49-F238E27FC236}">
                <a16:creationId xmlns:a16="http://schemas.microsoft.com/office/drawing/2014/main" id="{86551296-CD29-084E-9713-D38000C31A77}"/>
              </a:ext>
            </a:extLst>
          </p:cNvPr>
          <p:cNvSpPr/>
          <p:nvPr/>
        </p:nvSpPr>
        <p:spPr>
          <a:xfrm>
            <a:off x="8106833" y="6671730"/>
            <a:ext cx="1037167" cy="186270"/>
          </a:xfrm>
          <a:prstGeom prst="rect">
            <a:avLst/>
          </a:prstGeom>
          <a:solidFill>
            <a:srgbClr val="9D53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t>30/35</a:t>
            </a:r>
            <a:endParaRPr kumimoji="1" lang="zh-CN" altLang="en-US" sz="1200" dirty="0"/>
          </a:p>
        </p:txBody>
      </p:sp>
      <p:sp>
        <p:nvSpPr>
          <p:cNvPr id="8" name="矩形 7">
            <a:extLst>
              <a:ext uri="{FF2B5EF4-FFF2-40B4-BE49-F238E27FC236}">
                <a16:creationId xmlns:a16="http://schemas.microsoft.com/office/drawing/2014/main" id="{9A47CB8D-579C-BB47-8EEF-B92F7D16D474}"/>
              </a:ext>
            </a:extLst>
          </p:cNvPr>
          <p:cNvSpPr/>
          <p:nvPr/>
        </p:nvSpPr>
        <p:spPr>
          <a:xfrm>
            <a:off x="0" y="246919"/>
            <a:ext cx="9143996" cy="48121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zh-CN" sz="2400" dirty="0">
                <a:solidFill>
                  <a:srgbClr val="8B302D"/>
                </a:solidFill>
                <a:latin typeface="+mj-lt"/>
                <a:ea typeface="PingFang SC" panose="020B0400000000000000" pitchFamily="34" charset="-122"/>
                <a:cs typeface="Arial" panose="020B0604020202020204" pitchFamily="34" charset="0"/>
              </a:rPr>
              <a:t>   Attack Resistance</a:t>
            </a:r>
            <a:r>
              <a:rPr kumimoji="1" lang="zh-CN" altLang="en-US" sz="2400" dirty="0">
                <a:solidFill>
                  <a:srgbClr val="8B302D"/>
                </a:solidFill>
                <a:latin typeface="+mj-lt"/>
                <a:ea typeface="PingFang SC" panose="020B0400000000000000" pitchFamily="34" charset="-122"/>
                <a:cs typeface="Arial" panose="020B0604020202020204" pitchFamily="34" charset="0"/>
              </a:rPr>
              <a:t> </a:t>
            </a:r>
            <a:r>
              <a:rPr kumimoji="1" lang="en-US" altLang="zh-CN" sz="2400" dirty="0">
                <a:solidFill>
                  <a:srgbClr val="8B302D"/>
                </a:solidFill>
                <a:latin typeface="+mj-lt"/>
                <a:ea typeface="PingFang SC" panose="020B0400000000000000" pitchFamily="34" charset="-122"/>
                <a:cs typeface="Arial" panose="020B0604020202020204" pitchFamily="34" charset="0"/>
              </a:rPr>
              <a:t>Evaluation</a:t>
            </a:r>
            <a:endParaRPr kumimoji="1" lang="zh-CN" altLang="en-US" dirty="0">
              <a:solidFill>
                <a:srgbClr val="8B302D"/>
              </a:solidFill>
              <a:latin typeface="+mj-lt"/>
              <a:ea typeface="PingFang SC" panose="020B0400000000000000" pitchFamily="34" charset="-122"/>
              <a:cs typeface="Arial" panose="020B0604020202020204" pitchFamily="34" charset="0"/>
            </a:endParaRPr>
          </a:p>
        </p:txBody>
      </p:sp>
      <p:sp>
        <p:nvSpPr>
          <p:cNvPr id="14" name="矩形 13">
            <a:extLst>
              <a:ext uri="{FF2B5EF4-FFF2-40B4-BE49-F238E27FC236}">
                <a16:creationId xmlns:a16="http://schemas.microsoft.com/office/drawing/2014/main" id="{F10FADE7-993A-B248-81B1-3C0D3D5E66ED}"/>
              </a:ext>
            </a:extLst>
          </p:cNvPr>
          <p:cNvSpPr/>
          <p:nvPr/>
        </p:nvSpPr>
        <p:spPr>
          <a:xfrm>
            <a:off x="-1" y="0"/>
            <a:ext cx="9143995" cy="246920"/>
          </a:xfrm>
          <a:prstGeom prst="rect">
            <a:avLst/>
          </a:prstGeom>
          <a:solidFill>
            <a:srgbClr val="8B30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t>Evaluation</a:t>
            </a:r>
            <a:endParaRPr kumimoji="1" lang="zh-CN" altLang="en-US" sz="1200" dirty="0"/>
          </a:p>
        </p:txBody>
      </p:sp>
      <p:pic>
        <p:nvPicPr>
          <p:cNvPr id="6" name="图片 5">
            <a:extLst>
              <a:ext uri="{FF2B5EF4-FFF2-40B4-BE49-F238E27FC236}">
                <a16:creationId xmlns:a16="http://schemas.microsoft.com/office/drawing/2014/main" id="{E946EEF9-70A6-6E43-9FB9-1854D5CB3320}"/>
              </a:ext>
            </a:extLst>
          </p:cNvPr>
          <p:cNvPicPr>
            <a:picLocks noChangeAspect="1"/>
          </p:cNvPicPr>
          <p:nvPr/>
        </p:nvPicPr>
        <p:blipFill>
          <a:blip r:embed="rId3"/>
          <a:stretch>
            <a:fillRect/>
          </a:stretch>
        </p:blipFill>
        <p:spPr>
          <a:xfrm>
            <a:off x="882646" y="1059566"/>
            <a:ext cx="7378700" cy="3581400"/>
          </a:xfrm>
          <a:prstGeom prst="rect">
            <a:avLst/>
          </a:prstGeom>
        </p:spPr>
      </p:pic>
      <p:pic>
        <p:nvPicPr>
          <p:cNvPr id="7" name="图片 6">
            <a:extLst>
              <a:ext uri="{FF2B5EF4-FFF2-40B4-BE49-F238E27FC236}">
                <a16:creationId xmlns:a16="http://schemas.microsoft.com/office/drawing/2014/main" id="{E6BCA67D-6F9D-D745-8788-EE71AF553937}"/>
              </a:ext>
            </a:extLst>
          </p:cNvPr>
          <p:cNvPicPr>
            <a:picLocks noChangeAspect="1"/>
          </p:cNvPicPr>
          <p:nvPr/>
        </p:nvPicPr>
        <p:blipFill>
          <a:blip r:embed="rId4"/>
          <a:stretch>
            <a:fillRect/>
          </a:stretch>
        </p:blipFill>
        <p:spPr>
          <a:xfrm>
            <a:off x="660396" y="4780505"/>
            <a:ext cx="7823200" cy="1168400"/>
          </a:xfrm>
          <a:prstGeom prst="rect">
            <a:avLst/>
          </a:prstGeom>
        </p:spPr>
      </p:pic>
    </p:spTree>
    <p:extLst>
      <p:ext uri="{BB962C8B-B14F-4D97-AF65-F5344CB8AC3E}">
        <p14:creationId xmlns:p14="http://schemas.microsoft.com/office/powerpoint/2010/main" val="307014352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a:extLst>
              <a:ext uri="{FF2B5EF4-FFF2-40B4-BE49-F238E27FC236}">
                <a16:creationId xmlns:a16="http://schemas.microsoft.com/office/drawing/2014/main" id="{7298F338-BF45-D446-A7EB-9738B9AF0B49}"/>
              </a:ext>
            </a:extLst>
          </p:cNvPr>
          <p:cNvSpPr/>
          <p:nvPr/>
        </p:nvSpPr>
        <p:spPr>
          <a:xfrm>
            <a:off x="0" y="6671732"/>
            <a:ext cx="3069166" cy="186267"/>
          </a:xfrm>
          <a:prstGeom prst="rect">
            <a:avLst/>
          </a:prstGeom>
          <a:solidFill>
            <a:srgbClr val="8B30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t>Luo Zhou et al.</a:t>
            </a:r>
            <a:endParaRPr kumimoji="1" lang="zh-CN" altLang="en-US" sz="1200" dirty="0"/>
          </a:p>
        </p:txBody>
      </p:sp>
      <p:sp>
        <p:nvSpPr>
          <p:cNvPr id="13" name="矩形 12">
            <a:extLst>
              <a:ext uri="{FF2B5EF4-FFF2-40B4-BE49-F238E27FC236}">
                <a16:creationId xmlns:a16="http://schemas.microsoft.com/office/drawing/2014/main" id="{F34D8F6A-E87C-8145-BE0C-C609627D4B7C}"/>
              </a:ext>
            </a:extLst>
          </p:cNvPr>
          <p:cNvSpPr/>
          <p:nvPr/>
        </p:nvSpPr>
        <p:spPr>
          <a:xfrm>
            <a:off x="3069166" y="6671732"/>
            <a:ext cx="3005666" cy="186268"/>
          </a:xfrm>
          <a:prstGeom prst="rect">
            <a:avLst/>
          </a:prstGeom>
          <a:solidFill>
            <a:srgbClr val="9141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t>Donghua University</a:t>
            </a:r>
            <a:endParaRPr kumimoji="1" lang="zh-CN" altLang="en-US" sz="1200" dirty="0"/>
          </a:p>
        </p:txBody>
      </p:sp>
      <p:sp>
        <p:nvSpPr>
          <p:cNvPr id="15" name="矩形 14">
            <a:extLst>
              <a:ext uri="{FF2B5EF4-FFF2-40B4-BE49-F238E27FC236}">
                <a16:creationId xmlns:a16="http://schemas.microsoft.com/office/drawing/2014/main" id="{56D33D00-85D6-064B-A329-4FA724561018}"/>
              </a:ext>
            </a:extLst>
          </p:cNvPr>
          <p:cNvSpPr/>
          <p:nvPr/>
        </p:nvSpPr>
        <p:spPr>
          <a:xfrm>
            <a:off x="6074832" y="6671731"/>
            <a:ext cx="2374901" cy="186268"/>
          </a:xfrm>
          <a:prstGeom prst="rect">
            <a:avLst/>
          </a:prstGeom>
          <a:solidFill>
            <a:srgbClr val="9C53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t>2025.07.21</a:t>
            </a:r>
            <a:endParaRPr kumimoji="1" lang="zh-CN" altLang="en-US" sz="1200" dirty="0"/>
          </a:p>
        </p:txBody>
      </p:sp>
      <p:sp>
        <p:nvSpPr>
          <p:cNvPr id="16" name="矩形 15">
            <a:extLst>
              <a:ext uri="{FF2B5EF4-FFF2-40B4-BE49-F238E27FC236}">
                <a16:creationId xmlns:a16="http://schemas.microsoft.com/office/drawing/2014/main" id="{86551296-CD29-084E-9713-D38000C31A77}"/>
              </a:ext>
            </a:extLst>
          </p:cNvPr>
          <p:cNvSpPr/>
          <p:nvPr/>
        </p:nvSpPr>
        <p:spPr>
          <a:xfrm>
            <a:off x="8106833" y="6671730"/>
            <a:ext cx="1037167" cy="186270"/>
          </a:xfrm>
          <a:prstGeom prst="rect">
            <a:avLst/>
          </a:prstGeom>
          <a:solidFill>
            <a:srgbClr val="9D53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t>31/35</a:t>
            </a:r>
            <a:endParaRPr kumimoji="1" lang="zh-CN" altLang="en-US" sz="1200" dirty="0"/>
          </a:p>
        </p:txBody>
      </p:sp>
      <p:sp>
        <p:nvSpPr>
          <p:cNvPr id="8" name="矩形 7">
            <a:extLst>
              <a:ext uri="{FF2B5EF4-FFF2-40B4-BE49-F238E27FC236}">
                <a16:creationId xmlns:a16="http://schemas.microsoft.com/office/drawing/2014/main" id="{9A47CB8D-579C-BB47-8EEF-B92F7D16D474}"/>
              </a:ext>
            </a:extLst>
          </p:cNvPr>
          <p:cNvSpPr/>
          <p:nvPr/>
        </p:nvSpPr>
        <p:spPr>
          <a:xfrm>
            <a:off x="0" y="246919"/>
            <a:ext cx="9143996" cy="48121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zh-CN" sz="2400" dirty="0">
                <a:solidFill>
                  <a:srgbClr val="8B302D"/>
                </a:solidFill>
                <a:latin typeface="+mj-lt"/>
                <a:ea typeface="PingFang SC" panose="020B0400000000000000" pitchFamily="34" charset="-122"/>
                <a:cs typeface="Arial" panose="020B0604020202020204" pitchFamily="34" charset="0"/>
              </a:rPr>
              <a:t>   Ablation Study</a:t>
            </a:r>
            <a:endParaRPr kumimoji="1" lang="zh-CN" altLang="en-US" dirty="0">
              <a:solidFill>
                <a:srgbClr val="8B302D"/>
              </a:solidFill>
              <a:latin typeface="+mj-lt"/>
              <a:ea typeface="PingFang SC" panose="020B0400000000000000" pitchFamily="34" charset="-122"/>
              <a:cs typeface="Arial" panose="020B0604020202020204" pitchFamily="34" charset="0"/>
            </a:endParaRPr>
          </a:p>
        </p:txBody>
      </p:sp>
      <p:pic>
        <p:nvPicPr>
          <p:cNvPr id="2" name="图片 1">
            <a:extLst>
              <a:ext uri="{FF2B5EF4-FFF2-40B4-BE49-F238E27FC236}">
                <a16:creationId xmlns:a16="http://schemas.microsoft.com/office/drawing/2014/main" id="{2DE82705-D36F-184D-800E-4DDE328F06F6}"/>
              </a:ext>
            </a:extLst>
          </p:cNvPr>
          <p:cNvPicPr>
            <a:picLocks noChangeAspect="1"/>
          </p:cNvPicPr>
          <p:nvPr/>
        </p:nvPicPr>
        <p:blipFill>
          <a:blip r:embed="rId3"/>
          <a:stretch>
            <a:fillRect/>
          </a:stretch>
        </p:blipFill>
        <p:spPr>
          <a:xfrm>
            <a:off x="461247" y="1829800"/>
            <a:ext cx="3770884" cy="2554146"/>
          </a:xfrm>
          <a:prstGeom prst="rect">
            <a:avLst/>
          </a:prstGeom>
        </p:spPr>
      </p:pic>
      <p:sp>
        <p:nvSpPr>
          <p:cNvPr id="14" name="矩形 13">
            <a:extLst>
              <a:ext uri="{FF2B5EF4-FFF2-40B4-BE49-F238E27FC236}">
                <a16:creationId xmlns:a16="http://schemas.microsoft.com/office/drawing/2014/main" id="{35BE2562-FB3F-C346-BA3D-28DF8EA96853}"/>
              </a:ext>
            </a:extLst>
          </p:cNvPr>
          <p:cNvSpPr/>
          <p:nvPr/>
        </p:nvSpPr>
        <p:spPr>
          <a:xfrm>
            <a:off x="-1" y="0"/>
            <a:ext cx="9143995" cy="246920"/>
          </a:xfrm>
          <a:prstGeom prst="rect">
            <a:avLst/>
          </a:prstGeom>
          <a:solidFill>
            <a:srgbClr val="8B30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t>Evaluation</a:t>
            </a:r>
            <a:endParaRPr kumimoji="1" lang="zh-CN" altLang="en-US" sz="1200" dirty="0"/>
          </a:p>
        </p:txBody>
      </p:sp>
      <p:pic>
        <p:nvPicPr>
          <p:cNvPr id="17" name="图片 16">
            <a:extLst>
              <a:ext uri="{FF2B5EF4-FFF2-40B4-BE49-F238E27FC236}">
                <a16:creationId xmlns:a16="http://schemas.microsoft.com/office/drawing/2014/main" id="{43B5F4A1-8AD7-3E44-852E-8CF42F5BF1E4}"/>
              </a:ext>
            </a:extLst>
          </p:cNvPr>
          <p:cNvPicPr>
            <a:picLocks noChangeAspect="1"/>
          </p:cNvPicPr>
          <p:nvPr/>
        </p:nvPicPr>
        <p:blipFill>
          <a:blip r:embed="rId4"/>
          <a:stretch>
            <a:fillRect/>
          </a:stretch>
        </p:blipFill>
        <p:spPr>
          <a:xfrm>
            <a:off x="4760381" y="1848118"/>
            <a:ext cx="3762841" cy="2535828"/>
          </a:xfrm>
          <a:prstGeom prst="rect">
            <a:avLst/>
          </a:prstGeom>
        </p:spPr>
      </p:pic>
      <p:pic>
        <p:nvPicPr>
          <p:cNvPr id="7" name="图片 6">
            <a:extLst>
              <a:ext uri="{FF2B5EF4-FFF2-40B4-BE49-F238E27FC236}">
                <a16:creationId xmlns:a16="http://schemas.microsoft.com/office/drawing/2014/main" id="{417D3579-D930-5D45-9906-BC7166386C6F}"/>
              </a:ext>
            </a:extLst>
          </p:cNvPr>
          <p:cNvPicPr>
            <a:picLocks noChangeAspect="1"/>
          </p:cNvPicPr>
          <p:nvPr/>
        </p:nvPicPr>
        <p:blipFill>
          <a:blip r:embed="rId5"/>
          <a:stretch>
            <a:fillRect/>
          </a:stretch>
        </p:blipFill>
        <p:spPr>
          <a:xfrm>
            <a:off x="461247" y="1503352"/>
            <a:ext cx="8334841" cy="326448"/>
          </a:xfrm>
          <a:prstGeom prst="rect">
            <a:avLst/>
          </a:prstGeom>
        </p:spPr>
      </p:pic>
      <p:pic>
        <p:nvPicPr>
          <p:cNvPr id="9" name="图片 8">
            <a:extLst>
              <a:ext uri="{FF2B5EF4-FFF2-40B4-BE49-F238E27FC236}">
                <a16:creationId xmlns:a16="http://schemas.microsoft.com/office/drawing/2014/main" id="{7DA47660-A184-0A4D-ACCC-E81CAB51CEE6}"/>
              </a:ext>
            </a:extLst>
          </p:cNvPr>
          <p:cNvPicPr>
            <a:picLocks noChangeAspect="1"/>
          </p:cNvPicPr>
          <p:nvPr/>
        </p:nvPicPr>
        <p:blipFill>
          <a:blip r:embed="rId6"/>
          <a:stretch>
            <a:fillRect/>
          </a:stretch>
        </p:blipFill>
        <p:spPr>
          <a:xfrm>
            <a:off x="798851" y="4534722"/>
            <a:ext cx="3587034" cy="1307839"/>
          </a:xfrm>
          <a:prstGeom prst="rect">
            <a:avLst/>
          </a:prstGeom>
        </p:spPr>
      </p:pic>
      <p:pic>
        <p:nvPicPr>
          <p:cNvPr id="10" name="图片 9">
            <a:extLst>
              <a:ext uri="{FF2B5EF4-FFF2-40B4-BE49-F238E27FC236}">
                <a16:creationId xmlns:a16="http://schemas.microsoft.com/office/drawing/2014/main" id="{C76DD5DE-4599-8B43-BA98-1C86A193892E}"/>
              </a:ext>
            </a:extLst>
          </p:cNvPr>
          <p:cNvPicPr>
            <a:picLocks noChangeAspect="1"/>
          </p:cNvPicPr>
          <p:nvPr/>
        </p:nvPicPr>
        <p:blipFill>
          <a:blip r:embed="rId7"/>
          <a:stretch>
            <a:fillRect/>
          </a:stretch>
        </p:blipFill>
        <p:spPr>
          <a:xfrm>
            <a:off x="4967842" y="4537186"/>
            <a:ext cx="3657574" cy="1653331"/>
          </a:xfrm>
          <a:prstGeom prst="rect">
            <a:avLst/>
          </a:prstGeom>
        </p:spPr>
      </p:pic>
    </p:spTree>
    <p:extLst>
      <p:ext uri="{BB962C8B-B14F-4D97-AF65-F5344CB8AC3E}">
        <p14:creationId xmlns:p14="http://schemas.microsoft.com/office/powerpoint/2010/main" val="204582795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a:extLst>
              <a:ext uri="{FF2B5EF4-FFF2-40B4-BE49-F238E27FC236}">
                <a16:creationId xmlns:a16="http://schemas.microsoft.com/office/drawing/2014/main" id="{7298F338-BF45-D446-A7EB-9738B9AF0B49}"/>
              </a:ext>
            </a:extLst>
          </p:cNvPr>
          <p:cNvSpPr/>
          <p:nvPr/>
        </p:nvSpPr>
        <p:spPr>
          <a:xfrm>
            <a:off x="0" y="6671732"/>
            <a:ext cx="3069166" cy="186267"/>
          </a:xfrm>
          <a:prstGeom prst="rect">
            <a:avLst/>
          </a:prstGeom>
          <a:solidFill>
            <a:srgbClr val="8B30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t>Luo Zhou et al.</a:t>
            </a:r>
            <a:endParaRPr kumimoji="1" lang="zh-CN" altLang="en-US" sz="1200" dirty="0"/>
          </a:p>
        </p:txBody>
      </p:sp>
      <p:sp>
        <p:nvSpPr>
          <p:cNvPr id="13" name="矩形 12">
            <a:extLst>
              <a:ext uri="{FF2B5EF4-FFF2-40B4-BE49-F238E27FC236}">
                <a16:creationId xmlns:a16="http://schemas.microsoft.com/office/drawing/2014/main" id="{F34D8F6A-E87C-8145-BE0C-C609627D4B7C}"/>
              </a:ext>
            </a:extLst>
          </p:cNvPr>
          <p:cNvSpPr/>
          <p:nvPr/>
        </p:nvSpPr>
        <p:spPr>
          <a:xfrm>
            <a:off x="3069166" y="6671732"/>
            <a:ext cx="3005666" cy="186268"/>
          </a:xfrm>
          <a:prstGeom prst="rect">
            <a:avLst/>
          </a:prstGeom>
          <a:solidFill>
            <a:srgbClr val="9141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t>Donghua University</a:t>
            </a:r>
            <a:endParaRPr kumimoji="1" lang="zh-CN" altLang="en-US" sz="1200" dirty="0"/>
          </a:p>
        </p:txBody>
      </p:sp>
      <p:sp>
        <p:nvSpPr>
          <p:cNvPr id="15" name="矩形 14">
            <a:extLst>
              <a:ext uri="{FF2B5EF4-FFF2-40B4-BE49-F238E27FC236}">
                <a16:creationId xmlns:a16="http://schemas.microsoft.com/office/drawing/2014/main" id="{56D33D00-85D6-064B-A329-4FA724561018}"/>
              </a:ext>
            </a:extLst>
          </p:cNvPr>
          <p:cNvSpPr/>
          <p:nvPr/>
        </p:nvSpPr>
        <p:spPr>
          <a:xfrm>
            <a:off x="6074832" y="6671731"/>
            <a:ext cx="2374901" cy="186268"/>
          </a:xfrm>
          <a:prstGeom prst="rect">
            <a:avLst/>
          </a:prstGeom>
          <a:solidFill>
            <a:srgbClr val="9C53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t>2025.07.21</a:t>
            </a:r>
            <a:endParaRPr kumimoji="1" lang="zh-CN" altLang="en-US" sz="1200" dirty="0"/>
          </a:p>
        </p:txBody>
      </p:sp>
      <p:sp>
        <p:nvSpPr>
          <p:cNvPr id="16" name="矩形 15">
            <a:extLst>
              <a:ext uri="{FF2B5EF4-FFF2-40B4-BE49-F238E27FC236}">
                <a16:creationId xmlns:a16="http://schemas.microsoft.com/office/drawing/2014/main" id="{86551296-CD29-084E-9713-D38000C31A77}"/>
              </a:ext>
            </a:extLst>
          </p:cNvPr>
          <p:cNvSpPr/>
          <p:nvPr/>
        </p:nvSpPr>
        <p:spPr>
          <a:xfrm>
            <a:off x="8106833" y="6671730"/>
            <a:ext cx="1037167" cy="186270"/>
          </a:xfrm>
          <a:prstGeom prst="rect">
            <a:avLst/>
          </a:prstGeom>
          <a:solidFill>
            <a:srgbClr val="9D53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t>32/35</a:t>
            </a:r>
            <a:endParaRPr kumimoji="1" lang="zh-CN" altLang="en-US" sz="1200" dirty="0"/>
          </a:p>
        </p:txBody>
      </p:sp>
      <p:sp>
        <p:nvSpPr>
          <p:cNvPr id="8" name="矩形 7">
            <a:extLst>
              <a:ext uri="{FF2B5EF4-FFF2-40B4-BE49-F238E27FC236}">
                <a16:creationId xmlns:a16="http://schemas.microsoft.com/office/drawing/2014/main" id="{9A47CB8D-579C-BB47-8EEF-B92F7D16D474}"/>
              </a:ext>
            </a:extLst>
          </p:cNvPr>
          <p:cNvSpPr/>
          <p:nvPr/>
        </p:nvSpPr>
        <p:spPr>
          <a:xfrm>
            <a:off x="0" y="246919"/>
            <a:ext cx="9143996" cy="48121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zh-CN" sz="2400" dirty="0">
                <a:solidFill>
                  <a:srgbClr val="8B302D"/>
                </a:solidFill>
                <a:latin typeface="+mj-lt"/>
                <a:ea typeface="PingFang SC" panose="020B0400000000000000" pitchFamily="34" charset="-122"/>
                <a:cs typeface="Arial" panose="020B0604020202020204" pitchFamily="34" charset="0"/>
              </a:rPr>
              <a:t>   Computational Overhead</a:t>
            </a:r>
            <a:endParaRPr kumimoji="1" lang="zh-CN" altLang="en-US" dirty="0">
              <a:solidFill>
                <a:srgbClr val="8B302D"/>
              </a:solidFill>
              <a:latin typeface="+mj-lt"/>
              <a:ea typeface="PingFang SC" panose="020B0400000000000000" pitchFamily="34" charset="-122"/>
              <a:cs typeface="Arial" panose="020B0604020202020204" pitchFamily="34" charset="0"/>
            </a:endParaRPr>
          </a:p>
        </p:txBody>
      </p:sp>
      <p:sp>
        <p:nvSpPr>
          <p:cNvPr id="17" name="矩形 16">
            <a:extLst>
              <a:ext uri="{FF2B5EF4-FFF2-40B4-BE49-F238E27FC236}">
                <a16:creationId xmlns:a16="http://schemas.microsoft.com/office/drawing/2014/main" id="{0A2E3013-3047-7E4B-B8AD-2DAEFAB308D7}"/>
              </a:ext>
            </a:extLst>
          </p:cNvPr>
          <p:cNvSpPr/>
          <p:nvPr/>
        </p:nvSpPr>
        <p:spPr>
          <a:xfrm>
            <a:off x="-1" y="0"/>
            <a:ext cx="9143995" cy="246920"/>
          </a:xfrm>
          <a:prstGeom prst="rect">
            <a:avLst/>
          </a:prstGeom>
          <a:solidFill>
            <a:srgbClr val="8B30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t>Evaluation</a:t>
            </a:r>
            <a:endParaRPr kumimoji="1" lang="zh-CN" altLang="en-US" sz="1200" dirty="0"/>
          </a:p>
        </p:txBody>
      </p:sp>
      <p:pic>
        <p:nvPicPr>
          <p:cNvPr id="10" name="图片 9">
            <a:extLst>
              <a:ext uri="{FF2B5EF4-FFF2-40B4-BE49-F238E27FC236}">
                <a16:creationId xmlns:a16="http://schemas.microsoft.com/office/drawing/2014/main" id="{D4BBB64A-0AC1-0148-8317-091759AF1DE0}"/>
              </a:ext>
            </a:extLst>
          </p:cNvPr>
          <p:cNvPicPr>
            <a:picLocks noChangeAspect="1"/>
          </p:cNvPicPr>
          <p:nvPr/>
        </p:nvPicPr>
        <p:blipFill>
          <a:blip r:embed="rId3"/>
          <a:stretch>
            <a:fillRect/>
          </a:stretch>
        </p:blipFill>
        <p:spPr>
          <a:xfrm>
            <a:off x="651404" y="1425832"/>
            <a:ext cx="7841183" cy="1944501"/>
          </a:xfrm>
          <a:prstGeom prst="rect">
            <a:avLst/>
          </a:prstGeom>
        </p:spPr>
      </p:pic>
      <p:pic>
        <p:nvPicPr>
          <p:cNvPr id="11" name="图片 10">
            <a:extLst>
              <a:ext uri="{FF2B5EF4-FFF2-40B4-BE49-F238E27FC236}">
                <a16:creationId xmlns:a16="http://schemas.microsoft.com/office/drawing/2014/main" id="{8781F18B-2668-BB4B-8734-B27054684D34}"/>
              </a:ext>
            </a:extLst>
          </p:cNvPr>
          <p:cNvPicPr>
            <a:picLocks noChangeAspect="1"/>
          </p:cNvPicPr>
          <p:nvPr/>
        </p:nvPicPr>
        <p:blipFill>
          <a:blip r:embed="rId4"/>
          <a:stretch>
            <a:fillRect/>
          </a:stretch>
        </p:blipFill>
        <p:spPr>
          <a:xfrm>
            <a:off x="1066762" y="3646581"/>
            <a:ext cx="7040071" cy="2535845"/>
          </a:xfrm>
          <a:prstGeom prst="rect">
            <a:avLst/>
          </a:prstGeom>
        </p:spPr>
      </p:pic>
    </p:spTree>
    <p:extLst>
      <p:ext uri="{BB962C8B-B14F-4D97-AF65-F5344CB8AC3E}">
        <p14:creationId xmlns:p14="http://schemas.microsoft.com/office/powerpoint/2010/main" val="344706839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圆角矩形 9">
            <a:extLst>
              <a:ext uri="{FF2B5EF4-FFF2-40B4-BE49-F238E27FC236}">
                <a16:creationId xmlns:a16="http://schemas.microsoft.com/office/drawing/2014/main" id="{2DA8A703-3A5D-954E-97F2-8118418F5066}"/>
              </a:ext>
            </a:extLst>
          </p:cNvPr>
          <p:cNvSpPr/>
          <p:nvPr/>
        </p:nvSpPr>
        <p:spPr>
          <a:xfrm>
            <a:off x="1037165" y="2582333"/>
            <a:ext cx="7069667" cy="846667"/>
          </a:xfrm>
          <a:prstGeom prst="roundRect">
            <a:avLst/>
          </a:prstGeom>
          <a:solidFill>
            <a:srgbClr val="8B30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3200" dirty="0">
                <a:latin typeface="+mj-lt"/>
              </a:rPr>
              <a:t>Conclusion</a:t>
            </a:r>
            <a:endParaRPr kumimoji="1" lang="zh-CN" altLang="en-US" sz="3200" dirty="0">
              <a:latin typeface="+mj-lt"/>
            </a:endParaRPr>
          </a:p>
        </p:txBody>
      </p:sp>
      <p:sp>
        <p:nvSpPr>
          <p:cNvPr id="12" name="矩形 11">
            <a:extLst>
              <a:ext uri="{FF2B5EF4-FFF2-40B4-BE49-F238E27FC236}">
                <a16:creationId xmlns:a16="http://schemas.microsoft.com/office/drawing/2014/main" id="{7298F338-BF45-D446-A7EB-9738B9AF0B49}"/>
              </a:ext>
            </a:extLst>
          </p:cNvPr>
          <p:cNvSpPr/>
          <p:nvPr/>
        </p:nvSpPr>
        <p:spPr>
          <a:xfrm>
            <a:off x="0" y="6671732"/>
            <a:ext cx="3069166" cy="186267"/>
          </a:xfrm>
          <a:prstGeom prst="rect">
            <a:avLst/>
          </a:prstGeom>
          <a:solidFill>
            <a:srgbClr val="8B30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t>Luo Zhou et al.</a:t>
            </a:r>
            <a:endParaRPr kumimoji="1" lang="zh-CN" altLang="en-US" sz="1200" dirty="0"/>
          </a:p>
        </p:txBody>
      </p:sp>
      <p:sp>
        <p:nvSpPr>
          <p:cNvPr id="13" name="矩形 12">
            <a:extLst>
              <a:ext uri="{FF2B5EF4-FFF2-40B4-BE49-F238E27FC236}">
                <a16:creationId xmlns:a16="http://schemas.microsoft.com/office/drawing/2014/main" id="{F34D8F6A-E87C-8145-BE0C-C609627D4B7C}"/>
              </a:ext>
            </a:extLst>
          </p:cNvPr>
          <p:cNvSpPr/>
          <p:nvPr/>
        </p:nvSpPr>
        <p:spPr>
          <a:xfrm>
            <a:off x="3069166" y="6671732"/>
            <a:ext cx="3005666" cy="186268"/>
          </a:xfrm>
          <a:prstGeom prst="rect">
            <a:avLst/>
          </a:prstGeom>
          <a:solidFill>
            <a:srgbClr val="9141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t>Donghua University</a:t>
            </a:r>
            <a:endParaRPr kumimoji="1" lang="zh-CN" altLang="en-US" sz="1200" dirty="0"/>
          </a:p>
        </p:txBody>
      </p:sp>
      <p:sp>
        <p:nvSpPr>
          <p:cNvPr id="15" name="矩形 14">
            <a:extLst>
              <a:ext uri="{FF2B5EF4-FFF2-40B4-BE49-F238E27FC236}">
                <a16:creationId xmlns:a16="http://schemas.microsoft.com/office/drawing/2014/main" id="{56D33D00-85D6-064B-A329-4FA724561018}"/>
              </a:ext>
            </a:extLst>
          </p:cNvPr>
          <p:cNvSpPr/>
          <p:nvPr/>
        </p:nvSpPr>
        <p:spPr>
          <a:xfrm>
            <a:off x="6074832" y="6671731"/>
            <a:ext cx="2374901" cy="186268"/>
          </a:xfrm>
          <a:prstGeom prst="rect">
            <a:avLst/>
          </a:prstGeom>
          <a:solidFill>
            <a:srgbClr val="9C53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t>2025.07.21</a:t>
            </a:r>
            <a:endParaRPr kumimoji="1" lang="zh-CN" altLang="en-US" sz="1200" dirty="0"/>
          </a:p>
        </p:txBody>
      </p:sp>
      <p:sp>
        <p:nvSpPr>
          <p:cNvPr id="16" name="矩形 15">
            <a:extLst>
              <a:ext uri="{FF2B5EF4-FFF2-40B4-BE49-F238E27FC236}">
                <a16:creationId xmlns:a16="http://schemas.microsoft.com/office/drawing/2014/main" id="{86551296-CD29-084E-9713-D38000C31A77}"/>
              </a:ext>
            </a:extLst>
          </p:cNvPr>
          <p:cNvSpPr/>
          <p:nvPr/>
        </p:nvSpPr>
        <p:spPr>
          <a:xfrm>
            <a:off x="8106833" y="6671730"/>
            <a:ext cx="1037167" cy="186270"/>
          </a:xfrm>
          <a:prstGeom prst="rect">
            <a:avLst/>
          </a:prstGeom>
          <a:solidFill>
            <a:srgbClr val="9D53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t>33/35</a:t>
            </a:r>
            <a:endParaRPr kumimoji="1" lang="zh-CN" altLang="en-US" sz="1200" dirty="0"/>
          </a:p>
        </p:txBody>
      </p:sp>
      <p:sp>
        <p:nvSpPr>
          <p:cNvPr id="11" name="椭圆 10">
            <a:extLst>
              <a:ext uri="{FF2B5EF4-FFF2-40B4-BE49-F238E27FC236}">
                <a16:creationId xmlns:a16="http://schemas.microsoft.com/office/drawing/2014/main" id="{82DF6293-69C1-5247-95C6-CEF299043A2F}"/>
              </a:ext>
            </a:extLst>
          </p:cNvPr>
          <p:cNvSpPr/>
          <p:nvPr/>
        </p:nvSpPr>
        <p:spPr>
          <a:xfrm>
            <a:off x="3175001" y="2829982"/>
            <a:ext cx="351367" cy="351367"/>
          </a:xfrm>
          <a:prstGeom prst="ellipse">
            <a:avLst/>
          </a:prstGeom>
          <a:solidFill>
            <a:srgbClr val="0030F0"/>
          </a:solidFill>
          <a:ln>
            <a:no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t>7</a:t>
            </a:r>
            <a:endParaRPr kumimoji="1" lang="zh-CN" altLang="en-US" dirty="0"/>
          </a:p>
        </p:txBody>
      </p:sp>
      <p:sp>
        <p:nvSpPr>
          <p:cNvPr id="14" name="矩形 13">
            <a:extLst>
              <a:ext uri="{FF2B5EF4-FFF2-40B4-BE49-F238E27FC236}">
                <a16:creationId xmlns:a16="http://schemas.microsoft.com/office/drawing/2014/main" id="{6CCB20BB-1475-494E-BC80-314B0AE06936}"/>
              </a:ext>
            </a:extLst>
          </p:cNvPr>
          <p:cNvSpPr/>
          <p:nvPr/>
        </p:nvSpPr>
        <p:spPr>
          <a:xfrm>
            <a:off x="-1" y="0"/>
            <a:ext cx="9143995" cy="246920"/>
          </a:xfrm>
          <a:prstGeom prst="rect">
            <a:avLst/>
          </a:prstGeom>
          <a:solidFill>
            <a:srgbClr val="8B30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200" dirty="0"/>
          </a:p>
        </p:txBody>
      </p:sp>
    </p:spTree>
    <p:extLst>
      <p:ext uri="{BB962C8B-B14F-4D97-AF65-F5344CB8AC3E}">
        <p14:creationId xmlns:p14="http://schemas.microsoft.com/office/powerpoint/2010/main" val="288680332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a:extLst>
              <a:ext uri="{FF2B5EF4-FFF2-40B4-BE49-F238E27FC236}">
                <a16:creationId xmlns:a16="http://schemas.microsoft.com/office/drawing/2014/main" id="{7298F338-BF45-D446-A7EB-9738B9AF0B49}"/>
              </a:ext>
            </a:extLst>
          </p:cNvPr>
          <p:cNvSpPr/>
          <p:nvPr/>
        </p:nvSpPr>
        <p:spPr>
          <a:xfrm>
            <a:off x="0" y="6671732"/>
            <a:ext cx="3069166" cy="186267"/>
          </a:xfrm>
          <a:prstGeom prst="rect">
            <a:avLst/>
          </a:prstGeom>
          <a:solidFill>
            <a:srgbClr val="8B30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t>Luo Zhou et al.</a:t>
            </a:r>
            <a:endParaRPr kumimoji="1" lang="zh-CN" altLang="en-US" sz="1200" dirty="0"/>
          </a:p>
        </p:txBody>
      </p:sp>
      <p:sp>
        <p:nvSpPr>
          <p:cNvPr id="13" name="矩形 12">
            <a:extLst>
              <a:ext uri="{FF2B5EF4-FFF2-40B4-BE49-F238E27FC236}">
                <a16:creationId xmlns:a16="http://schemas.microsoft.com/office/drawing/2014/main" id="{F34D8F6A-E87C-8145-BE0C-C609627D4B7C}"/>
              </a:ext>
            </a:extLst>
          </p:cNvPr>
          <p:cNvSpPr/>
          <p:nvPr/>
        </p:nvSpPr>
        <p:spPr>
          <a:xfrm>
            <a:off x="3069166" y="6671732"/>
            <a:ext cx="3005666" cy="186268"/>
          </a:xfrm>
          <a:prstGeom prst="rect">
            <a:avLst/>
          </a:prstGeom>
          <a:solidFill>
            <a:srgbClr val="9141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t>Donghua University</a:t>
            </a:r>
            <a:endParaRPr kumimoji="1" lang="zh-CN" altLang="en-US" sz="1200" dirty="0"/>
          </a:p>
        </p:txBody>
      </p:sp>
      <p:sp>
        <p:nvSpPr>
          <p:cNvPr id="15" name="矩形 14">
            <a:extLst>
              <a:ext uri="{FF2B5EF4-FFF2-40B4-BE49-F238E27FC236}">
                <a16:creationId xmlns:a16="http://schemas.microsoft.com/office/drawing/2014/main" id="{56D33D00-85D6-064B-A329-4FA724561018}"/>
              </a:ext>
            </a:extLst>
          </p:cNvPr>
          <p:cNvSpPr/>
          <p:nvPr/>
        </p:nvSpPr>
        <p:spPr>
          <a:xfrm>
            <a:off x="6074832" y="6671731"/>
            <a:ext cx="2374901" cy="186268"/>
          </a:xfrm>
          <a:prstGeom prst="rect">
            <a:avLst/>
          </a:prstGeom>
          <a:solidFill>
            <a:srgbClr val="9C53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t>2025.07.21</a:t>
            </a:r>
            <a:endParaRPr kumimoji="1" lang="zh-CN" altLang="en-US" sz="1200" dirty="0"/>
          </a:p>
        </p:txBody>
      </p:sp>
      <p:sp>
        <p:nvSpPr>
          <p:cNvPr id="16" name="矩形 15">
            <a:extLst>
              <a:ext uri="{FF2B5EF4-FFF2-40B4-BE49-F238E27FC236}">
                <a16:creationId xmlns:a16="http://schemas.microsoft.com/office/drawing/2014/main" id="{86551296-CD29-084E-9713-D38000C31A77}"/>
              </a:ext>
            </a:extLst>
          </p:cNvPr>
          <p:cNvSpPr/>
          <p:nvPr/>
        </p:nvSpPr>
        <p:spPr>
          <a:xfrm>
            <a:off x="8106833" y="6671730"/>
            <a:ext cx="1037167" cy="186270"/>
          </a:xfrm>
          <a:prstGeom prst="rect">
            <a:avLst/>
          </a:prstGeom>
          <a:solidFill>
            <a:srgbClr val="9D53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t>34/35</a:t>
            </a:r>
            <a:endParaRPr kumimoji="1" lang="zh-CN" altLang="en-US" sz="1200" dirty="0"/>
          </a:p>
        </p:txBody>
      </p:sp>
      <p:sp>
        <p:nvSpPr>
          <p:cNvPr id="18" name="矩形 17">
            <a:extLst>
              <a:ext uri="{FF2B5EF4-FFF2-40B4-BE49-F238E27FC236}">
                <a16:creationId xmlns:a16="http://schemas.microsoft.com/office/drawing/2014/main" id="{0C7C7718-50BC-064C-A6C9-83D2313EAFC4}"/>
              </a:ext>
            </a:extLst>
          </p:cNvPr>
          <p:cNvSpPr/>
          <p:nvPr/>
        </p:nvSpPr>
        <p:spPr>
          <a:xfrm>
            <a:off x="-1" y="0"/>
            <a:ext cx="9143995" cy="246920"/>
          </a:xfrm>
          <a:prstGeom prst="rect">
            <a:avLst/>
          </a:prstGeom>
          <a:solidFill>
            <a:srgbClr val="8B30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t>Conclusion</a:t>
            </a:r>
            <a:endParaRPr kumimoji="1" lang="zh-CN" altLang="en-US" sz="1200" dirty="0"/>
          </a:p>
        </p:txBody>
      </p:sp>
      <p:sp>
        <p:nvSpPr>
          <p:cNvPr id="14" name="矩形 13">
            <a:extLst>
              <a:ext uri="{FF2B5EF4-FFF2-40B4-BE49-F238E27FC236}">
                <a16:creationId xmlns:a16="http://schemas.microsoft.com/office/drawing/2014/main" id="{A62F6142-CAA5-5A4B-8AFA-9B08DCC65B13}"/>
              </a:ext>
            </a:extLst>
          </p:cNvPr>
          <p:cNvSpPr/>
          <p:nvPr/>
        </p:nvSpPr>
        <p:spPr>
          <a:xfrm>
            <a:off x="0" y="246919"/>
            <a:ext cx="9143996" cy="48121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zh-CN" sz="2400" dirty="0">
                <a:solidFill>
                  <a:srgbClr val="8B302D"/>
                </a:solidFill>
                <a:latin typeface="+mj-lt"/>
                <a:ea typeface="PingFang SC" panose="020B0400000000000000" pitchFamily="34" charset="-122"/>
                <a:cs typeface="Arial" panose="020B0604020202020204" pitchFamily="34" charset="0"/>
              </a:rPr>
              <a:t>   Conclusion</a:t>
            </a:r>
            <a:endParaRPr kumimoji="1" lang="zh-CN" altLang="en-US" dirty="0">
              <a:solidFill>
                <a:srgbClr val="8B302D"/>
              </a:solidFill>
              <a:latin typeface="+mj-lt"/>
              <a:ea typeface="PingFang SC" panose="020B0400000000000000" pitchFamily="34" charset="-122"/>
              <a:cs typeface="Arial" panose="020B0604020202020204" pitchFamily="34" charset="0"/>
            </a:endParaRPr>
          </a:p>
        </p:txBody>
      </p:sp>
      <p:pic>
        <p:nvPicPr>
          <p:cNvPr id="6" name="图片 5">
            <a:extLst>
              <a:ext uri="{FF2B5EF4-FFF2-40B4-BE49-F238E27FC236}">
                <a16:creationId xmlns:a16="http://schemas.microsoft.com/office/drawing/2014/main" id="{DCAB5554-9A64-FC45-8920-3ED36691E0FB}"/>
              </a:ext>
            </a:extLst>
          </p:cNvPr>
          <p:cNvPicPr>
            <a:picLocks noChangeAspect="1"/>
          </p:cNvPicPr>
          <p:nvPr/>
        </p:nvPicPr>
        <p:blipFill>
          <a:blip r:embed="rId3"/>
          <a:stretch>
            <a:fillRect/>
          </a:stretch>
        </p:blipFill>
        <p:spPr>
          <a:xfrm>
            <a:off x="0" y="2084832"/>
            <a:ext cx="9144000" cy="2688336"/>
          </a:xfrm>
          <a:prstGeom prst="rect">
            <a:avLst/>
          </a:prstGeom>
        </p:spPr>
      </p:pic>
    </p:spTree>
    <p:extLst>
      <p:ext uri="{BB962C8B-B14F-4D97-AF65-F5344CB8AC3E}">
        <p14:creationId xmlns:p14="http://schemas.microsoft.com/office/powerpoint/2010/main" val="327177944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a:extLst>
              <a:ext uri="{FF2B5EF4-FFF2-40B4-BE49-F238E27FC236}">
                <a16:creationId xmlns:a16="http://schemas.microsoft.com/office/drawing/2014/main" id="{7298F338-BF45-D446-A7EB-9738B9AF0B49}"/>
              </a:ext>
            </a:extLst>
          </p:cNvPr>
          <p:cNvSpPr/>
          <p:nvPr/>
        </p:nvSpPr>
        <p:spPr>
          <a:xfrm>
            <a:off x="0" y="6671732"/>
            <a:ext cx="3069166" cy="186267"/>
          </a:xfrm>
          <a:prstGeom prst="rect">
            <a:avLst/>
          </a:prstGeom>
          <a:solidFill>
            <a:srgbClr val="8B30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t>Luo Zhou et al.</a:t>
            </a:r>
            <a:endParaRPr kumimoji="1" lang="zh-CN" altLang="en-US" sz="1200" dirty="0"/>
          </a:p>
        </p:txBody>
      </p:sp>
      <p:sp>
        <p:nvSpPr>
          <p:cNvPr id="13" name="矩形 12">
            <a:extLst>
              <a:ext uri="{FF2B5EF4-FFF2-40B4-BE49-F238E27FC236}">
                <a16:creationId xmlns:a16="http://schemas.microsoft.com/office/drawing/2014/main" id="{F34D8F6A-E87C-8145-BE0C-C609627D4B7C}"/>
              </a:ext>
            </a:extLst>
          </p:cNvPr>
          <p:cNvSpPr/>
          <p:nvPr/>
        </p:nvSpPr>
        <p:spPr>
          <a:xfrm>
            <a:off x="3069166" y="6671732"/>
            <a:ext cx="3005666" cy="186268"/>
          </a:xfrm>
          <a:prstGeom prst="rect">
            <a:avLst/>
          </a:prstGeom>
          <a:solidFill>
            <a:srgbClr val="9141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t>Donghua University</a:t>
            </a:r>
            <a:endParaRPr kumimoji="1" lang="zh-CN" altLang="en-US" sz="1200" dirty="0"/>
          </a:p>
        </p:txBody>
      </p:sp>
      <p:sp>
        <p:nvSpPr>
          <p:cNvPr id="15" name="矩形 14">
            <a:extLst>
              <a:ext uri="{FF2B5EF4-FFF2-40B4-BE49-F238E27FC236}">
                <a16:creationId xmlns:a16="http://schemas.microsoft.com/office/drawing/2014/main" id="{56D33D00-85D6-064B-A329-4FA724561018}"/>
              </a:ext>
            </a:extLst>
          </p:cNvPr>
          <p:cNvSpPr/>
          <p:nvPr/>
        </p:nvSpPr>
        <p:spPr>
          <a:xfrm>
            <a:off x="6074832" y="6671731"/>
            <a:ext cx="2374901" cy="186268"/>
          </a:xfrm>
          <a:prstGeom prst="rect">
            <a:avLst/>
          </a:prstGeom>
          <a:solidFill>
            <a:srgbClr val="9C53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t>2025.07.21</a:t>
            </a:r>
            <a:endParaRPr kumimoji="1" lang="zh-CN" altLang="en-US" sz="1200" dirty="0"/>
          </a:p>
        </p:txBody>
      </p:sp>
      <p:sp>
        <p:nvSpPr>
          <p:cNvPr id="16" name="矩形 15">
            <a:extLst>
              <a:ext uri="{FF2B5EF4-FFF2-40B4-BE49-F238E27FC236}">
                <a16:creationId xmlns:a16="http://schemas.microsoft.com/office/drawing/2014/main" id="{86551296-CD29-084E-9713-D38000C31A77}"/>
              </a:ext>
            </a:extLst>
          </p:cNvPr>
          <p:cNvSpPr/>
          <p:nvPr/>
        </p:nvSpPr>
        <p:spPr>
          <a:xfrm>
            <a:off x="8106833" y="6671730"/>
            <a:ext cx="1037167" cy="186270"/>
          </a:xfrm>
          <a:prstGeom prst="rect">
            <a:avLst/>
          </a:prstGeom>
          <a:solidFill>
            <a:srgbClr val="9D53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t>35/35</a:t>
            </a:r>
            <a:endParaRPr kumimoji="1" lang="zh-CN" altLang="en-US" sz="1200" dirty="0"/>
          </a:p>
        </p:txBody>
      </p:sp>
      <p:sp>
        <p:nvSpPr>
          <p:cNvPr id="18" name="矩形 17">
            <a:extLst>
              <a:ext uri="{FF2B5EF4-FFF2-40B4-BE49-F238E27FC236}">
                <a16:creationId xmlns:a16="http://schemas.microsoft.com/office/drawing/2014/main" id="{0C7C7718-50BC-064C-A6C9-83D2313EAFC4}"/>
              </a:ext>
            </a:extLst>
          </p:cNvPr>
          <p:cNvSpPr/>
          <p:nvPr/>
        </p:nvSpPr>
        <p:spPr>
          <a:xfrm>
            <a:off x="-1" y="0"/>
            <a:ext cx="9143995" cy="246920"/>
          </a:xfrm>
          <a:prstGeom prst="rect">
            <a:avLst/>
          </a:prstGeom>
          <a:solidFill>
            <a:srgbClr val="8B30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t>The End</a:t>
            </a:r>
            <a:endParaRPr kumimoji="1" lang="zh-CN" altLang="en-US" sz="1200" dirty="0"/>
          </a:p>
        </p:txBody>
      </p:sp>
      <p:pic>
        <p:nvPicPr>
          <p:cNvPr id="3" name="图片 2">
            <a:extLst>
              <a:ext uri="{FF2B5EF4-FFF2-40B4-BE49-F238E27FC236}">
                <a16:creationId xmlns:a16="http://schemas.microsoft.com/office/drawing/2014/main" id="{0548E07C-11DB-6B4E-98C7-4D1ED75B1DFF}"/>
              </a:ext>
            </a:extLst>
          </p:cNvPr>
          <p:cNvPicPr>
            <a:picLocks noChangeAspect="1"/>
          </p:cNvPicPr>
          <p:nvPr/>
        </p:nvPicPr>
        <p:blipFill>
          <a:blip r:embed="rId2"/>
          <a:stretch>
            <a:fillRect/>
          </a:stretch>
        </p:blipFill>
        <p:spPr>
          <a:xfrm>
            <a:off x="0" y="2034986"/>
            <a:ext cx="9144000" cy="2011191"/>
          </a:xfrm>
          <a:prstGeom prst="rect">
            <a:avLst/>
          </a:prstGeom>
        </p:spPr>
      </p:pic>
    </p:spTree>
    <p:extLst>
      <p:ext uri="{BB962C8B-B14F-4D97-AF65-F5344CB8AC3E}">
        <p14:creationId xmlns:p14="http://schemas.microsoft.com/office/powerpoint/2010/main" val="404139164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0D5620D6-12D0-5544-A600-82164A0CB02C}"/>
              </a:ext>
            </a:extLst>
          </p:cNvPr>
          <p:cNvPicPr>
            <a:picLocks noChangeAspect="1"/>
          </p:cNvPicPr>
          <p:nvPr/>
        </p:nvPicPr>
        <p:blipFill>
          <a:blip r:embed="rId2"/>
          <a:stretch>
            <a:fillRect/>
          </a:stretch>
        </p:blipFill>
        <p:spPr>
          <a:xfrm>
            <a:off x="0" y="1094476"/>
            <a:ext cx="9144000" cy="4669047"/>
          </a:xfrm>
          <a:prstGeom prst="rect">
            <a:avLst/>
          </a:prstGeom>
        </p:spPr>
      </p:pic>
    </p:spTree>
    <p:extLst>
      <p:ext uri="{BB962C8B-B14F-4D97-AF65-F5344CB8AC3E}">
        <p14:creationId xmlns:p14="http://schemas.microsoft.com/office/powerpoint/2010/main" val="211152763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5096708B-F38F-824B-9063-C9D9EBED1390}"/>
              </a:ext>
            </a:extLst>
          </p:cNvPr>
          <p:cNvPicPr>
            <a:picLocks noChangeAspect="1"/>
          </p:cNvPicPr>
          <p:nvPr/>
        </p:nvPicPr>
        <p:blipFill>
          <a:blip r:embed="rId2"/>
          <a:stretch>
            <a:fillRect/>
          </a:stretch>
        </p:blipFill>
        <p:spPr>
          <a:xfrm>
            <a:off x="0" y="1064712"/>
            <a:ext cx="9144000" cy="4728575"/>
          </a:xfrm>
          <a:prstGeom prst="rect">
            <a:avLst/>
          </a:prstGeom>
        </p:spPr>
      </p:pic>
    </p:spTree>
    <p:extLst>
      <p:ext uri="{BB962C8B-B14F-4D97-AF65-F5344CB8AC3E}">
        <p14:creationId xmlns:p14="http://schemas.microsoft.com/office/powerpoint/2010/main" val="1460313840"/>
      </p:ext>
    </p:extLst>
  </p:cSld>
  <p:clrMapOvr>
    <a:masterClrMapping/>
  </p:clrMapOvr>
</p:sld>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7217</TotalTime>
  <Words>3523</Words>
  <Application>Microsoft Macintosh PowerPoint</Application>
  <PresentationFormat>全屏显示(4:3)</PresentationFormat>
  <Paragraphs>408</Paragraphs>
  <Slides>37</Slides>
  <Notes>33</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37</vt:i4>
      </vt:variant>
    </vt:vector>
  </HeadingPairs>
  <TitlesOfParts>
    <vt:vector size="46" baseType="lpstr">
      <vt:lpstr>DengXian</vt:lpstr>
      <vt:lpstr>DengXian</vt:lpstr>
      <vt:lpstr>NimbusRomNo9L-Regu</vt:lpstr>
      <vt:lpstr>Arial</vt:lpstr>
      <vt:lpstr>Calibri</vt:lpstr>
      <vt:lpstr>Calibri Light</vt:lpstr>
      <vt:lpstr>Times New Roman</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Microsoft Office User</dc:creator>
  <cp:lastModifiedBy>Microsoft Office User</cp:lastModifiedBy>
  <cp:revision>827</cp:revision>
  <dcterms:created xsi:type="dcterms:W3CDTF">2025-07-17T06:11:10Z</dcterms:created>
  <dcterms:modified xsi:type="dcterms:W3CDTF">2025-07-22T21:57:17Z</dcterms:modified>
</cp:coreProperties>
</file>